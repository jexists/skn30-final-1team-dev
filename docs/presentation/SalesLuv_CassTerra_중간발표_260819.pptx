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/Users/baebae/Desktop/기획발표/스탠드업 미팅.pdf</a:t>
            </a:r>
          </a:p>
          <a:p>
            <a:r>
              <a:t>- 사용자 제공 자료: /Users/baebae/Desktop/기획발표/SalesLuv_멀티에이전트_운영플로우_초심자용-1.html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요청의 발표 목차</a:t>
            </a:r>
          </a:p>
          <a:p>
            <a:r>
              <a:t>- 발표 구조는 제공 자료의 문제→시장→흐름→기능→시나리오 순서를 기준으로 재구성함 [추론]</a:t>
            </a:r>
          </a:p>
          <a:p>
            <a:r>
              <a:t>
- 사용자 제공 이미지: /Users/baebae/Desktop/업데이트/SalesLuv_ERD.png</a:t>
            </a:r>
          </a:p>
          <a:p>
            <a:r>
              <a:t>
- 사용자 제공 이미지: /Users/baebae/Desktop/업데이트/multiagent-flow.png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스탠드업 미팅.pdf, 1~4번 문항</a:t>
            </a:r>
          </a:p>
          <a:p>
            <a:r>
              <a:t>- 사용자 제공 자료: SalesLuv 운영플로우 HTML, 00절</a:t>
            </a:r>
          </a:p>
          <a:p>
            <a:r>
              <a:t>- CRM 정의: 사용자 제공 문구를 발표용으로 축약</a:t>
            </a:r>
          </a:p>
          <a:p>
            <a:endParaRPr/>
          </a:p>
          <a:p>
            <a:r>
              <a:t>[Speaker cue]</a:t>
            </a:r>
          </a:p>
          <a:p>
            <a:r>
              <a:t>개인에게 남는 영업 암묵지를 시스템이 자동으로 확정하는 것이 아니라, 구조화·요약·제안하고 사람의 승인으로 이어지게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이미지: /Users/baebae/Desktop/기획발표/영업흐름.png</a:t>
            </a:r>
          </a:p>
          <a:p>
            <a:r>
              <a:t>- 사용자 요청으로 확정된 6단계: 리서치 → 방문미팅 → 제품시연 → 견적서 전달 → 계약 → 제품설치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이미지: /Users/baebae/Desktop/기획발표/기존 SCM의 불편사항.png</a:t>
            </a:r>
          </a:p>
          <a:p>
            <a:r>
              <a:t>- 사용자 제공 자료: SalesLuv 운영플로우 HTML, 00-1절</a:t>
            </a:r>
          </a:p>
          <a:p>
            <a:endParaRPr/>
          </a:p>
          <a:p>
            <a:r>
              <a:t>[근거등급]</a:t>
            </a:r>
          </a:p>
          <a:p>
            <a:r>
              <a:t>- 네 가지 문제군은 제공 자료의 영업담당자·영업팀장 세부 불편사항을 요약한 것 [검증 · 제공 자료].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/Users/baebae/Desktop/기획발표/SCM 시장조사.html</a:t>
            </a:r>
          </a:p>
          <a:p>
            <a:r>
              <a:t>- 한국보건산업진흥원 실태조사: https://www.khidi.or.kr/board/view?linkId=48945740&amp;menuId=MENU00085</a:t>
            </a:r>
          </a:p>
          <a:p>
            <a:r>
              <a:t>- Grand View Research: https://www.grandviewresearch.com/horizon/outlook/customer-relationship-management-market/south-korea</a:t>
            </a:r>
          </a:p>
          <a:p>
            <a:r>
              <a:t>- Gartner: https://www.gartner.com/en/documents/6791434</a:t>
            </a:r>
          </a:p>
          <a:p>
            <a:r>
              <a:t>- 숫자는 제공 시장조사 자료의 정의와 환산 기준을 따름. 의료기기 고객 수·좌석 수와 CRM 시장 매출은 서로 다른 정의이므로 규모 감각 비교용으로만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이미지: /Users/baebae/Desktop/기획발표/기존 SCM의 불편사항.png</a:t>
            </a:r>
          </a:p>
          <a:p>
            <a:r>
              <a:t>- 사용자 제공 자료: SalesLuv 운영플로우 HTML, 00-1절</a:t>
            </a:r>
          </a:p>
          <a:p>
            <a:endParaRPr/>
          </a:p>
          <a:p>
            <a:r>
              <a:t>[근거등급]</a:t>
            </a:r>
          </a:p>
          <a:p>
            <a:r>
              <a:t>- 마지막 문장은 네 가지 문제군과 SalesLuv 운영플로우를 연결한 구조적 해석 [추론].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SalesLuv_멀티에이전트_운영플로우_초심자용-1.html, 00절·01절·03절·04절</a:t>
            </a:r>
          </a:p>
          <a:p>
            <a:r>
              <a:t>- 사용자 제공 자료: 스탠드업 미팅.pdf, 4~7번 문항</a:t>
            </a:r>
          </a:p>
          <a:p>
            <a:endParaRPr/>
          </a:p>
          <a:p>
            <a:r>
              <a:t>[근거등급]</a:t>
            </a:r>
          </a:p>
          <a:p>
            <a:r>
              <a:t>- STT·OCR·승인 게이트·Deal/Portfolio 역할 분리는 제공 자료에 명시된 기능 [검증].</a:t>
            </a:r>
          </a:p>
          <a:p>
            <a:r>
              <a:t>- “자동 입력 하나가 아니라…”는 기능을 문제정의와 연결한 해석 [추론].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SalesLuv 운영플로우 HTML, 04절 사용 시나리오</a:t>
            </a:r>
          </a:p>
          <a:p>
            <a:r>
              <a:t>- 사용자 제공 자료: SalesLuv 운영플로우 HTML, 00절 “AI가 확정하지는 않습니다”</a:t>
            </a:r>
          </a:p>
          <a:p>
            <a:r>
              <a:t>- 사용자 제공 자료: 스탠드업 미팅.pdf, 8번 문항의 인수인계 시나리오는 별도 핵심 시나리오로 기록되어 있으며 실제 검증 전 [추론]으로 표시됨.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시나리오 이미지: /Users/baebae/Desktop/기획발표/팀원의 사용시나리오.png</a:t>
            </a:r>
          </a:p>
          <a:p>
            <a:r>
              <a:t>- 6번 항목 제목은 사용자의 요청에 따라 “수시”를 “분석(보고,매출)”로 수정함.</a:t>
            </a:r>
          </a:p>
          <a:p>
            <a:endParaRPr/>
          </a:p>
          <a:p>
            <a:r>
              <a:t>팀원은 우선순위 확인 → 미팅 브리핑 → 보고서 작성 → 사용자 확정 → 정보 반영의 흐름으로 업무를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시나리오 이미지: /Users/baebae/Desktop/기획발표/팀장의 사용시나리오.png</a:t>
            </a:r>
          </a:p>
          <a:p>
            <a:r>
              <a:t>- 6번 항목 제목은 사용자의 요청에 따라 “수시”를 “분석(보고,매출)”로 수정함.</a:t>
            </a:r>
          </a:p>
          <a:p>
            <a:endParaRPr/>
          </a:p>
          <a:p>
            <a:r>
              <a:t>팀장은 팀 브리핑 → 보고 현황 → 보고서 검토 → 매출 관리 → 목표 조정 → 팀 범위 분석의 흐름으로 관리한다.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이미지: /Users/baebae/Desktop/업데이트/SalesLuv_ERD.png</a:t>
            </a:r>
          </a:p>
          <a:p>
            <a:r>
              <a:t>- ERD는 사용자가 제공한 발표용 요약 구조도를 그대로 사용함.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이미지: /Users/baebae/Desktop/업데이트/multiagent-flow.png</a:t>
            </a:r>
          </a:p>
          <a:p>
            <a:r>
              <a:t>- Multi Agent-Flow는 사용자가 제공한 발표용 운영 흐름도를 그대로 사용함.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이미지: /var/folders/n4/0r99y1g904n2373ml3hqd8h40000gn/T/codex-clipboard-278a8ebd-ecd3-4bbe-adb8-372ed3b6d321.png</a:t>
            </a:r>
          </a:p>
          <a:p>
            <a:r>
              <a:t>- WBS 기반 7주 진행현황 이미지를 사용자 제공 원본 그대로 사용함.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이슈사항 상세 내용은 사용자 입력 예정.</a:t>
            </a:r>
          </a:p>
          <a:p>
            <a:r>
              <a:t>
- 사용자 제공 내용: ML 학습용 데이터 수량 추가확보 필요 / 현재 HuggingFace Datasets 확보 : markobo/B2B_Sales_data</a:t>
            </a:r>
          </a:p>
          <a:p>
            <a:r>
              <a:t>
- 사용자 제공 이미지 내용 요약: 발표용 ERD를 PK/FK 중심의 요약 구조도로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스탠드업 미팅.pdf, 3~5번 문항</a:t>
            </a:r>
          </a:p>
          <a:p>
            <a:r>
              <a:t>- 사용자 제공 자료: SalesLuv 운영플로우 HTML, 00절·04절</a:t>
            </a:r>
          </a:p>
          <a:p>
            <a:endParaRPr/>
          </a:p>
          <a:p>
            <a:r>
              <a:t>[근거등급]</a:t>
            </a:r>
          </a:p>
          <a:p>
            <a:r>
              <a:t>- 기존 방법과 이용 후 업무 변화 방향은 제공 자료 기반 [검증].</a:t>
            </a:r>
          </a:p>
          <a:p>
            <a:r>
              <a:t>- 수치형 효과는 현재 기준선과 목표값이 없어 임의로 제시하지 않음 [미확인].</a:t>
            </a:r>
          </a:p>
          <a:p>
            <a:endParaRPr/>
          </a:p>
          <a:p>
            <a:r>
              <a:t>[검증 설계 제안]</a:t>
            </a:r>
          </a:p>
          <a:p>
            <a:r>
              <a:t>- 도입 전후 동일 사용자 기준으로 기록 소요시간·보고서 확정률을 비교.</a:t>
            </a:r>
          </a:p>
          <a:p>
            <a:r>
              <a:t>- 인수인계 시나리오에서는 체크리스트 기반 누락 항목을 전후 비교.</a:t>
            </a:r>
          </a:p>
          <a:p>
            <a:r>
              <a:t>- 다음 행동 실행률은 정의(완료 기준·기간)를 먼저 고정한 뒤 측정.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24702B0-270D-4ED9-98A8-13D89638BB4B}"/>
              </a:ext>
            </a:extLst>
          </p:cNvPr>
          <p:cNvSpPr>
            <a:spLocks noGrp="1"/>
          </p:cNvSpPr>
          <p:nvPr/>
        </p:nvSpPr>
        <p:spPr>
          <a:xfrm>
            <a:off x="7334250" y="0"/>
            <a:ext cx="4857750" cy="4857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D74DA">
                  <a:alpha val="30000"/>
                </a:srgbClr>
              </a:gs>
              <a:gs pos="72000">
                <a:srgbClr val="12355B">
                  <a:alpha val="0"/>
                </a:srgbClr>
              </a:gs>
            </a:gsLst>
            <a:path path="shape"/>
          </a:gra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CAB163-CB8F-4A46-AF41-F44EE28AA153}"/>
              </a:ext>
            </a:extLst>
          </p:cNvPr>
          <p:cNvSpPr>
            <a:spLocks noGrp="1"/>
          </p:cNvSpPr>
          <p:nvPr/>
        </p:nvSpPr>
        <p:spPr>
          <a:xfrm>
            <a:off x="1506777" y="1676400"/>
            <a:ext cx="7810500" cy="990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57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SalesLuv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BE3EF6-49D5-4449-BE12-8FE8B6E2FED5}"/>
              </a:ext>
            </a:extLst>
          </p:cNvPr>
          <p:cNvSpPr>
            <a:spLocks noGrp="1"/>
          </p:cNvSpPr>
          <p:nvPr/>
        </p:nvSpPr>
        <p:spPr>
          <a:xfrm>
            <a:off x="1563927" y="2819400"/>
            <a:ext cx="7239000" cy="11906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1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영업의 흐름을 연결하고</a:t>
            </a:r>
          </a:p>
          <a:p>
            <a:pPr algn="l">
              <a:lnSpc>
                <a:spcPct val="98000"/>
              </a:lnSpc>
              <a:buNone/>
              <a:defRPr sz="31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다음 행동을 제안하는 CRM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564775-55CD-4269-8E00-33BE2532E35E}"/>
              </a:ext>
            </a:extLst>
          </p:cNvPr>
          <p:cNvSpPr>
            <a:spLocks noGrp="1"/>
          </p:cNvSpPr>
          <p:nvPr/>
        </p:nvSpPr>
        <p:spPr>
          <a:xfrm>
            <a:off x="8572500" y="4857750"/>
            <a:ext cx="3619500" cy="3238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D9E7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D9E7FA"/>
                </a:solidFill>
                <a:latin typeface="Apple SD Gothic Neo"/>
                <a:ea typeface="Apple SD Gothic Neo"/>
                <a:cs typeface="Apple SD Gothic Neo"/>
              </a:rPr>
              <a:t>SKN30 1Team   </a:t>
            </a:r>
            <a:r>
              <a:rPr sz="1800" b="1">
                <a:solidFill>
                  <a:srgbClr val="D9E7FA"/>
                </a:solidFill>
                <a:latin typeface="Apple SD Gothic Neo"/>
                <a:ea typeface="Apple SD Gothic Neo"/>
                <a:cs typeface="Apple SD Gothic Neo"/>
              </a:rPr>
              <a:t>카스테라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E7D02E-E56B-4D42-BD1B-6B9FCCDEB871}"/>
              </a:ext>
            </a:extLst>
          </p:cNvPr>
          <p:cNvSpPr>
            <a:spLocks noGrp="1"/>
          </p:cNvSpPr>
          <p:nvPr/>
        </p:nvSpPr>
        <p:spPr>
          <a:xfrm>
            <a:off x="8572500" y="5403391"/>
            <a:ext cx="34290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AFC0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AFC0D2"/>
                </a:solidFill>
                <a:latin typeface="Apple SD Gothic Neo"/>
                <a:ea typeface="Apple SD Gothic Neo"/>
                <a:cs typeface="Apple SD Gothic Neo"/>
              </a:rPr>
              <a:t>2026.08. 19.(wed) PM 2:00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8F5D26-8D21-C887-4561-D824E37BC0C7}"/>
              </a:ext>
            </a:extLst>
          </p:cNvPr>
          <p:cNvSpPr>
            <a:spLocks noGrp="1"/>
          </p:cNvSpPr>
          <p:nvPr/>
        </p:nvSpPr>
        <p:spPr>
          <a:xfrm>
            <a:off x="8572500" y="5676898"/>
            <a:ext cx="34290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AFC0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AFC0D2"/>
                </a:solidFill>
                <a:latin typeface="Apple SD Gothic Neo"/>
                <a:ea typeface="Apple SD Gothic Neo"/>
                <a:cs typeface="Apple SD Gothic Neo"/>
              </a:rPr>
              <a:t>Presenter : 천 성 배	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1D71F5-4300-BF13-32EC-B67196BE8D2C}"/>
              </a:ext>
            </a:extLst>
          </p:cNvPr>
          <p:cNvSpPr>
            <a:spLocks noGrp="1"/>
          </p:cNvSpPr>
          <p:nvPr/>
        </p:nvSpPr>
        <p:spPr>
          <a:xfrm>
            <a:off x="8572500" y="5943600"/>
            <a:ext cx="34290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AFC0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AFC0D2"/>
                </a:solidFill>
                <a:latin typeface="Apple SD Gothic Neo"/>
                <a:ea typeface="Apple SD Gothic Neo"/>
                <a:cs typeface="Apple SD Gothic Neo"/>
              </a:rPr>
              <a:t>Team member : 정 주 애 , 박 제 섭 , 박 지 유</a:t>
            </a:r>
          </a:p>
        </p:txBody>
      </p:sp>
    </p:spTree>
    <p:extLst>
      <p:ext uri="{BB962C8B-B14F-4D97-AF65-F5344CB8AC3E}">
        <p14:creationId xmlns:p14="http://schemas.microsoft.com/office/powerpoint/2010/main" val="53011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989F6E-375E-4C38-B872-1636409F4851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목차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F0E03A-95E4-45C2-A812-075487C9F942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문제에서 시작해, 시장·기능·구조·에이전트 흐름·사용 시나리오·효과로 연결합니다.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C652DCBD-4F3E-46D6-8EEE-0FA7C3B7D167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A95C23A-82D7-423F-A7FE-4B4DB8B5DB8A}"/>
              </a:ext>
            </a:extLst>
          </p:cNvPr>
          <p:cNvSpPr>
            <a:spLocks noGrp="1"/>
          </p:cNvSpPr>
          <p:nvPr/>
        </p:nvSpPr>
        <p:spPr>
          <a:xfrm>
            <a:off x="647700" y="1809750"/>
            <a:ext cx="5143500" cy="5143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CE32D0-62E1-4FC0-A6B2-1BB1E8F5622A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476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976B2B-BF51-4030-B9C2-23C728B7369E}"/>
              </a:ext>
            </a:extLst>
          </p:cNvPr>
          <p:cNvSpPr>
            <a:spLocks noGrp="1"/>
          </p:cNvSpPr>
          <p:nvPr/>
        </p:nvSpPr>
        <p:spPr>
          <a:xfrm>
            <a:off x="1485900" y="1959273"/>
            <a:ext cx="4095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프로젝트 주제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FF2CE8F-C905-461B-AD8F-EEBE85BD8B88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5143500" cy="5143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82E487-9035-4BA2-960F-DAF319A0FB94}"/>
              </a:ext>
            </a:extLst>
          </p:cNvPr>
          <p:cNvSpPr>
            <a:spLocks noGrp="1"/>
          </p:cNvSpPr>
          <p:nvPr/>
        </p:nvSpPr>
        <p:spPr>
          <a:xfrm>
            <a:off x="6591300" y="1952625"/>
            <a:ext cx="476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AF7443-A3B7-4747-B3D5-D298C90BF72B}"/>
              </a:ext>
            </a:extLst>
          </p:cNvPr>
          <p:cNvSpPr>
            <a:spLocks noGrp="1"/>
          </p:cNvSpPr>
          <p:nvPr/>
        </p:nvSpPr>
        <p:spPr>
          <a:xfrm>
            <a:off x="7239000" y="1959273"/>
            <a:ext cx="4095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영업흐름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40FFA90-9724-4194-8394-92DD6641541A}"/>
              </a:ext>
            </a:extLst>
          </p:cNvPr>
          <p:cNvSpPr>
            <a:spLocks noGrp="1"/>
          </p:cNvSpPr>
          <p:nvPr/>
        </p:nvSpPr>
        <p:spPr>
          <a:xfrm>
            <a:off x="647700" y="2419350"/>
            <a:ext cx="5143500" cy="5143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2B376B-B227-4104-95CC-8D3288373F8B}"/>
              </a:ext>
            </a:extLst>
          </p:cNvPr>
          <p:cNvSpPr>
            <a:spLocks noGrp="1"/>
          </p:cNvSpPr>
          <p:nvPr/>
        </p:nvSpPr>
        <p:spPr>
          <a:xfrm>
            <a:off x="838200" y="2562225"/>
            <a:ext cx="476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9987F3-B10E-47B7-949D-AC630D0119C6}"/>
              </a:ext>
            </a:extLst>
          </p:cNvPr>
          <p:cNvSpPr>
            <a:spLocks noGrp="1"/>
          </p:cNvSpPr>
          <p:nvPr/>
        </p:nvSpPr>
        <p:spPr>
          <a:xfrm>
            <a:off x="1485900" y="2568873"/>
            <a:ext cx="4095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문제정의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88F080B-AF57-4DDF-B98A-5C465367A7E5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5143500" cy="5143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FF4BCB-EAE2-4446-B120-84E77D2436D6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476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324A60-6FF9-434C-82BE-5114586F9BA8}"/>
              </a:ext>
            </a:extLst>
          </p:cNvPr>
          <p:cNvSpPr>
            <a:spLocks noGrp="1"/>
          </p:cNvSpPr>
          <p:nvPr/>
        </p:nvSpPr>
        <p:spPr>
          <a:xfrm>
            <a:off x="7239000" y="2568873"/>
            <a:ext cx="4095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선정 근거 · 시장조사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AD02A475-3881-4563-B856-24D0529535D8}"/>
              </a:ext>
            </a:extLst>
          </p:cNvPr>
          <p:cNvSpPr>
            <a:spLocks noGrp="1"/>
          </p:cNvSpPr>
          <p:nvPr/>
        </p:nvSpPr>
        <p:spPr>
          <a:xfrm>
            <a:off x="647700" y="3028950"/>
            <a:ext cx="5143500" cy="5143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C117155-35E8-4077-A2CA-921286F0075F}"/>
              </a:ext>
            </a:extLst>
          </p:cNvPr>
          <p:cNvSpPr>
            <a:spLocks noGrp="1"/>
          </p:cNvSpPr>
          <p:nvPr/>
        </p:nvSpPr>
        <p:spPr>
          <a:xfrm>
            <a:off x="838200" y="3171825"/>
            <a:ext cx="476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420688-BB57-4453-962B-E701452D096B}"/>
              </a:ext>
            </a:extLst>
          </p:cNvPr>
          <p:cNvSpPr>
            <a:spLocks noGrp="1"/>
          </p:cNvSpPr>
          <p:nvPr/>
        </p:nvSpPr>
        <p:spPr>
          <a:xfrm>
            <a:off x="1485900" y="3178473"/>
            <a:ext cx="4095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기존 CRM의 단점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845D985-E658-41C6-93FD-D52010E1CF88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5143500" cy="5143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00D0E9-54F0-413C-800B-F619FB8B3804}"/>
              </a:ext>
            </a:extLst>
          </p:cNvPr>
          <p:cNvSpPr>
            <a:spLocks noGrp="1"/>
          </p:cNvSpPr>
          <p:nvPr/>
        </p:nvSpPr>
        <p:spPr>
          <a:xfrm>
            <a:off x="6591300" y="3171825"/>
            <a:ext cx="476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C7FB99-ADAE-481D-A988-A48B079BF503}"/>
              </a:ext>
            </a:extLst>
          </p:cNvPr>
          <p:cNvSpPr>
            <a:spLocks noGrp="1"/>
          </p:cNvSpPr>
          <p:nvPr/>
        </p:nvSpPr>
        <p:spPr>
          <a:xfrm>
            <a:off x="7239000" y="3178473"/>
            <a:ext cx="4095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차별화 핵심기능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E201FC95-D917-4EFF-9853-328FFC5990E3}"/>
              </a:ext>
            </a:extLst>
          </p:cNvPr>
          <p:cNvSpPr>
            <a:spLocks noGrp="1"/>
          </p:cNvSpPr>
          <p:nvPr/>
        </p:nvSpPr>
        <p:spPr>
          <a:xfrm>
            <a:off x="647700" y="3638550"/>
            <a:ext cx="5143500" cy="5143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E492F58-916D-456E-80BE-B932E1F74101}"/>
              </a:ext>
            </a:extLst>
          </p:cNvPr>
          <p:cNvSpPr>
            <a:spLocks noGrp="1"/>
          </p:cNvSpPr>
          <p:nvPr/>
        </p:nvSpPr>
        <p:spPr>
          <a:xfrm>
            <a:off x="838200" y="3781425"/>
            <a:ext cx="476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76F50C4-C7B2-4397-BDDF-C9AF7418A30E}"/>
              </a:ext>
            </a:extLst>
          </p:cNvPr>
          <p:cNvSpPr>
            <a:spLocks noGrp="1"/>
          </p:cNvSpPr>
          <p:nvPr/>
        </p:nvSpPr>
        <p:spPr>
          <a:xfrm>
            <a:off x="1485900" y="3788073"/>
            <a:ext cx="4095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사용자 시나리오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14282622-5007-4462-8945-AD897058B8E3}"/>
              </a:ext>
            </a:extLst>
          </p:cNvPr>
          <p:cNvSpPr>
            <a:spLocks noGrp="1"/>
          </p:cNvSpPr>
          <p:nvPr/>
        </p:nvSpPr>
        <p:spPr>
          <a:xfrm>
            <a:off x="6400800" y="4857750"/>
            <a:ext cx="5143500" cy="5143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4DC753-CF9B-42A9-91D7-CB09E642FC7A}"/>
              </a:ext>
            </a:extLst>
          </p:cNvPr>
          <p:cNvSpPr>
            <a:spLocks noGrp="1"/>
          </p:cNvSpPr>
          <p:nvPr/>
        </p:nvSpPr>
        <p:spPr>
          <a:xfrm>
            <a:off x="6591300" y="5000625"/>
            <a:ext cx="476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04B7F9-C784-45CD-A68A-8E9EB9A947C2}"/>
              </a:ext>
            </a:extLst>
          </p:cNvPr>
          <p:cNvSpPr>
            <a:spLocks noGrp="1"/>
          </p:cNvSpPr>
          <p:nvPr/>
        </p:nvSpPr>
        <p:spPr>
          <a:xfrm>
            <a:off x="7239000" y="5007273"/>
            <a:ext cx="4095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기대효과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DAB9B6A-548C-4C93-8DC6-A1EF13D97C13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40" name="ERD 목차 카드">
            <a:extLst>
              <a:ext uri="{FF2B5EF4-FFF2-40B4-BE49-F238E27FC236}">
                <a16:creationId xmlns:a16="http://schemas.microsoft.com/office/drawing/2014/main" id="{95A3E4B9-825E-4DCB-BDA2-4AD806404744}"/>
              </a:ext>
            </a:extLst>
          </p:cNvPr>
          <p:cNvSpPr>
            <a:spLocks noGrp="1"/>
          </p:cNvSpPr>
          <p:nvPr/>
        </p:nvSpPr>
        <p:spPr>
          <a:xfrm>
            <a:off x="6400800" y="3638550"/>
            <a:ext cx="5143500" cy="514350"/>
          </a:xfrm>
          <a:prstGeom prst="roundRect">
            <a:avLst>
              <a:gd name="adj" fmla="val 28205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ERD 목차 번호">
            <a:extLst>
              <a:ext uri="{FF2B5EF4-FFF2-40B4-BE49-F238E27FC236}">
                <a16:creationId xmlns:a16="http://schemas.microsoft.com/office/drawing/2014/main" id="{B7903518-972E-4C54-A702-0E2C71D2D9DB}"/>
              </a:ext>
            </a:extLst>
          </p:cNvPr>
          <p:cNvSpPr>
            <a:spLocks noGrp="1"/>
          </p:cNvSpPr>
          <p:nvPr/>
        </p:nvSpPr>
        <p:spPr>
          <a:xfrm>
            <a:off x="6591300" y="37814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650" b="1">
                <a:solidFill>
                  <a:srgbClr val="2F75D6"/>
                </a:solidFill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2" name="ERD 목차 제목">
            <a:extLst>
              <a:ext uri="{FF2B5EF4-FFF2-40B4-BE49-F238E27FC236}">
                <a16:creationId xmlns:a16="http://schemas.microsoft.com/office/drawing/2014/main" id="{A1255C1B-4540-4B1F-B899-8B9D6C173085}"/>
              </a:ext>
            </a:extLst>
          </p:cNvPr>
          <p:cNvSpPr>
            <a:spLocks noGrp="1"/>
          </p:cNvSpPr>
          <p:nvPr/>
        </p:nvSpPr>
        <p:spPr>
          <a:xfrm>
            <a:off x="7239000" y="3788073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ERD</a:t>
            </a:r>
          </a:p>
        </p:txBody>
      </p:sp>
      <p:sp>
        <p:nvSpPr>
          <p:cNvPr id="44" name="Multi Agent 목차 카드">
            <a:extLst>
              <a:ext uri="{FF2B5EF4-FFF2-40B4-BE49-F238E27FC236}">
                <a16:creationId xmlns:a16="http://schemas.microsoft.com/office/drawing/2014/main" id="{41405832-F29D-48B9-B49B-7A019B81ECF4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5143500" cy="514350"/>
          </a:xfrm>
          <a:prstGeom prst="roundRect">
            <a:avLst>
              <a:gd name="adj" fmla="val 34375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Multi Agent 목차 번호">
            <a:extLst>
              <a:ext uri="{FF2B5EF4-FFF2-40B4-BE49-F238E27FC236}">
                <a16:creationId xmlns:a16="http://schemas.microsoft.com/office/drawing/2014/main" id="{9BFC92D5-573B-43D2-9FD8-95A5FBD88B2E}"/>
              </a:ext>
            </a:extLst>
          </p:cNvPr>
          <p:cNvSpPr>
            <a:spLocks noGrp="1"/>
          </p:cNvSpPr>
          <p:nvPr/>
        </p:nvSpPr>
        <p:spPr>
          <a:xfrm>
            <a:off x="838200" y="43910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650" b="1">
                <a:solidFill>
                  <a:srgbClr val="2F75D6"/>
                </a:solidFill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6" name="Multi Agent 목차 제목">
            <a:extLst>
              <a:ext uri="{FF2B5EF4-FFF2-40B4-BE49-F238E27FC236}">
                <a16:creationId xmlns:a16="http://schemas.microsoft.com/office/drawing/2014/main" id="{A2CED311-9840-4DDC-9BC5-C25D4EE86BFA}"/>
              </a:ext>
            </a:extLst>
          </p:cNvPr>
          <p:cNvSpPr>
            <a:spLocks noGrp="1"/>
          </p:cNvSpPr>
          <p:nvPr/>
        </p:nvSpPr>
        <p:spPr>
          <a:xfrm>
            <a:off x="1485900" y="4397673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Multi Agent-Flow</a:t>
            </a:r>
          </a:p>
        </p:txBody>
      </p:sp>
      <p:sp>
        <p:nvSpPr>
          <p:cNvPr id="48" name="WBS 목차 카드 10">
            <a:extLst>
              <a:ext uri="{FF2B5EF4-FFF2-40B4-BE49-F238E27FC236}">
                <a16:creationId xmlns:a16="http://schemas.microsoft.com/office/drawing/2014/main" id="{E7E62AE2-6AD3-41EB-8908-73E0E3D92189}"/>
              </a:ext>
            </a:extLst>
          </p:cNvPr>
          <p:cNvSpPr>
            <a:spLocks noGrp="1"/>
          </p:cNvSpPr>
          <p:nvPr/>
        </p:nvSpPr>
        <p:spPr>
          <a:xfrm>
            <a:off x="6400800" y="4248150"/>
            <a:ext cx="5143500" cy="514350"/>
          </a:xfrm>
          <a:prstGeom prst="roundRect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WBS 목차 번호 10">
            <a:extLst>
              <a:ext uri="{FF2B5EF4-FFF2-40B4-BE49-F238E27FC236}">
                <a16:creationId xmlns:a16="http://schemas.microsoft.com/office/drawing/2014/main" id="{84792354-57A6-45ED-8EB8-206664282737}"/>
              </a:ext>
            </a:extLst>
          </p:cNvPr>
          <p:cNvSpPr>
            <a:spLocks noGrp="1"/>
          </p:cNvSpPr>
          <p:nvPr/>
        </p:nvSpPr>
        <p:spPr>
          <a:xfrm>
            <a:off x="6591300" y="43910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50" name="WBS 목차 제목 10">
            <a:extLst>
              <a:ext uri="{FF2B5EF4-FFF2-40B4-BE49-F238E27FC236}">
                <a16:creationId xmlns:a16="http://schemas.microsoft.com/office/drawing/2014/main" id="{9B910422-9C99-4091-BE16-274330C6287B}"/>
              </a:ext>
            </a:extLst>
          </p:cNvPr>
          <p:cNvSpPr>
            <a:spLocks noGrp="1"/>
          </p:cNvSpPr>
          <p:nvPr/>
        </p:nvSpPr>
        <p:spPr>
          <a:xfrm>
            <a:off x="7239000" y="4397673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WBS기반 진행현황</a:t>
            </a:r>
          </a:p>
        </p:txBody>
      </p:sp>
      <p:sp>
        <p:nvSpPr>
          <p:cNvPr id="52" name="이슈 목차 카드 11">
            <a:extLst>
              <a:ext uri="{FF2B5EF4-FFF2-40B4-BE49-F238E27FC236}">
                <a16:creationId xmlns:a16="http://schemas.microsoft.com/office/drawing/2014/main" id="{C6B84B11-BD4C-4863-B612-55AF2A50CE62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5143500" cy="514350"/>
          </a:xfrm>
          <a:prstGeom prst="roundRect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이슈 목차 번호 11">
            <a:extLst>
              <a:ext uri="{FF2B5EF4-FFF2-40B4-BE49-F238E27FC236}">
                <a16:creationId xmlns:a16="http://schemas.microsoft.com/office/drawing/2014/main" id="{46385DF9-8BF7-46C3-8C8D-C25D20AD676C}"/>
              </a:ext>
            </a:extLst>
          </p:cNvPr>
          <p:cNvSpPr>
            <a:spLocks noGrp="1"/>
          </p:cNvSpPr>
          <p:nvPr/>
        </p:nvSpPr>
        <p:spPr>
          <a:xfrm>
            <a:off x="838200" y="50006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54" name="이슈 목차 제목 11">
            <a:extLst>
              <a:ext uri="{FF2B5EF4-FFF2-40B4-BE49-F238E27FC236}">
                <a16:creationId xmlns:a16="http://schemas.microsoft.com/office/drawing/2014/main" id="{2F55383E-9FA2-4DCE-9C3E-ACCB7572E30D}"/>
              </a:ext>
            </a:extLst>
          </p:cNvPr>
          <p:cNvSpPr>
            <a:spLocks noGrp="1"/>
          </p:cNvSpPr>
          <p:nvPr/>
        </p:nvSpPr>
        <p:spPr>
          <a:xfrm>
            <a:off x="1485900" y="5007273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이슈사항</a:t>
            </a:r>
          </a:p>
        </p:txBody>
      </p:sp>
    </p:spTree>
    <p:extLst>
      <p:ext uri="{BB962C8B-B14F-4D97-AF65-F5344CB8AC3E}">
        <p14:creationId xmlns:p14="http://schemas.microsoft.com/office/powerpoint/2010/main" val="1857720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CE3721-A62C-4428-8B61-8E731DCBA275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프로젝트 주제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C83B98-CC9B-4483-A262-7D0D0640310B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SalesLuv는 CRM을 기록 도구에서 영업 판단을 돕는 업무 시스템으로 바꿉니다.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B7D1DEA-ED3E-4250-AD10-0DC7714B210C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5CD2F1E-75A5-40E4-A286-3C94C4CF5BB9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6191250" cy="28575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9DE184-F679-4512-9CB9-2C694491A259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5429250" cy="8763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96000"/>
              </a:lnSpc>
              <a:buNone/>
              <a:defRPr sz="25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영업의 시작부터 끝까지</a:t>
            </a:r>
          </a:p>
          <a:p>
            <a:pPr algn="l">
              <a:lnSpc>
                <a:spcPct val="96000"/>
              </a:lnSpc>
              <a:buNone/>
              <a:defRPr sz="25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한번에 해결하는 영업특화 멀티에이전트CRM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228295-AD22-4B1B-96D7-80982B6D6807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762500" cy="533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담당자 개인에게 남는 고객 맥락을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팀이 이어받을 수 있는 구조로 만든다.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C3E00B6-FE18-4D70-BEF6-9B9C85E3FAAF}"/>
              </a:ext>
            </a:extLst>
          </p:cNvPr>
          <p:cNvSpPr>
            <a:spLocks noGrp="1"/>
          </p:cNvSpPr>
          <p:nvPr/>
        </p:nvSpPr>
        <p:spPr>
          <a:xfrm>
            <a:off x="7219950" y="2095500"/>
            <a:ext cx="4324350" cy="28575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B0AEE2-181D-4AE9-9C26-CC287E2F31F8}"/>
              </a:ext>
            </a:extLst>
          </p:cNvPr>
          <p:cNvSpPr>
            <a:spLocks noGrp="1"/>
          </p:cNvSpPr>
          <p:nvPr/>
        </p:nvSpPr>
        <p:spPr>
          <a:xfrm>
            <a:off x="7543800" y="2381250"/>
            <a:ext cx="1619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9C7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A9C7F7"/>
                </a:solidFill>
                <a:latin typeface="Apple SD Gothic Neo"/>
                <a:ea typeface="Apple SD Gothic Neo"/>
                <a:cs typeface="Apple SD Gothic Neo"/>
              </a:rPr>
              <a:t>핵심 사용자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4C02A8-E945-4367-88B4-95575661D32F}"/>
              </a:ext>
            </a:extLst>
          </p:cNvPr>
          <p:cNvSpPr>
            <a:spLocks noGrp="1"/>
          </p:cNvSpPr>
          <p:nvPr/>
        </p:nvSpPr>
        <p:spPr>
          <a:xfrm>
            <a:off x="7543800" y="2876550"/>
            <a:ext cx="3143250" cy="38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영업담당자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E64B38-A459-4A74-A07C-FB503507A1FA}"/>
              </a:ext>
            </a:extLst>
          </p:cNvPr>
          <p:cNvSpPr>
            <a:spLocks noGrp="1"/>
          </p:cNvSpPr>
          <p:nvPr/>
        </p:nvSpPr>
        <p:spPr>
          <a:xfrm>
            <a:off x="7543800" y="3276600"/>
            <a:ext cx="3238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기록·준비·후속 행동의 부담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38F54C-098B-4DC7-86FE-11C06F4B987F}"/>
              </a:ext>
            </a:extLst>
          </p:cNvPr>
          <p:cNvSpPr>
            <a:spLocks noGrp="1"/>
          </p:cNvSpPr>
          <p:nvPr/>
        </p:nvSpPr>
        <p:spPr>
          <a:xfrm>
            <a:off x="7543800" y="3829050"/>
            <a:ext cx="3143250" cy="38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영업관리 팀장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5B6159-9E4B-4090-865D-8C2D632188DC}"/>
              </a:ext>
            </a:extLst>
          </p:cNvPr>
          <p:cNvSpPr>
            <a:spLocks noGrp="1"/>
          </p:cNvSpPr>
          <p:nvPr/>
        </p:nvSpPr>
        <p:spPr>
          <a:xfrm>
            <a:off x="7543800" y="4229100"/>
            <a:ext cx="3238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인수인계·예측·코칭의 리스크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C081531-999E-40BC-8219-234B54057342}"/>
              </a:ext>
            </a:extLst>
          </p:cNvPr>
          <p:cNvSpPr>
            <a:spLocks noGrp="1"/>
          </p:cNvSpPr>
          <p:nvPr/>
        </p:nvSpPr>
        <p:spPr>
          <a:xfrm>
            <a:off x="647700" y="5219700"/>
            <a:ext cx="10896600" cy="590544"/>
          </a:xfrm>
          <a:prstGeom prst="roundRect">
            <a:avLst>
              <a:gd name="adj" fmla="val 2439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A2F4C4C-8EA9-49C1-A3A6-6FA49DF6CC3D}"/>
              </a:ext>
            </a:extLst>
          </p:cNvPr>
          <p:cNvSpPr>
            <a:spLocks noGrp="1"/>
          </p:cNvSpPr>
          <p:nvPr/>
        </p:nvSpPr>
        <p:spPr>
          <a:xfrm>
            <a:off x="895350" y="5410200"/>
            <a:ext cx="1238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CRM이란?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F468EF-341D-4100-B033-04DC112857C0}"/>
              </a:ext>
            </a:extLst>
          </p:cNvPr>
          <p:cNvSpPr>
            <a:spLocks noGrp="1"/>
          </p:cNvSpPr>
          <p:nvPr/>
        </p:nvSpPr>
        <p:spPr>
          <a:xfrm>
            <a:off x="2266950" y="5410200"/>
            <a:ext cx="85725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고객·잠재고객과의 상호작용 데이터를 통합해 영업·마케팅·서비스 개선에 활용하는 전략이자 시스템입니다.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E16362-779C-4546-8A06-68E683B29F5B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</p:spTree>
    <p:extLst>
      <p:ext uri="{BB962C8B-B14F-4D97-AF65-F5344CB8AC3E}">
        <p14:creationId xmlns:p14="http://schemas.microsoft.com/office/powerpoint/2010/main" val="17852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665C49-8AAE-4F6D-A5EC-87FCCE828017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영업흐름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1DA60D-C9D8-4639-BC5C-EEBE17F961A2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SalesLuv는 영업단계마다 생기는 정보를 다음 판단으로 연결합니다.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5C3D0CC0-2BAA-4420-9B9A-2D417488841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그림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52688" y="1924050"/>
            <a:ext cx="728662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51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CA90E2D-7CF7-477A-8D71-E5E052D70070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문제정의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42A1F7-B762-4519-997E-02A133864EDD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chemeClr val="accent1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영업담당자 개인만 소유하는 영업 암묵지(Key Doctor 성향 등)가 이직·인수인계시 소실되는 문제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34035F3-0D8E-4947-A8EA-C208D86314F0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1905000"/>
            <a:ext cx="7315200" cy="4876800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401C52D-563B-41E7-8545-4882B517E2A5}"/>
              </a:ext>
            </a:extLst>
          </p:cNvPr>
          <p:cNvSpPr>
            <a:spLocks noGrp="1"/>
          </p:cNvSpPr>
          <p:nvPr/>
        </p:nvSpPr>
        <p:spPr>
          <a:xfrm>
            <a:off x="8286750" y="2000250"/>
            <a:ext cx="3257550" cy="4476750"/>
          </a:xfrm>
          <a:prstGeom prst="roundRect">
            <a:avLst>
              <a:gd name="adj" fmla="val 7018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F1FCB8-5B07-48E0-A559-C19A9ACCEB49}"/>
              </a:ext>
            </a:extLst>
          </p:cNvPr>
          <p:cNvSpPr>
            <a:spLocks noGrp="1"/>
          </p:cNvSpPr>
          <p:nvPr/>
        </p:nvSpPr>
        <p:spPr>
          <a:xfrm>
            <a:off x="8572500" y="2324100"/>
            <a:ext cx="2476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입력 부담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9CAE18-D4E5-48DE-8AA8-79F1BCD79004}"/>
              </a:ext>
            </a:extLst>
          </p:cNvPr>
          <p:cNvSpPr>
            <a:spLocks noGrp="1"/>
          </p:cNvSpPr>
          <p:nvPr/>
        </p:nvSpPr>
        <p:spPr>
          <a:xfrm>
            <a:off x="8572500" y="2638425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화면 이동·반복 입력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F2A534E1-B113-4E09-9D7C-540972216EAB}"/>
              </a:ext>
            </a:extLst>
          </p:cNvPr>
          <p:cNvSpPr>
            <a:spLocks noGrp="1"/>
          </p:cNvSpPr>
          <p:nvPr/>
        </p:nvSpPr>
        <p:spPr>
          <a:xfrm>
            <a:off x="8572500" y="3038475"/>
            <a:ext cx="2619375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FBCB7E-FB00-47F4-B530-3F1751ABB7FE}"/>
              </a:ext>
            </a:extLst>
          </p:cNvPr>
          <p:cNvSpPr>
            <a:spLocks noGrp="1"/>
          </p:cNvSpPr>
          <p:nvPr/>
        </p:nvSpPr>
        <p:spPr>
          <a:xfrm>
            <a:off x="8572500" y="3219450"/>
            <a:ext cx="2476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정보 단절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B10F1A-8BEB-4D65-BF6F-5F833DB75CA5}"/>
              </a:ext>
            </a:extLst>
          </p:cNvPr>
          <p:cNvSpPr>
            <a:spLocks noGrp="1"/>
          </p:cNvSpPr>
          <p:nvPr/>
        </p:nvSpPr>
        <p:spPr>
          <a:xfrm>
            <a:off x="8572500" y="3533775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메일·캘린더·메신저 분리</a:t>
            </a:r>
          </a:p>
        </p:txBody>
      </p:sp>
      <p:sp>
        <p:nvSpPr>
          <p:cNvPr id="12" name="직선 연결선[R] 11">
            <a:extLst>
              <a:ext uri="{FF2B5EF4-FFF2-40B4-BE49-F238E27FC236}">
                <a16:creationId xmlns:a16="http://schemas.microsoft.com/office/drawing/2014/main" id="{22EA9DB1-B617-4C00-BEC5-D93FE3C7B63A}"/>
              </a:ext>
            </a:extLst>
          </p:cNvPr>
          <p:cNvSpPr>
            <a:spLocks noGrp="1"/>
          </p:cNvSpPr>
          <p:nvPr/>
        </p:nvSpPr>
        <p:spPr>
          <a:xfrm>
            <a:off x="8572500" y="3933825"/>
            <a:ext cx="2619375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C898FB-9578-44BA-A65D-DECF22E1477F}"/>
              </a:ext>
            </a:extLst>
          </p:cNvPr>
          <p:cNvSpPr>
            <a:spLocks noGrp="1"/>
          </p:cNvSpPr>
          <p:nvPr/>
        </p:nvSpPr>
        <p:spPr>
          <a:xfrm>
            <a:off x="8572500" y="4114800"/>
            <a:ext cx="2476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판단 공백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55DE4B-6D45-4588-8BFF-A514B4A09E93}"/>
              </a:ext>
            </a:extLst>
          </p:cNvPr>
          <p:cNvSpPr>
            <a:spLocks noGrp="1"/>
          </p:cNvSpPr>
          <p:nvPr/>
        </p:nvSpPr>
        <p:spPr>
          <a:xfrm>
            <a:off x="8572500" y="4429125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다음 행동·정체 원인 불명확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75C5F054-C4FB-43A3-BC73-B0AC7B68D5DF}"/>
              </a:ext>
            </a:extLst>
          </p:cNvPr>
          <p:cNvSpPr>
            <a:spLocks noGrp="1"/>
          </p:cNvSpPr>
          <p:nvPr/>
        </p:nvSpPr>
        <p:spPr>
          <a:xfrm>
            <a:off x="8572500" y="4829175"/>
            <a:ext cx="2619375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083A3D-E828-4B6F-8FC4-FA2CE5E591FD}"/>
              </a:ext>
            </a:extLst>
          </p:cNvPr>
          <p:cNvSpPr>
            <a:spLocks noGrp="1"/>
          </p:cNvSpPr>
          <p:nvPr/>
        </p:nvSpPr>
        <p:spPr>
          <a:xfrm>
            <a:off x="8572500" y="5010150"/>
            <a:ext cx="2476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관리 한계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AEE961-0179-40D5-9E7B-9B05D8FE59EF}"/>
              </a:ext>
            </a:extLst>
          </p:cNvPr>
          <p:cNvSpPr>
            <a:spLocks noGrp="1"/>
          </p:cNvSpPr>
          <p:nvPr/>
        </p:nvSpPr>
        <p:spPr>
          <a:xfrm>
            <a:off x="8572500" y="5324475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인수인계·예측·코칭 맥락 부족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65556A-44C7-45C6-8B00-A4FEAB54D5EB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</p:spTree>
    <p:extLst>
      <p:ext uri="{BB962C8B-B14F-4D97-AF65-F5344CB8AC3E}">
        <p14:creationId xmlns:p14="http://schemas.microsoft.com/office/powerpoint/2010/main" val="20033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642DF34-ABFA-4CC2-A212-4DA0F0CBE06C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프로젝트 주제 선정 근거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36849C-1311-4B89-8FB2-2455B0E0EFD8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시장 전체보다, 처음 선택받을 수 있는 진입 시장을 먼저 봅니다.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53FE2FE-823C-451E-A436-EA0FDB49461D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0ED3AA4-ACB9-4AED-8FAF-970E2D61A881}"/>
              </a:ext>
            </a:extLst>
          </p:cNvPr>
          <p:cNvSpPr>
            <a:spLocks noGrp="1"/>
          </p:cNvSpPr>
          <p:nvPr/>
        </p:nvSpPr>
        <p:spPr>
          <a:xfrm>
            <a:off x="647700" y="1952625"/>
            <a:ext cx="4953000" cy="3714750"/>
          </a:xfrm>
          <a:prstGeom prst="roundRect">
            <a:avLst>
              <a:gd name="adj" fmla="val 615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31F23E-B3A2-4525-BDB8-5B4CE769FA3C}"/>
              </a:ext>
            </a:extLst>
          </p:cNvPr>
          <p:cNvSpPr>
            <a:spLocks noGrp="1"/>
          </p:cNvSpPr>
          <p:nvPr/>
        </p:nvSpPr>
        <p:spPr>
          <a:xfrm>
            <a:off x="933450" y="2247900"/>
            <a:ext cx="3714750" cy="3238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의료기기 영업 CRM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A96168-7776-45BC-A821-37DCE6DBBE51}"/>
              </a:ext>
            </a:extLst>
          </p:cNvPr>
          <p:cNvSpPr>
            <a:spLocks noGrp="1"/>
          </p:cNvSpPr>
          <p:nvPr/>
        </p:nvSpPr>
        <p:spPr>
          <a:xfrm>
            <a:off x="933450" y="2647950"/>
            <a:ext cx="3905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작지만 고객과 구매 이유가 명확한 시작점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505BE2-C6E2-4AA8-BD4D-D77C132D1365}"/>
              </a:ext>
            </a:extLst>
          </p:cNvPr>
          <p:cNvSpPr>
            <a:spLocks noGrp="1"/>
          </p:cNvSpPr>
          <p:nvPr/>
        </p:nvSpPr>
        <p:spPr>
          <a:xfrm>
            <a:off x="933450" y="3238500"/>
            <a:ext cx="200025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4697"/>
          </a:bodyPr>
          <a:lstStyle/>
          <a:p>
            <a:pPr algn="l">
              <a:lnSpc>
                <a:spcPct val="108000"/>
              </a:lnSpc>
              <a:buNone/>
              <a:defRPr sz="330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6,661개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581B1D-2F56-45CD-BF8C-900F0A9E363D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국내 의료기기 기업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22B96F-0889-4F9E-A389-04856FF04543}"/>
              </a:ext>
            </a:extLst>
          </p:cNvPr>
          <p:cNvSpPr>
            <a:spLocks noGrp="1"/>
          </p:cNvSpPr>
          <p:nvPr/>
        </p:nvSpPr>
        <p:spPr>
          <a:xfrm>
            <a:off x="3048000" y="3238500"/>
            <a:ext cx="200025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4697"/>
          </a:bodyPr>
          <a:lstStyle/>
          <a:p>
            <a:pPr algn="l">
              <a:lnSpc>
                <a:spcPct val="108000"/>
              </a:lnSpc>
              <a:buNone/>
              <a:defRPr sz="330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20,036명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15598A-0985-41A7-96F0-F2DD8E84E387}"/>
              </a:ext>
            </a:extLst>
          </p:cNvPr>
          <p:cNvSpPr>
            <a:spLocks noGrp="1"/>
          </p:cNvSpPr>
          <p:nvPr/>
        </p:nvSpPr>
        <p:spPr>
          <a:xfrm>
            <a:off x="3048000" y="3790950"/>
            <a:ext cx="2095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영업·판매 직무 종사자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4B2C4B-9FE4-47FD-B6B8-90E99B9D9B8E}"/>
              </a:ext>
            </a:extLst>
          </p:cNvPr>
          <p:cNvSpPr>
            <a:spLocks noGrp="1"/>
          </p:cNvSpPr>
          <p:nvPr/>
        </p:nvSpPr>
        <p:spPr>
          <a:xfrm>
            <a:off x="933450" y="4438650"/>
            <a:ext cx="28575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rPr>
              <a:t>연 72~120억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F22680-7A67-430E-A8BA-83B8F3C7EFE4}"/>
              </a:ext>
            </a:extLst>
          </p:cNvPr>
          <p:cNvSpPr>
            <a:spLocks noGrp="1"/>
          </p:cNvSpPr>
          <p:nvPr/>
        </p:nvSpPr>
        <p:spPr>
          <a:xfrm>
            <a:off x="933450" y="4895850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이론상 구독 매출 상한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B395130-5D0D-44F4-9A32-F46D3739EC8A}"/>
              </a:ext>
            </a:extLst>
          </p:cNvPr>
          <p:cNvSpPr>
            <a:spLocks noGrp="1"/>
          </p:cNvSpPr>
          <p:nvPr/>
        </p:nvSpPr>
        <p:spPr>
          <a:xfrm>
            <a:off x="933450" y="5238750"/>
            <a:ext cx="1466850" cy="22860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C98F3E-937E-424B-B71C-4AEA68C90FCF}"/>
              </a:ext>
            </a:extLst>
          </p:cNvPr>
          <p:cNvSpPr>
            <a:spLocks noGrp="1"/>
          </p:cNvSpPr>
          <p:nvPr/>
        </p:nvSpPr>
        <p:spPr>
          <a:xfrm>
            <a:off x="1125385" y="5276850"/>
            <a:ext cx="13335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00" b="1">
                <a:solidFill>
                  <a:srgbClr val="00B050"/>
                </a:solidFill>
                <a:latin typeface="Apple SD Gothic Neo"/>
                <a:ea typeface="Apple SD Gothic Neo"/>
                <a:cs typeface="Apple SD Gothic Neo"/>
              </a:rPr>
              <a:t>출처 : Gartner  2025 분석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22E676C-5922-488C-9BFC-C37ACECF3B68}"/>
              </a:ext>
            </a:extLst>
          </p:cNvPr>
          <p:cNvSpPr>
            <a:spLocks noGrp="1"/>
          </p:cNvSpPr>
          <p:nvPr/>
        </p:nvSpPr>
        <p:spPr>
          <a:xfrm>
            <a:off x="5943600" y="1952625"/>
            <a:ext cx="5600700" cy="3714750"/>
          </a:xfrm>
          <a:prstGeom prst="roundRect">
            <a:avLst>
              <a:gd name="adj" fmla="val 6154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2AE3E0-FC03-4835-8423-C58B768689DB}"/>
              </a:ext>
            </a:extLst>
          </p:cNvPr>
          <p:cNvSpPr>
            <a:spLocks noGrp="1"/>
          </p:cNvSpPr>
          <p:nvPr/>
        </p:nvSpPr>
        <p:spPr>
          <a:xfrm>
            <a:off x="6229350" y="2247900"/>
            <a:ext cx="3429000" cy="3238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일반 영업 CRM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D45FE7-5D02-4ECD-A7F5-6E628678A54B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4476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크지만 경쟁과 고객 획득 난도가 높은 시장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DDB4E7-EFA4-423D-9180-47BCB8655EE2}"/>
              </a:ext>
            </a:extLst>
          </p:cNvPr>
          <p:cNvSpPr>
            <a:spLocks noGrp="1"/>
          </p:cNvSpPr>
          <p:nvPr/>
        </p:nvSpPr>
        <p:spPr>
          <a:xfrm>
            <a:off x="6229350" y="3295650"/>
            <a:ext cx="3048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약 2.8조원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6AD69C9-51B3-416B-9EC1-45C93B7B392C}"/>
              </a:ext>
            </a:extLst>
          </p:cNvPr>
          <p:cNvSpPr>
            <a:spLocks noGrp="1"/>
          </p:cNvSpPr>
          <p:nvPr/>
        </p:nvSpPr>
        <p:spPr>
          <a:xfrm>
            <a:off x="6229350" y="3848100"/>
            <a:ext cx="2857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국내 전체 CRM 추정 시장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2F179C9-6575-4DEC-A375-46CA98829A93}"/>
              </a:ext>
            </a:extLst>
          </p:cNvPr>
          <p:cNvSpPr>
            <a:spLocks noGrp="1"/>
          </p:cNvSpPr>
          <p:nvPr/>
        </p:nvSpPr>
        <p:spPr>
          <a:xfrm>
            <a:off x="6229350" y="4362450"/>
            <a:ext cx="3048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약 38.6조원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C01ADF-07E5-404D-AE95-2AF9E0F3C52B}"/>
              </a:ext>
            </a:extLst>
          </p:cNvPr>
          <p:cNvSpPr>
            <a:spLocks noGrp="1"/>
          </p:cNvSpPr>
          <p:nvPr/>
        </p:nvSpPr>
        <p:spPr>
          <a:xfrm>
            <a:off x="6229350" y="4914900"/>
            <a:ext cx="30480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글로벌 영업 CRM 추정 시장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C4EE10A7-670D-4094-B33A-EED19AD9CC23}"/>
              </a:ext>
            </a:extLst>
          </p:cNvPr>
          <p:cNvSpPr>
            <a:spLocks noGrp="1"/>
          </p:cNvSpPr>
          <p:nvPr/>
        </p:nvSpPr>
        <p:spPr>
          <a:xfrm>
            <a:off x="6229350" y="5238750"/>
            <a:ext cx="1466850" cy="228600"/>
          </a:xfrm>
          <a:prstGeom prst="roundRect">
            <a:avLst>
              <a:gd name="adj" fmla="val 50000"/>
            </a:avLst>
          </a:prstGeom>
          <a:solidFill>
            <a:srgbClr val="214A78"/>
          </a:solidFill>
          <a:ln w="9525">
            <a:solidFill>
              <a:srgbClr val="214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2B625E-5F45-4416-9B28-68103A25A3EE}"/>
              </a:ext>
            </a:extLst>
          </p:cNvPr>
          <p:cNvSpPr>
            <a:spLocks noGrp="1"/>
          </p:cNvSpPr>
          <p:nvPr/>
        </p:nvSpPr>
        <p:spPr>
          <a:xfrm>
            <a:off x="6296025" y="5276850"/>
            <a:ext cx="13335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[검증 · 제공 시장조사]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3E92780-5360-42CB-920B-DCBB1C256D2C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</p:spTree>
    <p:extLst>
      <p:ext uri="{BB962C8B-B14F-4D97-AF65-F5344CB8AC3E}">
        <p14:creationId xmlns:p14="http://schemas.microsoft.com/office/powerpoint/2010/main" val="1132860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A9F0043-FCE8-4F5E-869E-F89235C404A0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기존 CRM의 단점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BAB18F-07E1-4320-A969-4B30F636001E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기록은 쌓이지만, 고객·딜·활동의 맥락이 흩어져 판단으로 이어지지 않습니다.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3E1E038-3711-4452-9161-6331847B3C93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그림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81250" y="1809750"/>
            <a:ext cx="74295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57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37AD214-3C59-4DA5-9B80-E840C390281E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기존 CRM과 차별화할 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BB2A86-96CA-4AA5-B9A9-1C589560B34D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SalesLuv의 차별점은 “자동 입력” 하나가 아니라, 맥락을 모아 판단·승인·재계산하는 흐름입니다.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219949C-2E0C-4D56-AF37-F7D7AE67268E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D83515D-DA89-403D-88CF-7C33E7A7557F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5143500" cy="1504950"/>
          </a:xfrm>
          <a:prstGeom prst="roundRect">
            <a:avLst>
              <a:gd name="adj" fmla="val 1392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F0607ED7-C70F-4FA3-B41E-FFCCB13F67B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DE68A-E71B-44A1-8DBA-34C47661F0BF}"/>
              </a:ext>
            </a:extLst>
          </p:cNvPr>
          <p:cNvSpPr>
            <a:spLocks noGrp="1"/>
          </p:cNvSpPr>
          <p:nvPr/>
        </p:nvSpPr>
        <p:spPr>
          <a:xfrm>
            <a:off x="1000125" y="2305050"/>
            <a:ext cx="32385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468B62-3960-4DA0-8B1A-DBD61B0121BB}"/>
              </a:ext>
            </a:extLst>
          </p:cNvPr>
          <p:cNvSpPr>
            <a:spLocks noGrp="1"/>
          </p:cNvSpPr>
          <p:nvPr/>
        </p:nvSpPr>
        <p:spPr>
          <a:xfrm>
            <a:off x="1562100" y="2286000"/>
            <a:ext cx="37147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934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통합 맥락 카드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A5476A-5B65-4CD2-8783-703510F10DCC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4667250" cy="2857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고객·딜·활동·결정자·이슈를 한 화면에서 연결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FBA893-82C8-4889-ADB3-0146DEB1083E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572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메일·캘린더·메신저 등 분산 정보의 연결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3ABC043-65A4-4838-BBA4-B42B11536B47}"/>
              </a:ext>
            </a:extLst>
          </p:cNvPr>
          <p:cNvSpPr>
            <a:spLocks noGrp="1"/>
          </p:cNvSpPr>
          <p:nvPr/>
        </p:nvSpPr>
        <p:spPr>
          <a:xfrm>
            <a:off x="6210300" y="2076450"/>
            <a:ext cx="5143500" cy="1504950"/>
          </a:xfrm>
          <a:prstGeom prst="roundRect">
            <a:avLst>
              <a:gd name="adj" fmla="val 1392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8CB3525-CAEB-4586-A049-00865FC45F5B}"/>
              </a:ext>
            </a:extLst>
          </p:cNvPr>
          <p:cNvSpPr>
            <a:spLocks noGrp="1"/>
          </p:cNvSpPr>
          <p:nvPr/>
        </p:nvSpPr>
        <p:spPr>
          <a:xfrm>
            <a:off x="6419850" y="22669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758C57-B6D5-4587-AF1F-4C075C7D7179}"/>
              </a:ext>
            </a:extLst>
          </p:cNvPr>
          <p:cNvSpPr>
            <a:spLocks noGrp="1"/>
          </p:cNvSpPr>
          <p:nvPr/>
        </p:nvSpPr>
        <p:spPr>
          <a:xfrm>
            <a:off x="6486525" y="2305050"/>
            <a:ext cx="32385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3F2682-5219-4AF9-B8F3-50F4B24A2CA5}"/>
              </a:ext>
            </a:extLst>
          </p:cNvPr>
          <p:cNvSpPr>
            <a:spLocks noGrp="1"/>
          </p:cNvSpPr>
          <p:nvPr/>
        </p:nvSpPr>
        <p:spPr>
          <a:xfrm>
            <a:off x="7048500" y="2286000"/>
            <a:ext cx="37147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934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미팅 보고서 초안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955372-EDD5-4193-93F9-DF1AA5E96A3A}"/>
              </a:ext>
            </a:extLst>
          </p:cNvPr>
          <p:cNvSpPr>
            <a:spLocks noGrp="1"/>
          </p:cNvSpPr>
          <p:nvPr/>
        </p:nvSpPr>
        <p:spPr>
          <a:xfrm>
            <a:off x="6419850" y="2724150"/>
            <a:ext cx="4667250" cy="2857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STT·OCR·직접 입력을 바탕으로 보고서와 변경안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31FB4D-9D68-414C-9E5C-43F555746753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572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사람이 수정·확정하기 전에는 저장하지 않음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241A4A3-6F93-46E8-9E80-B1978F682A82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5143500" cy="1504950"/>
          </a:xfrm>
          <a:prstGeom prst="roundRect">
            <a:avLst>
              <a:gd name="adj" fmla="val 1392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6CEEF71-D9A0-402F-87F3-92F10D21E566}"/>
              </a:ext>
            </a:extLst>
          </p:cNvPr>
          <p:cNvSpPr>
            <a:spLocks noGrp="1"/>
          </p:cNvSpPr>
          <p:nvPr/>
        </p:nvSpPr>
        <p:spPr>
          <a:xfrm>
            <a:off x="933450" y="40767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8DE"/>
          </a:solidFill>
          <a:ln w="9525">
            <a:solidFill>
              <a:srgbClr val="FFF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FC54E3-37FF-4DE6-83AD-89581E9430DA}"/>
              </a:ext>
            </a:extLst>
          </p:cNvPr>
          <p:cNvSpPr>
            <a:spLocks noGrp="1"/>
          </p:cNvSpPr>
          <p:nvPr/>
        </p:nvSpPr>
        <p:spPr>
          <a:xfrm>
            <a:off x="1000125" y="4114800"/>
            <a:ext cx="32385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413D59B-C8D1-4D14-9F07-2745427C3997}"/>
              </a:ext>
            </a:extLst>
          </p:cNvPr>
          <p:cNvSpPr>
            <a:spLocks noGrp="1"/>
          </p:cNvSpPr>
          <p:nvPr/>
        </p:nvSpPr>
        <p:spPr>
          <a:xfrm>
            <a:off x="1562100" y="4095750"/>
            <a:ext cx="37147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934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Deal × Portfolio Agent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A385D0-CACC-4AC1-B344-48B5E70A2A1E}"/>
              </a:ext>
            </a:extLst>
          </p:cNvPr>
          <p:cNvSpPr>
            <a:spLocks noGrp="1"/>
          </p:cNvSpPr>
          <p:nvPr/>
        </p:nvSpPr>
        <p:spPr>
          <a:xfrm>
            <a:off x="933450" y="4533900"/>
            <a:ext cx="4667250" cy="2857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딜 내부의 다음 행동과 딜 사이의 우선순위를 분리 판단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F4E80C6-0220-4506-A6BC-4FE0982B07D9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4572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충돌 시 제약을 되돌려 재분석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2FAC9A6-9AA1-4E65-A42C-B88DED56802F}"/>
              </a:ext>
            </a:extLst>
          </p:cNvPr>
          <p:cNvSpPr>
            <a:spLocks noGrp="1"/>
          </p:cNvSpPr>
          <p:nvPr/>
        </p:nvSpPr>
        <p:spPr>
          <a:xfrm>
            <a:off x="6210300" y="3886200"/>
            <a:ext cx="5143500" cy="1504950"/>
          </a:xfrm>
          <a:prstGeom prst="roundRect">
            <a:avLst>
              <a:gd name="adj" fmla="val 1392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39F42C2-F01F-415D-8EC8-A98D299C3D07}"/>
              </a:ext>
            </a:extLst>
          </p:cNvPr>
          <p:cNvSpPr>
            <a:spLocks noGrp="1"/>
          </p:cNvSpPr>
          <p:nvPr/>
        </p:nvSpPr>
        <p:spPr>
          <a:xfrm>
            <a:off x="6419850" y="40767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9525">
            <a:solidFill>
              <a:srgbClr val="FF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083111-0F3D-4ADD-9DF7-487880062D0E}"/>
              </a:ext>
            </a:extLst>
          </p:cNvPr>
          <p:cNvSpPr>
            <a:spLocks noGrp="1"/>
          </p:cNvSpPr>
          <p:nvPr/>
        </p:nvSpPr>
        <p:spPr>
          <a:xfrm>
            <a:off x="6486525" y="4114800"/>
            <a:ext cx="32385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2B16BD-E1E9-4C44-9C88-94A642F48618}"/>
              </a:ext>
            </a:extLst>
          </p:cNvPr>
          <p:cNvSpPr>
            <a:spLocks noGrp="1"/>
          </p:cNvSpPr>
          <p:nvPr/>
        </p:nvSpPr>
        <p:spPr>
          <a:xfrm>
            <a:off x="7048500" y="4095750"/>
            <a:ext cx="37147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934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승인 게이트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88F3B9-05F3-4C56-95D7-5D8DF39EED40}"/>
              </a:ext>
            </a:extLst>
          </p:cNvPr>
          <p:cNvSpPr>
            <a:spLocks noGrp="1"/>
          </p:cNvSpPr>
          <p:nvPr/>
        </p:nvSpPr>
        <p:spPr>
          <a:xfrm>
            <a:off x="6419850" y="4533900"/>
            <a:ext cx="4667250" cy="2857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AI는 분석·준비·제안까지, 확정은 사용자 선택으로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18B6BCD-D894-4C75-9C5F-00D98B79387E}"/>
              </a:ext>
            </a:extLst>
          </p:cNvPr>
          <p:cNvSpPr>
            <a:spLocks noGrp="1"/>
          </p:cNvSpPr>
          <p:nvPr/>
        </p:nvSpPr>
        <p:spPr>
          <a:xfrm>
            <a:off x="6419850" y="4914900"/>
            <a:ext cx="4572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CRM 변경·캘린더 등록·보고서 확정은 승인 후 반영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5D81C8A-4135-48DE-A11C-9C76F95D6B15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</p:spTree>
    <p:extLst>
      <p:ext uri="{BB962C8B-B14F-4D97-AF65-F5344CB8AC3E}">
        <p14:creationId xmlns:p14="http://schemas.microsoft.com/office/powerpoint/2010/main" val="1361274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4A4AB5-9CF3-4887-AC5E-FE0483ECFAB2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전체 사용자 시나리오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CCACD2-13A0-4DBA-A9A8-96EDBB3F36A6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영업사원은 추천을 받고 선택하며, 시스템은 승인된 정보로 다음 사이클을 다시 계산합니다.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152A786-CD41-40E4-A249-C755AE9686EC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선 연결선[R] 4">
            <a:extLst>
              <a:ext uri="{FF2B5EF4-FFF2-40B4-BE49-F238E27FC236}">
                <a16:creationId xmlns:a16="http://schemas.microsoft.com/office/drawing/2014/main" id="{B5B8E5A6-0E7C-4930-BF72-E252C46D7DE2}"/>
              </a:ext>
            </a:extLst>
          </p:cNvPr>
          <p:cNvSpPr>
            <a:spLocks noGrp="1"/>
          </p:cNvSpPr>
          <p:nvPr/>
        </p:nvSpPr>
        <p:spPr>
          <a:xfrm>
            <a:off x="2019300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96AF24A-0D66-47D9-AEC0-3593DA22CE79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DC2D89-AD8F-4CAA-BB69-F621331DE018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 lnSpcReduction="10000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49C086-A49B-4874-8C68-310B7E582FD4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오늘의 우선순위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A12BE1-82E2-4324-B958-1FA9CC03B6B0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전체 딜 비교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1CA31C9-F0CB-4099-B15C-0AEBF3FED3B0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FF2AE8E-C442-4302-AB74-2AB34D4BAF4A}"/>
              </a:ext>
            </a:extLst>
          </p:cNvPr>
          <p:cNvSpPr>
            <a:spLocks noGrp="1"/>
          </p:cNvSpPr>
          <p:nvPr/>
        </p:nvSpPr>
        <p:spPr>
          <a:xfrm>
            <a:off x="838200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Portfolio Agent</a:t>
            </a:r>
          </a:p>
        </p:txBody>
      </p:sp>
      <p:sp>
        <p:nvSpPr>
          <p:cNvPr id="12" name="직선 연결선[R] 11">
            <a:extLst>
              <a:ext uri="{FF2B5EF4-FFF2-40B4-BE49-F238E27FC236}">
                <a16:creationId xmlns:a16="http://schemas.microsoft.com/office/drawing/2014/main" id="{E01A24EE-D53B-4255-A8FE-9FDED53235DF}"/>
              </a:ext>
            </a:extLst>
          </p:cNvPr>
          <p:cNvSpPr>
            <a:spLocks noGrp="1"/>
          </p:cNvSpPr>
          <p:nvPr/>
        </p:nvSpPr>
        <p:spPr>
          <a:xfrm>
            <a:off x="3857625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3B067D2-8F21-4212-8C48-CF15259CB2E8}"/>
              </a:ext>
            </a:extLst>
          </p:cNvPr>
          <p:cNvSpPr>
            <a:spLocks noGrp="1"/>
          </p:cNvSpPr>
          <p:nvPr/>
        </p:nvSpPr>
        <p:spPr>
          <a:xfrm>
            <a:off x="2505075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E99686-D228-4579-B8A6-C0CDC44A8DCF}"/>
              </a:ext>
            </a:extLst>
          </p:cNvPr>
          <p:cNvSpPr>
            <a:spLocks noGrp="1"/>
          </p:cNvSpPr>
          <p:nvPr/>
        </p:nvSpPr>
        <p:spPr>
          <a:xfrm>
            <a:off x="2676525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 lnSpcReduction="10000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D9D652-AA35-477A-823D-92D25D3D93F5}"/>
              </a:ext>
            </a:extLst>
          </p:cNvPr>
          <p:cNvSpPr>
            <a:spLocks noGrp="1"/>
          </p:cNvSpPr>
          <p:nvPr/>
        </p:nvSpPr>
        <p:spPr>
          <a:xfrm>
            <a:off x="2676525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미팅 전 브리핑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1688A3-DEF8-493A-86BF-66FC94BF9FEB}"/>
              </a:ext>
            </a:extLst>
          </p:cNvPr>
          <p:cNvSpPr>
            <a:spLocks noGrp="1"/>
          </p:cNvSpPr>
          <p:nvPr/>
        </p:nvSpPr>
        <p:spPr>
          <a:xfrm>
            <a:off x="2676525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히스토리·질문·준비물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B172DB3-9A9A-4A4D-A642-E42DD09C6026}"/>
              </a:ext>
            </a:extLst>
          </p:cNvPr>
          <p:cNvSpPr>
            <a:spLocks noGrp="1"/>
          </p:cNvSpPr>
          <p:nvPr/>
        </p:nvSpPr>
        <p:spPr>
          <a:xfrm>
            <a:off x="2581275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C85AFD-611B-4D6D-8C39-12C4C4E9BEFE}"/>
              </a:ext>
            </a:extLst>
          </p:cNvPr>
          <p:cNvSpPr>
            <a:spLocks noGrp="1"/>
          </p:cNvSpPr>
          <p:nvPr/>
        </p:nvSpPr>
        <p:spPr>
          <a:xfrm>
            <a:off x="2676525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Deal Agent</a:t>
            </a:r>
          </a:p>
        </p:txBody>
      </p:sp>
      <p:sp>
        <p:nvSpPr>
          <p:cNvPr id="19" name="직선 연결선[R] 18">
            <a:extLst>
              <a:ext uri="{FF2B5EF4-FFF2-40B4-BE49-F238E27FC236}">
                <a16:creationId xmlns:a16="http://schemas.microsoft.com/office/drawing/2014/main" id="{1283294C-E35C-4B34-9CF3-19DB9C405994}"/>
              </a:ext>
            </a:extLst>
          </p:cNvPr>
          <p:cNvSpPr>
            <a:spLocks noGrp="1"/>
          </p:cNvSpPr>
          <p:nvPr/>
        </p:nvSpPr>
        <p:spPr>
          <a:xfrm>
            <a:off x="5695950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B29E2A59-D5E2-4682-BA3F-3A8AE1BF2BBE}"/>
              </a:ext>
            </a:extLst>
          </p:cNvPr>
          <p:cNvSpPr>
            <a:spLocks noGrp="1"/>
          </p:cNvSpPr>
          <p:nvPr/>
        </p:nvSpPr>
        <p:spPr>
          <a:xfrm>
            <a:off x="4343400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73DA85-0003-4345-BCFF-F5703FD85A8D}"/>
              </a:ext>
            </a:extLst>
          </p:cNvPr>
          <p:cNvSpPr>
            <a:spLocks noGrp="1"/>
          </p:cNvSpPr>
          <p:nvPr/>
        </p:nvSpPr>
        <p:spPr>
          <a:xfrm>
            <a:off x="4514850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 lnSpcReduction="10000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8D08066-0A22-4A05-A779-3A97A4857EF1}"/>
              </a:ext>
            </a:extLst>
          </p:cNvPr>
          <p:cNvSpPr>
            <a:spLocks noGrp="1"/>
          </p:cNvSpPr>
          <p:nvPr/>
        </p:nvSpPr>
        <p:spPr>
          <a:xfrm>
            <a:off x="4514850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미팅 후 입력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1C474B-E294-4417-A36F-4381E2291C86}"/>
              </a:ext>
            </a:extLst>
          </p:cNvPr>
          <p:cNvSpPr>
            <a:spLocks noGrp="1"/>
          </p:cNvSpPr>
          <p:nvPr/>
        </p:nvSpPr>
        <p:spPr>
          <a:xfrm>
            <a:off x="4514850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STT·OCR·직접 입력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B15F1D76-F884-4CF2-9CF2-3974C5AEB397}"/>
              </a:ext>
            </a:extLst>
          </p:cNvPr>
          <p:cNvSpPr>
            <a:spLocks noGrp="1"/>
          </p:cNvSpPr>
          <p:nvPr/>
        </p:nvSpPr>
        <p:spPr>
          <a:xfrm>
            <a:off x="4419600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D37297-A443-4FF6-894A-11889B644608}"/>
              </a:ext>
            </a:extLst>
          </p:cNvPr>
          <p:cNvSpPr>
            <a:spLocks noGrp="1"/>
          </p:cNvSpPr>
          <p:nvPr/>
        </p:nvSpPr>
        <p:spPr>
          <a:xfrm>
            <a:off x="4514850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보고서 함수</a:t>
            </a:r>
          </a:p>
        </p:txBody>
      </p:sp>
      <p:sp>
        <p:nvSpPr>
          <p:cNvPr id="26" name="직선 연결선[R] 25">
            <a:extLst>
              <a:ext uri="{FF2B5EF4-FFF2-40B4-BE49-F238E27FC236}">
                <a16:creationId xmlns:a16="http://schemas.microsoft.com/office/drawing/2014/main" id="{D1419F96-D871-4B14-9B84-D6E86F446C2B}"/>
              </a:ext>
            </a:extLst>
          </p:cNvPr>
          <p:cNvSpPr>
            <a:spLocks noGrp="1"/>
          </p:cNvSpPr>
          <p:nvPr/>
        </p:nvSpPr>
        <p:spPr>
          <a:xfrm>
            <a:off x="7534275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3A91669E-5D1B-4128-916F-1A405EFE0C7C}"/>
              </a:ext>
            </a:extLst>
          </p:cNvPr>
          <p:cNvSpPr>
            <a:spLocks noGrp="1"/>
          </p:cNvSpPr>
          <p:nvPr/>
        </p:nvSpPr>
        <p:spPr>
          <a:xfrm>
            <a:off x="6181725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A12757-9DED-4CE7-9B0A-BADD096096FF}"/>
              </a:ext>
            </a:extLst>
          </p:cNvPr>
          <p:cNvSpPr>
            <a:spLocks noGrp="1"/>
          </p:cNvSpPr>
          <p:nvPr/>
        </p:nvSpPr>
        <p:spPr>
          <a:xfrm>
            <a:off x="6353175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 lnSpcReduction="10000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3AC13A-B5C4-470B-83EE-EF78983BB30C}"/>
              </a:ext>
            </a:extLst>
          </p:cNvPr>
          <p:cNvSpPr>
            <a:spLocks noGrp="1"/>
          </p:cNvSpPr>
          <p:nvPr/>
        </p:nvSpPr>
        <p:spPr>
          <a:xfrm>
            <a:off x="6353175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보고서 확정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B9EB98-5847-493A-A266-844CEEBC339B}"/>
              </a:ext>
            </a:extLst>
          </p:cNvPr>
          <p:cNvSpPr>
            <a:spLocks noGrp="1"/>
          </p:cNvSpPr>
          <p:nvPr/>
        </p:nvSpPr>
        <p:spPr>
          <a:xfrm>
            <a:off x="6353175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수정·검토·승인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7F2CB6C3-EBBF-47A8-AF92-EA9F3379996B}"/>
              </a:ext>
            </a:extLst>
          </p:cNvPr>
          <p:cNvSpPr>
            <a:spLocks noGrp="1"/>
          </p:cNvSpPr>
          <p:nvPr/>
        </p:nvSpPr>
        <p:spPr>
          <a:xfrm>
            <a:off x="6257925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9525">
            <a:solidFill>
              <a:srgbClr val="FF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F5726F-D52E-42CA-BE55-13F20F2DF257}"/>
              </a:ext>
            </a:extLst>
          </p:cNvPr>
          <p:cNvSpPr>
            <a:spLocks noGrp="1"/>
          </p:cNvSpPr>
          <p:nvPr/>
        </p:nvSpPr>
        <p:spPr>
          <a:xfrm>
            <a:off x="6353175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33" name="직선 연결선[R] 32">
            <a:extLst>
              <a:ext uri="{FF2B5EF4-FFF2-40B4-BE49-F238E27FC236}">
                <a16:creationId xmlns:a16="http://schemas.microsoft.com/office/drawing/2014/main" id="{2095265A-EAAA-4881-A241-A6D6B1202CA6}"/>
              </a:ext>
            </a:extLst>
          </p:cNvPr>
          <p:cNvSpPr>
            <a:spLocks noGrp="1"/>
          </p:cNvSpPr>
          <p:nvPr/>
        </p:nvSpPr>
        <p:spPr>
          <a:xfrm>
            <a:off x="9372600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D7631133-3D3B-4A22-8A23-AA63E5194471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B0CC005-5583-4710-9387-6B7AF0CFF8EE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 lnSpcReduction="10000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5BBD30B-7923-47B2-8CCD-F50F40FDC211}"/>
              </a:ext>
            </a:extLst>
          </p:cNvPr>
          <p:cNvSpPr>
            <a:spLocks noGrp="1"/>
          </p:cNvSpPr>
          <p:nvPr/>
        </p:nvSpPr>
        <p:spPr>
          <a:xfrm>
            <a:off x="8191500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정보 반영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14C2C34-E9C1-4976-8FE3-008577EDAF22}"/>
              </a:ext>
            </a:extLst>
          </p:cNvPr>
          <p:cNvSpPr>
            <a:spLocks noGrp="1"/>
          </p:cNvSpPr>
          <p:nvPr/>
        </p:nvSpPr>
        <p:spPr>
          <a:xfrm>
            <a:off x="8191500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CRM 저장·재계산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D6B9A05E-83DA-44F1-A39E-26235C492309}"/>
              </a:ext>
            </a:extLst>
          </p:cNvPr>
          <p:cNvSpPr>
            <a:spLocks noGrp="1"/>
          </p:cNvSpPr>
          <p:nvPr/>
        </p:nvSpPr>
        <p:spPr>
          <a:xfrm>
            <a:off x="8096250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CFDFEBD-232D-4BA0-9795-5F3615884A53}"/>
              </a:ext>
            </a:extLst>
          </p:cNvPr>
          <p:cNvSpPr>
            <a:spLocks noGrp="1"/>
          </p:cNvSpPr>
          <p:nvPr/>
        </p:nvSpPr>
        <p:spPr>
          <a:xfrm>
            <a:off x="8191500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Deal → Portfolio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4B86B061-AEB2-4818-B537-D2AE1D47FCA1}"/>
              </a:ext>
            </a:extLst>
          </p:cNvPr>
          <p:cNvSpPr>
            <a:spLocks noGrp="1"/>
          </p:cNvSpPr>
          <p:nvPr/>
        </p:nvSpPr>
        <p:spPr>
          <a:xfrm>
            <a:off x="9858375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29EE76B-57B1-4AA9-9A8A-380F9424B636}"/>
              </a:ext>
            </a:extLst>
          </p:cNvPr>
          <p:cNvSpPr>
            <a:spLocks noGrp="1"/>
          </p:cNvSpPr>
          <p:nvPr/>
        </p:nvSpPr>
        <p:spPr>
          <a:xfrm>
            <a:off x="10029825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 lnSpcReduction="10000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8B6ED3E-5736-4328-BF3C-902EC7E45102}"/>
              </a:ext>
            </a:extLst>
          </p:cNvPr>
          <p:cNvSpPr>
            <a:spLocks noGrp="1"/>
          </p:cNvSpPr>
          <p:nvPr/>
        </p:nvSpPr>
        <p:spPr>
          <a:xfrm>
            <a:off x="10029825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분석(업무,매출)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4089A17-F0DE-4099-AB83-FD1A5F46E71D}"/>
              </a:ext>
            </a:extLst>
          </p:cNvPr>
          <p:cNvSpPr>
            <a:spLocks noGrp="1"/>
          </p:cNvSpPr>
          <p:nvPr/>
        </p:nvSpPr>
        <p:spPr>
          <a:xfrm>
            <a:off x="10029825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업무·매출 분석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B6C7D936-F80D-45A3-89AF-78CFAC0E1B0C}"/>
              </a:ext>
            </a:extLst>
          </p:cNvPr>
          <p:cNvSpPr>
            <a:spLocks noGrp="1"/>
          </p:cNvSpPr>
          <p:nvPr/>
        </p:nvSpPr>
        <p:spPr>
          <a:xfrm>
            <a:off x="9934575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81F8C85-9F09-4441-9CDE-5D1C2AC6D01B}"/>
              </a:ext>
            </a:extLst>
          </p:cNvPr>
          <p:cNvSpPr>
            <a:spLocks noGrp="1"/>
          </p:cNvSpPr>
          <p:nvPr/>
        </p:nvSpPr>
        <p:spPr>
          <a:xfrm>
            <a:off x="10029825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Assistant Agent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34F9DFA4-77F1-4A5C-ABCA-FE91E848D65D}"/>
              </a:ext>
            </a:extLst>
          </p:cNvPr>
          <p:cNvSpPr>
            <a:spLocks noGrp="1"/>
          </p:cNvSpPr>
          <p:nvPr/>
        </p:nvSpPr>
        <p:spPr>
          <a:xfrm>
            <a:off x="2000250" y="4914900"/>
            <a:ext cx="8191500" cy="704850"/>
          </a:xfrm>
          <a:prstGeom prst="roundRect">
            <a:avLst>
              <a:gd name="adj" fmla="val 2702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7572D76-BCE0-4579-95AA-E05EDF7C8D54}"/>
              </a:ext>
            </a:extLst>
          </p:cNvPr>
          <p:cNvSpPr>
            <a:spLocks noGrp="1"/>
          </p:cNvSpPr>
          <p:nvPr/>
        </p:nvSpPr>
        <p:spPr>
          <a:xfrm>
            <a:off x="2286000" y="5143500"/>
            <a:ext cx="7620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rPr>
              <a:t>운영 원칙 : AI는 분석·준비·초안·제안까지, 최종 확정은 사람의 선택과 승인으로.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1768E9A-B7D4-4B4A-B0D4-B6E2F99B514D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</p:spTree>
    <p:extLst>
      <p:ext uri="{BB962C8B-B14F-4D97-AF65-F5344CB8AC3E}">
        <p14:creationId xmlns:p14="http://schemas.microsoft.com/office/powerpoint/2010/main" val="5904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팀원 시나리오 제목">
            <a:extLst>
              <a:ext uri="{FF2B5EF4-FFF2-40B4-BE49-F238E27FC236}">
                <a16:creationId xmlns:a16="http://schemas.microsoft.com/office/drawing/2014/main" id="{1E796583-CBB1-4361-AA12-C165B37F8969}"/>
              </a:ext>
            </a:extLst>
          </p:cNvPr>
          <p:cNvSpPr>
            <a:spLocks noGrp="1"/>
          </p:cNvSpPr>
          <p:nvPr/>
        </p:nvSpPr>
        <p:spPr>
          <a:xfrm>
            <a:off x="647700" y="419100"/>
            <a:ext cx="904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사용자 시나리오(팀원)</a:t>
            </a:r>
          </a:p>
        </p:txBody>
      </p:sp>
      <p:sp>
        <p:nvSpPr>
          <p:cNvPr id="2" name="팀원 시나리오 설명">
            <a:extLst>
              <a:ext uri="{FF2B5EF4-FFF2-40B4-BE49-F238E27FC236}">
                <a16:creationId xmlns:a16="http://schemas.microsoft.com/office/drawing/2014/main" id="{4E309AF1-38E8-4EC8-AE09-32EA6FB0E1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66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20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팀원의 하루를 기준으로 핵심 업무 흐름을 카드형으로 정리합니다.</a:t>
            </a:r>
          </a:p>
        </p:txBody>
      </p:sp>
      <p:sp>
        <p:nvSpPr>
          <p:cNvPr id="3" name="팀원 시나리오 구분선">
            <a:extLst>
              <a:ext uri="{FF2B5EF4-FFF2-40B4-BE49-F238E27FC236}">
                <a16:creationId xmlns:a16="http://schemas.microsoft.com/office/drawing/2014/main" id="{87C77807-C046-47E6-BC99-2BD9B074D8F1}"/>
              </a:ext>
            </a:extLst>
          </p:cNvPr>
          <p:cNvSpPr>
            <a:spLocks noGrp="1"/>
          </p:cNvSpPr>
          <p:nvPr/>
        </p:nvSpPr>
        <p:spPr>
          <a:xfrm>
            <a:off x="647700" y="1219200"/>
            <a:ext cx="10896600" cy="9525"/>
          </a:xfrm>
          <a:prstGeom prst="rect">
            <a:avLst/>
          </a:prstGeom>
          <a:solidFill>
            <a:srgbClr val="D7DF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팀원 시나리오 푸터">
            <a:extLst>
              <a:ext uri="{FF2B5EF4-FFF2-40B4-BE49-F238E27FC236}">
                <a16:creationId xmlns:a16="http://schemas.microsoft.com/office/drawing/2014/main" id="{A984715D-B4D6-42D0-8E81-84B9A8E21ADF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82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5" name="팀원 시나리오 카드 01">
            <a:extLst>
              <a:ext uri="{FF2B5EF4-FFF2-40B4-BE49-F238E27FC236}">
                <a16:creationId xmlns:a16="http://schemas.microsoft.com/office/drawing/2014/main" id="{FE813CF8-362A-4829-BE26-778A3FB36C39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팀원 시나리오 번호 01">
            <a:extLst>
              <a:ext uri="{FF2B5EF4-FFF2-40B4-BE49-F238E27FC236}">
                <a16:creationId xmlns:a16="http://schemas.microsoft.com/office/drawing/2014/main" id="{4E5CC49D-1B49-4CFD-B89F-3F353D660886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팀원 시나리오 제목 01">
            <a:extLst>
              <a:ext uri="{FF2B5EF4-FFF2-40B4-BE49-F238E27FC236}">
                <a16:creationId xmlns:a16="http://schemas.microsoft.com/office/drawing/2014/main" id="{A8012293-9362-4E85-A264-854028F31EEF}"/>
              </a:ext>
            </a:extLst>
          </p:cNvPr>
          <p:cNvSpPr>
            <a:spLocks noGrp="1"/>
          </p:cNvSpPr>
          <p:nvPr/>
        </p:nvSpPr>
        <p:spPr>
          <a:xfrm>
            <a:off x="1485900" y="16383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하루 시작 — 오늘의 우선순위 확인</a:t>
            </a:r>
          </a:p>
        </p:txBody>
      </p:sp>
      <p:sp>
        <p:nvSpPr>
          <p:cNvPr id="8" name="팀원 시나리오 본문 01">
            <a:extLst>
              <a:ext uri="{FF2B5EF4-FFF2-40B4-BE49-F238E27FC236}">
                <a16:creationId xmlns:a16="http://schemas.microsoft.com/office/drawing/2014/main" id="{8044BB19-1046-4926-A103-67575EA42B33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전체 딜 비교 결과와 추천 일정을 보고, 선택한 항목만 캘린더에 등록</a:t>
            </a:r>
          </a:p>
        </p:txBody>
      </p:sp>
      <p:sp>
        <p:nvSpPr>
          <p:cNvPr id="9" name="팀원 시나리오 설명 01">
            <a:extLst>
              <a:ext uri="{FF2B5EF4-FFF2-40B4-BE49-F238E27FC236}">
                <a16:creationId xmlns:a16="http://schemas.microsoft.com/office/drawing/2014/main" id="{F8AE0986-9312-4F7F-8BBD-6642F6ACA359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1" name="팀원 시나리오 카드 02">
            <a:extLst>
              <a:ext uri="{FF2B5EF4-FFF2-40B4-BE49-F238E27FC236}">
                <a16:creationId xmlns:a16="http://schemas.microsoft.com/office/drawing/2014/main" id="{1A93764E-BAD5-4A33-9CC6-F502AB4C43C9}"/>
              </a:ext>
            </a:extLst>
          </p:cNvPr>
          <p:cNvSpPr>
            <a:spLocks noGrp="1"/>
          </p:cNvSpPr>
          <p:nvPr/>
        </p:nvSpPr>
        <p:spPr>
          <a:xfrm>
            <a:off x="6400800" y="1476375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팀원 시나리오 번호 02">
            <a:extLst>
              <a:ext uri="{FF2B5EF4-FFF2-40B4-BE49-F238E27FC236}">
                <a16:creationId xmlns:a16="http://schemas.microsoft.com/office/drawing/2014/main" id="{1DA3732A-8550-4DD0-A009-EB3C564A27BD}"/>
              </a:ext>
            </a:extLst>
          </p:cNvPr>
          <p:cNvSpPr>
            <a:spLocks noGrp="1"/>
          </p:cNvSpPr>
          <p:nvPr/>
        </p:nvSpPr>
        <p:spPr>
          <a:xfrm>
            <a:off x="6591300" y="165735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팀원 시나리오 제목 02">
            <a:extLst>
              <a:ext uri="{FF2B5EF4-FFF2-40B4-BE49-F238E27FC236}">
                <a16:creationId xmlns:a16="http://schemas.microsoft.com/office/drawing/2014/main" id="{01570E0F-18C6-4F0E-9D97-7D0ADBA7E6CB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미팅 전 — 카드에서 브리핑 확인</a:t>
            </a:r>
          </a:p>
        </p:txBody>
      </p:sp>
      <p:sp>
        <p:nvSpPr>
          <p:cNvPr id="14" name="팀원 시나리오 본문 02">
            <a:extLst>
              <a:ext uri="{FF2B5EF4-FFF2-40B4-BE49-F238E27FC236}">
                <a16:creationId xmlns:a16="http://schemas.microsoft.com/office/drawing/2014/main" id="{6F1814D0-DC22-4925-9C41-9DFFE7252E82}"/>
              </a:ext>
            </a:extLst>
          </p:cNvPr>
          <p:cNvSpPr>
            <a:spLocks noGrp="1"/>
          </p:cNvSpPr>
          <p:nvPr/>
        </p:nvSpPr>
        <p:spPr>
          <a:xfrm>
            <a:off x="6591300" y="20002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오늘의 미팅 카드를 열어 고객 히스토리, 딜 상태, 확인할 질문과 준비물을 확인</a:t>
            </a:r>
          </a:p>
        </p:txBody>
      </p:sp>
      <p:sp>
        <p:nvSpPr>
          <p:cNvPr id="15" name="팀원 시나리오 설명 02">
            <a:extLst>
              <a:ext uri="{FF2B5EF4-FFF2-40B4-BE49-F238E27FC236}">
                <a16:creationId xmlns:a16="http://schemas.microsoft.com/office/drawing/2014/main" id="{FA9BC032-3503-45F1-B243-6079DDE363DC}"/>
              </a:ext>
            </a:extLst>
          </p:cNvPr>
          <p:cNvSpPr>
            <a:spLocks noGrp="1"/>
          </p:cNvSpPr>
          <p:nvPr/>
        </p:nvSpPr>
        <p:spPr>
          <a:xfrm>
            <a:off x="6591300" y="23431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팀원 시나리오 카드 03">
            <a:extLst>
              <a:ext uri="{FF2B5EF4-FFF2-40B4-BE49-F238E27FC236}">
                <a16:creationId xmlns:a16="http://schemas.microsoft.com/office/drawing/2014/main" id="{5A52F7A9-8CAE-4301-AC05-E098165AC7A2}"/>
              </a:ext>
            </a:extLst>
          </p:cNvPr>
          <p:cNvSpPr>
            <a:spLocks noGrp="1"/>
          </p:cNvSpPr>
          <p:nvPr/>
        </p:nvSpPr>
        <p:spPr>
          <a:xfrm>
            <a:off x="647700" y="2781300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팀원 시나리오 번호 03">
            <a:extLst>
              <a:ext uri="{FF2B5EF4-FFF2-40B4-BE49-F238E27FC236}">
                <a16:creationId xmlns:a16="http://schemas.microsoft.com/office/drawing/2014/main" id="{BF29AA59-01A5-469C-9C93-A8122817D5FD}"/>
              </a:ext>
            </a:extLst>
          </p:cNvPr>
          <p:cNvSpPr>
            <a:spLocks noGrp="1"/>
          </p:cNvSpPr>
          <p:nvPr/>
        </p:nvSpPr>
        <p:spPr>
          <a:xfrm>
            <a:off x="838200" y="2962275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팀원 시나리오 제목 03">
            <a:extLst>
              <a:ext uri="{FF2B5EF4-FFF2-40B4-BE49-F238E27FC236}">
                <a16:creationId xmlns:a16="http://schemas.microsoft.com/office/drawing/2014/main" id="{A7C16D0B-9849-428C-9F72-8E2000A04C9F}"/>
              </a:ext>
            </a:extLst>
          </p:cNvPr>
          <p:cNvSpPr>
            <a:spLocks noGrp="1"/>
          </p:cNvSpPr>
          <p:nvPr/>
        </p:nvSpPr>
        <p:spPr>
          <a:xfrm>
            <a:off x="1485900" y="29432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미팅 후 — 같은 카드에서 보고서 작성</a:t>
            </a:r>
          </a:p>
        </p:txBody>
      </p:sp>
      <p:sp>
        <p:nvSpPr>
          <p:cNvPr id="20" name="팀원 시나리오 본문 03">
            <a:extLst>
              <a:ext uri="{FF2B5EF4-FFF2-40B4-BE49-F238E27FC236}">
                <a16:creationId xmlns:a16="http://schemas.microsoft.com/office/drawing/2014/main" id="{093A1AD5-5047-4439-A07A-E68AB8BA0243}"/>
              </a:ext>
            </a:extLst>
          </p:cNvPr>
          <p:cNvSpPr>
            <a:spLocks noGrp="1"/>
          </p:cNvSpPr>
          <p:nvPr/>
        </p:nvSpPr>
        <p:spPr>
          <a:xfrm>
            <a:off x="838200" y="3305175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STT·OCR·직접 입력 → LLM이 미팅 보고서와 고객·딜 변경안 초안 생성</a:t>
            </a:r>
          </a:p>
        </p:txBody>
      </p:sp>
      <p:sp>
        <p:nvSpPr>
          <p:cNvPr id="21" name="팀원 시나리오 설명 03">
            <a:extLst>
              <a:ext uri="{FF2B5EF4-FFF2-40B4-BE49-F238E27FC236}">
                <a16:creationId xmlns:a16="http://schemas.microsoft.com/office/drawing/2014/main" id="{EA104C06-93B5-46BA-92F1-6425ACAEACD5}"/>
              </a:ext>
            </a:extLst>
          </p:cNvPr>
          <p:cNvSpPr>
            <a:spLocks noGrp="1"/>
          </p:cNvSpPr>
          <p:nvPr/>
        </p:nvSpPr>
        <p:spPr>
          <a:xfrm>
            <a:off x="838200" y="3648075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3" name="팀원 시나리오 카드 04">
            <a:extLst>
              <a:ext uri="{FF2B5EF4-FFF2-40B4-BE49-F238E27FC236}">
                <a16:creationId xmlns:a16="http://schemas.microsoft.com/office/drawing/2014/main" id="{9F5B4667-12BF-41AD-97B6-5CBD2F76069A}"/>
              </a:ext>
            </a:extLst>
          </p:cNvPr>
          <p:cNvSpPr>
            <a:spLocks noGrp="1"/>
          </p:cNvSpPr>
          <p:nvPr/>
        </p:nvSpPr>
        <p:spPr>
          <a:xfrm>
            <a:off x="6400800" y="2781300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팀원 시나리오 번호 04">
            <a:extLst>
              <a:ext uri="{FF2B5EF4-FFF2-40B4-BE49-F238E27FC236}">
                <a16:creationId xmlns:a16="http://schemas.microsoft.com/office/drawing/2014/main" id="{3AA3E3B9-614D-4133-9230-352B224FF789}"/>
              </a:ext>
            </a:extLst>
          </p:cNvPr>
          <p:cNvSpPr>
            <a:spLocks noGrp="1"/>
          </p:cNvSpPr>
          <p:nvPr/>
        </p:nvSpPr>
        <p:spPr>
          <a:xfrm>
            <a:off x="6591300" y="2962275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팀원 시나리오 제목 04">
            <a:extLst>
              <a:ext uri="{FF2B5EF4-FFF2-40B4-BE49-F238E27FC236}">
                <a16:creationId xmlns:a16="http://schemas.microsoft.com/office/drawing/2014/main" id="{BCC0E009-8512-42F7-AD18-1EA115196EDB}"/>
              </a:ext>
            </a:extLst>
          </p:cNvPr>
          <p:cNvSpPr>
            <a:spLocks noGrp="1"/>
          </p:cNvSpPr>
          <p:nvPr/>
        </p:nvSpPr>
        <p:spPr>
          <a:xfrm>
            <a:off x="7239000" y="29432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보고서 확정 — 미팅 완료</a:t>
            </a:r>
          </a:p>
        </p:txBody>
      </p:sp>
      <p:sp>
        <p:nvSpPr>
          <p:cNvPr id="26" name="팀원 시나리오 본문 04">
            <a:extLst>
              <a:ext uri="{FF2B5EF4-FFF2-40B4-BE49-F238E27FC236}">
                <a16:creationId xmlns:a16="http://schemas.microsoft.com/office/drawing/2014/main" id="{CA16B9F5-4EA3-4C23-B30B-8031D955253B}"/>
              </a:ext>
            </a:extLst>
          </p:cNvPr>
          <p:cNvSpPr>
            <a:spLocks noGrp="1"/>
          </p:cNvSpPr>
          <p:nvPr/>
        </p:nvSpPr>
        <p:spPr>
          <a:xfrm>
            <a:off x="6591300" y="3305175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사용자가 초안을 수정·확정하면 보고서가 제출되고 해당 일정이 완료 상태로 전환</a:t>
            </a:r>
          </a:p>
        </p:txBody>
      </p:sp>
      <p:sp>
        <p:nvSpPr>
          <p:cNvPr id="27" name="팀원 시나리오 설명 04">
            <a:extLst>
              <a:ext uri="{FF2B5EF4-FFF2-40B4-BE49-F238E27FC236}">
                <a16:creationId xmlns:a16="http://schemas.microsoft.com/office/drawing/2014/main" id="{18D2A7C1-C6C9-4B3D-9F5B-853ACFE8F5BB}"/>
              </a:ext>
            </a:extLst>
          </p:cNvPr>
          <p:cNvSpPr>
            <a:spLocks noGrp="1"/>
          </p:cNvSpPr>
          <p:nvPr/>
        </p:nvSpPr>
        <p:spPr>
          <a:xfrm>
            <a:off x="6591300" y="3648075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9" name="팀원 시나리오 카드 05">
            <a:extLst>
              <a:ext uri="{FF2B5EF4-FFF2-40B4-BE49-F238E27FC236}">
                <a16:creationId xmlns:a16="http://schemas.microsoft.com/office/drawing/2014/main" id="{79588196-C3C6-421B-B7D9-71BE072696F6}"/>
              </a:ext>
            </a:extLst>
          </p:cNvPr>
          <p:cNvSpPr>
            <a:spLocks noGrp="1"/>
          </p:cNvSpPr>
          <p:nvPr/>
        </p:nvSpPr>
        <p:spPr>
          <a:xfrm>
            <a:off x="647700" y="4086225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팀원 시나리오 번호 05">
            <a:extLst>
              <a:ext uri="{FF2B5EF4-FFF2-40B4-BE49-F238E27FC236}">
                <a16:creationId xmlns:a16="http://schemas.microsoft.com/office/drawing/2014/main" id="{743A98C1-D183-4597-BD66-CDE705467B3D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1" name="팀원 시나리오 제목 05">
            <a:extLst>
              <a:ext uri="{FF2B5EF4-FFF2-40B4-BE49-F238E27FC236}">
                <a16:creationId xmlns:a16="http://schemas.microsoft.com/office/drawing/2014/main" id="{F9E1B968-76BB-4E1E-9ADE-24AA1FB15A6F}"/>
              </a:ext>
            </a:extLst>
          </p:cNvPr>
          <p:cNvSpPr>
            <a:spLocks noGrp="1"/>
          </p:cNvSpPr>
          <p:nvPr/>
        </p:nvSpPr>
        <p:spPr>
          <a:xfrm>
            <a:off x="1485900" y="42481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정보 반영 — 다음 판단 시작</a:t>
            </a:r>
          </a:p>
        </p:txBody>
      </p:sp>
      <p:sp>
        <p:nvSpPr>
          <p:cNvPr id="32" name="팀원 시나리오 본문 05">
            <a:extLst>
              <a:ext uri="{FF2B5EF4-FFF2-40B4-BE49-F238E27FC236}">
                <a16:creationId xmlns:a16="http://schemas.microsoft.com/office/drawing/2014/main" id="{D546E073-36D4-4B5C-81BF-1B7AF47EDFD8}"/>
              </a:ext>
            </a:extLst>
          </p:cNvPr>
          <p:cNvSpPr>
            <a:spLocks noGrp="1"/>
          </p:cNvSpPr>
          <p:nvPr/>
        </p:nvSpPr>
        <p:spPr>
          <a:xfrm>
            <a:off x="838200" y="461010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승인된 변경만 CRM에 반영되고, 해당 Deal과 전체 Portfolio가 새로운 정보로 재계산</a:t>
            </a:r>
          </a:p>
        </p:txBody>
      </p:sp>
      <p:sp>
        <p:nvSpPr>
          <p:cNvPr id="33" name="팀원 시나리오 설명 05">
            <a:extLst>
              <a:ext uri="{FF2B5EF4-FFF2-40B4-BE49-F238E27FC236}">
                <a16:creationId xmlns:a16="http://schemas.microsoft.com/office/drawing/2014/main" id="{B6D3D2ED-D21A-4E2B-B8C4-F9A72ED35B0F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5" name="팀원 시나리오 카드 06">
            <a:extLst>
              <a:ext uri="{FF2B5EF4-FFF2-40B4-BE49-F238E27FC236}">
                <a16:creationId xmlns:a16="http://schemas.microsoft.com/office/drawing/2014/main" id="{46A0FB36-BD96-4B48-A0CB-EED2AB97BF3A}"/>
              </a:ext>
            </a:extLst>
          </p:cNvPr>
          <p:cNvSpPr>
            <a:spLocks noGrp="1"/>
          </p:cNvSpPr>
          <p:nvPr/>
        </p:nvSpPr>
        <p:spPr>
          <a:xfrm>
            <a:off x="6400800" y="4086225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팀원 시나리오 번호 06">
            <a:extLst>
              <a:ext uri="{FF2B5EF4-FFF2-40B4-BE49-F238E27FC236}">
                <a16:creationId xmlns:a16="http://schemas.microsoft.com/office/drawing/2014/main" id="{E1951B61-6881-4013-BA44-5962A6E6C78B}"/>
              </a:ext>
            </a:extLst>
          </p:cNvPr>
          <p:cNvSpPr>
            <a:spLocks noGrp="1"/>
          </p:cNvSpPr>
          <p:nvPr/>
        </p:nvSpPr>
        <p:spPr>
          <a:xfrm>
            <a:off x="6591300" y="426720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37" name="팀원 시나리오 제목 06">
            <a:extLst>
              <a:ext uri="{FF2B5EF4-FFF2-40B4-BE49-F238E27FC236}">
                <a16:creationId xmlns:a16="http://schemas.microsoft.com/office/drawing/2014/main" id="{D2D25442-DB7A-43CC-B050-11E70B5AB49D}"/>
              </a:ext>
            </a:extLst>
          </p:cNvPr>
          <p:cNvSpPr>
            <a:spLocks noGrp="1"/>
          </p:cNvSpPr>
          <p:nvPr/>
        </p:nvSpPr>
        <p:spPr>
          <a:xfrm>
            <a:off x="7239000" y="42481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수시 — 챗봇 질문</a:t>
            </a:r>
          </a:p>
        </p:txBody>
      </p:sp>
      <p:sp>
        <p:nvSpPr>
          <p:cNvPr id="38" name="팀원 시나리오 본문 06">
            <a:extLst>
              <a:ext uri="{FF2B5EF4-FFF2-40B4-BE49-F238E27FC236}">
                <a16:creationId xmlns:a16="http://schemas.microsoft.com/office/drawing/2014/main" id="{52A37E6F-08D0-4856-A389-8B21E9532A41}"/>
              </a:ext>
            </a:extLst>
          </p:cNvPr>
          <p:cNvSpPr>
            <a:spLocks noGrp="1"/>
          </p:cNvSpPr>
          <p:nvPr/>
        </p:nvSpPr>
        <p:spPr>
          <a:xfrm>
            <a:off x="6591300" y="461010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이번 달 성사 가능성 높은 딜은? — 권한 범위에서 근거와 함께 답변</a:t>
            </a:r>
          </a:p>
        </p:txBody>
      </p:sp>
      <p:sp>
        <p:nvSpPr>
          <p:cNvPr id="39" name="팀원 시나리오 설명 06">
            <a:extLst>
              <a:ext uri="{FF2B5EF4-FFF2-40B4-BE49-F238E27FC236}">
                <a16:creationId xmlns:a16="http://schemas.microsoft.com/office/drawing/2014/main" id="{A7457A5B-19AD-4D40-92D3-6BF48D2DA317}"/>
              </a:ext>
            </a:extLst>
          </p:cNvPr>
          <p:cNvSpPr>
            <a:spLocks noGrp="1"/>
          </p:cNvSpPr>
          <p:nvPr/>
        </p:nvSpPr>
        <p:spPr>
          <a:xfrm>
            <a:off x="6591300" y="495300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4127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팀장 시나리오 제목">
            <a:extLst>
              <a:ext uri="{FF2B5EF4-FFF2-40B4-BE49-F238E27FC236}">
                <a16:creationId xmlns:a16="http://schemas.microsoft.com/office/drawing/2014/main" id="{B3921733-E985-4BBB-A006-744D495D4CF0}"/>
              </a:ext>
            </a:extLst>
          </p:cNvPr>
          <p:cNvSpPr>
            <a:spLocks noGrp="1"/>
          </p:cNvSpPr>
          <p:nvPr/>
        </p:nvSpPr>
        <p:spPr>
          <a:xfrm>
            <a:off x="647700" y="419100"/>
            <a:ext cx="904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사용자 시나리오(팀장)</a:t>
            </a:r>
          </a:p>
        </p:txBody>
      </p:sp>
      <p:sp>
        <p:nvSpPr>
          <p:cNvPr id="2" name="팀장 시나리오 설명">
            <a:extLst>
              <a:ext uri="{FF2B5EF4-FFF2-40B4-BE49-F238E27FC236}">
                <a16:creationId xmlns:a16="http://schemas.microsoft.com/office/drawing/2014/main" id="{2FDFBA91-59F1-412D-A84A-456D3FB6B8F3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66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20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팀장의 하루를 기준으로 확인·검토·조정 업무를 카드형으로 정리합니다.</a:t>
            </a:r>
          </a:p>
        </p:txBody>
      </p:sp>
      <p:sp>
        <p:nvSpPr>
          <p:cNvPr id="3" name="팀장 시나리오 구분선">
            <a:extLst>
              <a:ext uri="{FF2B5EF4-FFF2-40B4-BE49-F238E27FC236}">
                <a16:creationId xmlns:a16="http://schemas.microsoft.com/office/drawing/2014/main" id="{C6BD185E-25E6-4F18-8E89-4D31E49DC454}"/>
              </a:ext>
            </a:extLst>
          </p:cNvPr>
          <p:cNvSpPr>
            <a:spLocks noGrp="1"/>
          </p:cNvSpPr>
          <p:nvPr/>
        </p:nvSpPr>
        <p:spPr>
          <a:xfrm>
            <a:off x="647700" y="1219200"/>
            <a:ext cx="10896600" cy="9525"/>
          </a:xfrm>
          <a:prstGeom prst="rect">
            <a:avLst/>
          </a:prstGeom>
          <a:solidFill>
            <a:srgbClr val="D7DF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팀장 시나리오 푸터">
            <a:extLst>
              <a:ext uri="{FF2B5EF4-FFF2-40B4-BE49-F238E27FC236}">
                <a16:creationId xmlns:a16="http://schemas.microsoft.com/office/drawing/2014/main" id="{D9242817-2ADA-485F-AD2F-4FB8C8FEAFAB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82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5" name="팀장 시나리오 카드 01">
            <a:extLst>
              <a:ext uri="{FF2B5EF4-FFF2-40B4-BE49-F238E27FC236}">
                <a16:creationId xmlns:a16="http://schemas.microsoft.com/office/drawing/2014/main" id="{92EFA3C3-C1F9-48C5-8F70-BB01D4844579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팀장 시나리오 번호 01">
            <a:extLst>
              <a:ext uri="{FF2B5EF4-FFF2-40B4-BE49-F238E27FC236}">
                <a16:creationId xmlns:a16="http://schemas.microsoft.com/office/drawing/2014/main" id="{35FAEE69-F70E-4404-BB26-57BE5658418C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팀장 시나리오 제목 01">
            <a:extLst>
              <a:ext uri="{FF2B5EF4-FFF2-40B4-BE49-F238E27FC236}">
                <a16:creationId xmlns:a16="http://schemas.microsoft.com/office/drawing/2014/main" id="{85E179E0-10A3-4BFA-91DA-0674354E6AF7}"/>
              </a:ext>
            </a:extLst>
          </p:cNvPr>
          <p:cNvSpPr>
            <a:spLocks noGrp="1"/>
          </p:cNvSpPr>
          <p:nvPr/>
        </p:nvSpPr>
        <p:spPr>
          <a:xfrm>
            <a:off x="1485900" y="16383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아침 — 팀 브리핑</a:t>
            </a:r>
          </a:p>
        </p:txBody>
      </p:sp>
      <p:sp>
        <p:nvSpPr>
          <p:cNvPr id="8" name="팀장 시나리오 본문 01">
            <a:extLst>
              <a:ext uri="{FF2B5EF4-FFF2-40B4-BE49-F238E27FC236}">
                <a16:creationId xmlns:a16="http://schemas.microsoft.com/office/drawing/2014/main" id="{A101E4D8-6AED-43B0-8A8E-D8AEE8903ED4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팀원별 파이프라인 요약, 관계·지연 리스크, 코칭 포인트, 목표 갭 해석 확인</a:t>
            </a:r>
          </a:p>
        </p:txBody>
      </p:sp>
      <p:sp>
        <p:nvSpPr>
          <p:cNvPr id="9" name="팀장 시나리오 설명 01">
            <a:extLst>
              <a:ext uri="{FF2B5EF4-FFF2-40B4-BE49-F238E27FC236}">
                <a16:creationId xmlns:a16="http://schemas.microsoft.com/office/drawing/2014/main" id="{13613B34-CF01-4FC5-A1AF-70B35298113B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1" name="팀장 시나리오 카드 02">
            <a:extLst>
              <a:ext uri="{FF2B5EF4-FFF2-40B4-BE49-F238E27FC236}">
                <a16:creationId xmlns:a16="http://schemas.microsoft.com/office/drawing/2014/main" id="{3ADF64AD-0A9E-47E4-A5E3-B303C8C45B81}"/>
              </a:ext>
            </a:extLst>
          </p:cNvPr>
          <p:cNvSpPr>
            <a:spLocks noGrp="1"/>
          </p:cNvSpPr>
          <p:nvPr/>
        </p:nvSpPr>
        <p:spPr>
          <a:xfrm>
            <a:off x="6400800" y="1476375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팀장 시나리오 번호 02">
            <a:extLst>
              <a:ext uri="{FF2B5EF4-FFF2-40B4-BE49-F238E27FC236}">
                <a16:creationId xmlns:a16="http://schemas.microsoft.com/office/drawing/2014/main" id="{CE888F60-0196-43AD-9085-72DDFF83818B}"/>
              </a:ext>
            </a:extLst>
          </p:cNvPr>
          <p:cNvSpPr>
            <a:spLocks noGrp="1"/>
          </p:cNvSpPr>
          <p:nvPr/>
        </p:nvSpPr>
        <p:spPr>
          <a:xfrm>
            <a:off x="6591300" y="165735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팀장 시나리오 제목 02">
            <a:extLst>
              <a:ext uri="{FF2B5EF4-FFF2-40B4-BE49-F238E27FC236}">
                <a16:creationId xmlns:a16="http://schemas.microsoft.com/office/drawing/2014/main" id="{7EC40BB3-04B2-4201-8110-D01A7D2ACAD5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보고 현황 확인</a:t>
            </a:r>
          </a:p>
        </p:txBody>
      </p:sp>
      <p:sp>
        <p:nvSpPr>
          <p:cNvPr id="14" name="팀장 시나리오 본문 02">
            <a:extLst>
              <a:ext uri="{FF2B5EF4-FFF2-40B4-BE49-F238E27FC236}">
                <a16:creationId xmlns:a16="http://schemas.microsoft.com/office/drawing/2014/main" id="{994A6E25-F711-42CA-B53B-BF1029974347}"/>
              </a:ext>
            </a:extLst>
          </p:cNvPr>
          <p:cNvSpPr>
            <a:spLocks noGrp="1"/>
          </p:cNvSpPr>
          <p:nvPr/>
        </p:nvSpPr>
        <p:spPr>
          <a:xfrm>
            <a:off x="6591300" y="20002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완료된 미팅별 보고서와 아직 보고서가 확정되지 않은 일정을 한 화면에서 확인</a:t>
            </a:r>
          </a:p>
        </p:txBody>
      </p:sp>
      <p:sp>
        <p:nvSpPr>
          <p:cNvPr id="15" name="팀장 시나리오 설명 02">
            <a:extLst>
              <a:ext uri="{FF2B5EF4-FFF2-40B4-BE49-F238E27FC236}">
                <a16:creationId xmlns:a16="http://schemas.microsoft.com/office/drawing/2014/main" id="{F273C0C9-B2AC-4247-A54E-9B1A2FAA54AD}"/>
              </a:ext>
            </a:extLst>
          </p:cNvPr>
          <p:cNvSpPr>
            <a:spLocks noGrp="1"/>
          </p:cNvSpPr>
          <p:nvPr/>
        </p:nvSpPr>
        <p:spPr>
          <a:xfrm>
            <a:off x="6591300" y="23431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팀장 시나리오 카드 03">
            <a:extLst>
              <a:ext uri="{FF2B5EF4-FFF2-40B4-BE49-F238E27FC236}">
                <a16:creationId xmlns:a16="http://schemas.microsoft.com/office/drawing/2014/main" id="{EDD5D545-A3BF-4942-A3DC-2D46A6B1F9CD}"/>
              </a:ext>
            </a:extLst>
          </p:cNvPr>
          <p:cNvSpPr>
            <a:spLocks noGrp="1"/>
          </p:cNvSpPr>
          <p:nvPr/>
        </p:nvSpPr>
        <p:spPr>
          <a:xfrm>
            <a:off x="647700" y="2781300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팀장 시나리오 번호 03">
            <a:extLst>
              <a:ext uri="{FF2B5EF4-FFF2-40B4-BE49-F238E27FC236}">
                <a16:creationId xmlns:a16="http://schemas.microsoft.com/office/drawing/2014/main" id="{5EC0D991-6E3D-4134-AF11-4407724B90BD}"/>
              </a:ext>
            </a:extLst>
          </p:cNvPr>
          <p:cNvSpPr>
            <a:spLocks noGrp="1"/>
          </p:cNvSpPr>
          <p:nvPr/>
        </p:nvSpPr>
        <p:spPr>
          <a:xfrm>
            <a:off x="838200" y="2962275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팀장 시나리오 제목 03">
            <a:extLst>
              <a:ext uri="{FF2B5EF4-FFF2-40B4-BE49-F238E27FC236}">
                <a16:creationId xmlns:a16="http://schemas.microsoft.com/office/drawing/2014/main" id="{B7A288A6-DE10-4D46-9CDB-1C65B5261824}"/>
              </a:ext>
            </a:extLst>
          </p:cNvPr>
          <p:cNvSpPr>
            <a:spLocks noGrp="1"/>
          </p:cNvSpPr>
          <p:nvPr/>
        </p:nvSpPr>
        <p:spPr>
          <a:xfrm>
            <a:off x="1485900" y="29432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보고서 검토</a:t>
            </a:r>
          </a:p>
        </p:txBody>
      </p:sp>
      <p:sp>
        <p:nvSpPr>
          <p:cNvPr id="20" name="팀장 시나리오 본문 03">
            <a:extLst>
              <a:ext uri="{FF2B5EF4-FFF2-40B4-BE49-F238E27FC236}">
                <a16:creationId xmlns:a16="http://schemas.microsoft.com/office/drawing/2014/main" id="{1839A3F5-79AD-418A-969D-EF9C14472850}"/>
              </a:ext>
            </a:extLst>
          </p:cNvPr>
          <p:cNvSpPr>
            <a:spLocks noGrp="1"/>
          </p:cNvSpPr>
          <p:nvPr/>
        </p:nvSpPr>
        <p:spPr>
          <a:xfrm>
            <a:off x="838200" y="3305175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팀원이 미팅 카드에서 확정한 보고서와 주요 이슈를 확인</a:t>
            </a:r>
          </a:p>
        </p:txBody>
      </p:sp>
      <p:sp>
        <p:nvSpPr>
          <p:cNvPr id="21" name="팀장 시나리오 설명 03">
            <a:extLst>
              <a:ext uri="{FF2B5EF4-FFF2-40B4-BE49-F238E27FC236}">
                <a16:creationId xmlns:a16="http://schemas.microsoft.com/office/drawing/2014/main" id="{49DAB724-C8B7-4101-B4CA-B5172DBEDA92}"/>
              </a:ext>
            </a:extLst>
          </p:cNvPr>
          <p:cNvSpPr>
            <a:spLocks noGrp="1"/>
          </p:cNvSpPr>
          <p:nvPr/>
        </p:nvSpPr>
        <p:spPr>
          <a:xfrm>
            <a:off x="838200" y="3648075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3" name="팀장 시나리오 카드 04">
            <a:extLst>
              <a:ext uri="{FF2B5EF4-FFF2-40B4-BE49-F238E27FC236}">
                <a16:creationId xmlns:a16="http://schemas.microsoft.com/office/drawing/2014/main" id="{C782C3DA-B89E-42B1-9D0C-1636333B5B84}"/>
              </a:ext>
            </a:extLst>
          </p:cNvPr>
          <p:cNvSpPr>
            <a:spLocks noGrp="1"/>
          </p:cNvSpPr>
          <p:nvPr/>
        </p:nvSpPr>
        <p:spPr>
          <a:xfrm>
            <a:off x="6400800" y="2781300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팀장 시나리오 번호 04">
            <a:extLst>
              <a:ext uri="{FF2B5EF4-FFF2-40B4-BE49-F238E27FC236}">
                <a16:creationId xmlns:a16="http://schemas.microsoft.com/office/drawing/2014/main" id="{345E017A-2675-4207-BCFA-74B031C01ECE}"/>
              </a:ext>
            </a:extLst>
          </p:cNvPr>
          <p:cNvSpPr>
            <a:spLocks noGrp="1"/>
          </p:cNvSpPr>
          <p:nvPr/>
        </p:nvSpPr>
        <p:spPr>
          <a:xfrm>
            <a:off x="6591300" y="2962275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팀장 시나리오 제목 04">
            <a:extLst>
              <a:ext uri="{FF2B5EF4-FFF2-40B4-BE49-F238E27FC236}">
                <a16:creationId xmlns:a16="http://schemas.microsoft.com/office/drawing/2014/main" id="{7DA8298E-56CD-4B25-A859-F80FEC8EF7D0}"/>
              </a:ext>
            </a:extLst>
          </p:cNvPr>
          <p:cNvSpPr>
            <a:spLocks noGrp="1"/>
          </p:cNvSpPr>
          <p:nvPr/>
        </p:nvSpPr>
        <p:spPr>
          <a:xfrm>
            <a:off x="7239000" y="29432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매출 관리</a:t>
            </a:r>
          </a:p>
        </p:txBody>
      </p:sp>
      <p:sp>
        <p:nvSpPr>
          <p:cNvPr id="26" name="팀장 시나리오 본문 04">
            <a:extLst>
              <a:ext uri="{FF2B5EF4-FFF2-40B4-BE49-F238E27FC236}">
                <a16:creationId xmlns:a16="http://schemas.microsoft.com/office/drawing/2014/main" id="{DB0670CB-5C0A-4A60-B69E-A65F6FADCF7D}"/>
              </a:ext>
            </a:extLst>
          </p:cNvPr>
          <p:cNvSpPr>
            <a:spLocks noGrp="1"/>
          </p:cNvSpPr>
          <p:nvPr/>
        </p:nvSpPr>
        <p:spPr>
          <a:xfrm>
            <a:off x="6591300" y="3305175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매출 자료(xlsx) 업로드 → 추출 초안 확인·확정 → 목표 달성률 자동 집계</a:t>
            </a:r>
          </a:p>
        </p:txBody>
      </p:sp>
      <p:sp>
        <p:nvSpPr>
          <p:cNvPr id="27" name="팀장 시나리오 설명 04">
            <a:extLst>
              <a:ext uri="{FF2B5EF4-FFF2-40B4-BE49-F238E27FC236}">
                <a16:creationId xmlns:a16="http://schemas.microsoft.com/office/drawing/2014/main" id="{377F946D-FA42-4869-8D83-E194A43F2868}"/>
              </a:ext>
            </a:extLst>
          </p:cNvPr>
          <p:cNvSpPr>
            <a:spLocks noGrp="1"/>
          </p:cNvSpPr>
          <p:nvPr/>
        </p:nvSpPr>
        <p:spPr>
          <a:xfrm>
            <a:off x="6591300" y="3648075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9" name="팀장 시나리오 카드 05">
            <a:extLst>
              <a:ext uri="{FF2B5EF4-FFF2-40B4-BE49-F238E27FC236}">
                <a16:creationId xmlns:a16="http://schemas.microsoft.com/office/drawing/2014/main" id="{CBE86DE0-9B83-4B02-BC24-F12D1F24C7D9}"/>
              </a:ext>
            </a:extLst>
          </p:cNvPr>
          <p:cNvSpPr>
            <a:spLocks noGrp="1"/>
          </p:cNvSpPr>
          <p:nvPr/>
        </p:nvSpPr>
        <p:spPr>
          <a:xfrm>
            <a:off x="647700" y="4086225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팀장 시나리오 번호 05">
            <a:extLst>
              <a:ext uri="{FF2B5EF4-FFF2-40B4-BE49-F238E27FC236}">
                <a16:creationId xmlns:a16="http://schemas.microsoft.com/office/drawing/2014/main" id="{C94E8E73-8C56-409D-AC25-C17A991CC093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1" name="팀장 시나리오 제목 05">
            <a:extLst>
              <a:ext uri="{FF2B5EF4-FFF2-40B4-BE49-F238E27FC236}">
                <a16:creationId xmlns:a16="http://schemas.microsoft.com/office/drawing/2014/main" id="{88374162-8122-40B3-8BC5-E94279608F9A}"/>
              </a:ext>
            </a:extLst>
          </p:cNvPr>
          <p:cNvSpPr>
            <a:spLocks noGrp="1"/>
          </p:cNvSpPr>
          <p:nvPr/>
        </p:nvSpPr>
        <p:spPr>
          <a:xfrm>
            <a:off x="1485900" y="42481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팀 목표 조정</a:t>
            </a:r>
          </a:p>
        </p:txBody>
      </p:sp>
      <p:sp>
        <p:nvSpPr>
          <p:cNvPr id="32" name="팀장 시나리오 본문 05">
            <a:extLst>
              <a:ext uri="{FF2B5EF4-FFF2-40B4-BE49-F238E27FC236}">
                <a16:creationId xmlns:a16="http://schemas.microsoft.com/office/drawing/2014/main" id="{1FA809DB-7E74-491C-8AE3-F7F2C51C4704}"/>
              </a:ext>
            </a:extLst>
          </p:cNvPr>
          <p:cNvSpPr>
            <a:spLocks noGrp="1"/>
          </p:cNvSpPr>
          <p:nvPr/>
        </p:nvSpPr>
        <p:spPr>
          <a:xfrm>
            <a:off x="838200" y="461010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집중 상품·기간 목표 변경을 결재하면, 팀원 전원의 우선순위가 자동 재계산</a:t>
            </a:r>
          </a:p>
        </p:txBody>
      </p:sp>
      <p:sp>
        <p:nvSpPr>
          <p:cNvPr id="33" name="팀장 시나리오 설명 05">
            <a:extLst>
              <a:ext uri="{FF2B5EF4-FFF2-40B4-BE49-F238E27FC236}">
                <a16:creationId xmlns:a16="http://schemas.microsoft.com/office/drawing/2014/main" id="{A12641D6-6E24-4E50-AFAC-78D5984B95A0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5" name="팀장 시나리오 카드 06">
            <a:extLst>
              <a:ext uri="{FF2B5EF4-FFF2-40B4-BE49-F238E27FC236}">
                <a16:creationId xmlns:a16="http://schemas.microsoft.com/office/drawing/2014/main" id="{CDFC55B9-58B9-4FEE-A832-C8000AD282B7}"/>
              </a:ext>
            </a:extLst>
          </p:cNvPr>
          <p:cNvSpPr>
            <a:spLocks noGrp="1"/>
          </p:cNvSpPr>
          <p:nvPr/>
        </p:nvSpPr>
        <p:spPr>
          <a:xfrm>
            <a:off x="6400800" y="4086225"/>
            <a:ext cx="51435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팀장 시나리오 번호 06">
            <a:extLst>
              <a:ext uri="{FF2B5EF4-FFF2-40B4-BE49-F238E27FC236}">
                <a16:creationId xmlns:a16="http://schemas.microsoft.com/office/drawing/2014/main" id="{88148A3B-A243-4E81-8FAD-1D7201C8009F}"/>
              </a:ext>
            </a:extLst>
          </p:cNvPr>
          <p:cNvSpPr>
            <a:spLocks noGrp="1"/>
          </p:cNvSpPr>
          <p:nvPr/>
        </p:nvSpPr>
        <p:spPr>
          <a:xfrm>
            <a:off x="6591300" y="426720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37" name="팀장 시나리오 제목 06">
            <a:extLst>
              <a:ext uri="{FF2B5EF4-FFF2-40B4-BE49-F238E27FC236}">
                <a16:creationId xmlns:a16="http://schemas.microsoft.com/office/drawing/2014/main" id="{369E5614-51B9-4B24-BE1D-573B038DE827}"/>
              </a:ext>
            </a:extLst>
          </p:cNvPr>
          <p:cNvSpPr>
            <a:spLocks noGrp="1"/>
          </p:cNvSpPr>
          <p:nvPr/>
        </p:nvSpPr>
        <p:spPr>
          <a:xfrm>
            <a:off x="7239000" y="42481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수시 — 팀 범위 질문</a:t>
            </a:r>
          </a:p>
        </p:txBody>
      </p:sp>
      <p:sp>
        <p:nvSpPr>
          <p:cNvPr id="38" name="팀장 시나리오 본문 06">
            <a:extLst>
              <a:ext uri="{FF2B5EF4-FFF2-40B4-BE49-F238E27FC236}">
                <a16:creationId xmlns:a16="http://schemas.microsoft.com/office/drawing/2014/main" id="{A1B3372D-5BA6-4549-A495-329FDD0EE794}"/>
              </a:ext>
            </a:extLst>
          </p:cNvPr>
          <p:cNvSpPr>
            <a:spLocks noGrp="1"/>
          </p:cNvSpPr>
          <p:nvPr/>
        </p:nvSpPr>
        <p:spPr>
          <a:xfrm>
            <a:off x="6591300" y="461010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이번 분기 리스크 큰 고객사는? — 팀 권한 범위에서 조회·답변</a:t>
            </a:r>
          </a:p>
        </p:txBody>
      </p:sp>
      <p:sp>
        <p:nvSpPr>
          <p:cNvPr id="39" name="팀장 시나리오 설명 06">
            <a:extLst>
              <a:ext uri="{FF2B5EF4-FFF2-40B4-BE49-F238E27FC236}">
                <a16:creationId xmlns:a16="http://schemas.microsoft.com/office/drawing/2014/main" id="{25C9B224-C269-4EF0-BFEA-7F22E38F0B00}"/>
              </a:ext>
            </a:extLst>
          </p:cNvPr>
          <p:cNvSpPr>
            <a:spLocks noGrp="1"/>
          </p:cNvSpPr>
          <p:nvPr/>
        </p:nvSpPr>
        <p:spPr>
          <a:xfrm>
            <a:off x="6591300" y="495300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7047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A9F0043-FCE8-4F5E-869E-F89235C404A0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ERD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BAB18F-07E1-4320-A969-4B30F636001E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SalesLuv의 데이터 구조와 관계를 한눈에 보여줍니다.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3E1E038-3711-4452-9161-6331847B3C93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173CAD-FF66-B579-73A8-B3553A6A7A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2" t="9513" r="2616" b="10324"/>
          <a:stretch>
            <a:fillRect/>
          </a:stretch>
        </p:blipFill>
        <p:spPr>
          <a:xfrm>
            <a:off x="873842" y="1636636"/>
            <a:ext cx="10306050" cy="484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57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A9F0043-FCE8-4F5E-869E-F89235C404A0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Multi Agent-Flow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3E1E038-3711-4452-9161-6331847B3C93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6E20B1-7BD7-57F9-CA74-B7ABBEC47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45"/>
          <a:stretch>
            <a:fillRect/>
          </a:stretch>
        </p:blipFill>
        <p:spPr>
          <a:xfrm>
            <a:off x="666750" y="1515838"/>
            <a:ext cx="10287000" cy="49335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1F8720-DB8B-9F23-0762-0510600B2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031540"/>
            <a:ext cx="7772400" cy="44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57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WBS 제목">
            <a:extLst>
              <a:ext uri="{FF2B5EF4-FFF2-40B4-BE49-F238E27FC236}">
                <a16:creationId xmlns:a16="http://schemas.microsoft.com/office/drawing/2014/main" id="{592DDA26-C391-4B6D-91E7-7D5216189C96}"/>
              </a:ext>
            </a:extLst>
          </p:cNvPr>
          <p:cNvSpPr>
            <a:spLocks noGrp="1"/>
          </p:cNvSpPr>
          <p:nvPr/>
        </p:nvSpPr>
        <p:spPr>
          <a:xfrm>
            <a:off x="647700" y="419100"/>
            <a:ext cx="904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WBS 기반 진행현황</a:t>
            </a:r>
          </a:p>
        </p:txBody>
      </p:sp>
      <p:sp>
        <p:nvSpPr>
          <p:cNvPr id="2" name="WBS 설명">
            <a:extLst>
              <a:ext uri="{FF2B5EF4-FFF2-40B4-BE49-F238E27FC236}">
                <a16:creationId xmlns:a16="http://schemas.microsoft.com/office/drawing/2014/main" id="{D7AD589D-8F25-444A-A0DF-3A7CAA690457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66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20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7주 일정과 핵심 진행 내용을 한눈에 확인합니다.</a:t>
            </a:r>
          </a:p>
        </p:txBody>
      </p:sp>
      <p:sp>
        <p:nvSpPr>
          <p:cNvPr id="3" name="WBS 구분선">
            <a:extLst>
              <a:ext uri="{FF2B5EF4-FFF2-40B4-BE49-F238E27FC236}">
                <a16:creationId xmlns:a16="http://schemas.microsoft.com/office/drawing/2014/main" id="{D1DB02E0-4CAE-47F0-B445-01A30311A9C8}"/>
              </a:ext>
            </a:extLst>
          </p:cNvPr>
          <p:cNvSpPr>
            <a:spLocks noGrp="1"/>
          </p:cNvSpPr>
          <p:nvPr/>
        </p:nvSpPr>
        <p:spPr>
          <a:xfrm>
            <a:off x="647700" y="1219200"/>
            <a:ext cx="10896600" cy="9525"/>
          </a:xfrm>
          <a:prstGeom prst="rect">
            <a:avLst/>
          </a:prstGeom>
          <a:solidFill>
            <a:srgbClr val="D7DF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WBS 푸터">
            <a:extLst>
              <a:ext uri="{FF2B5EF4-FFF2-40B4-BE49-F238E27FC236}">
                <a16:creationId xmlns:a16="http://schemas.microsoft.com/office/drawing/2014/main" id="{CE536DE6-DDE3-4790-B548-3D9D05D245ED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82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5" name="WBS 진행 카드 1W">
            <a:extLst>
              <a:ext uri="{FF2B5EF4-FFF2-40B4-BE49-F238E27FC236}">
                <a16:creationId xmlns:a16="http://schemas.microsoft.com/office/drawing/2014/main" id="{4162BFAB-A40D-46AA-AD0C-893D0E635DD9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5143500" cy="933450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BS 진행 번호 1W">
            <a:extLst>
              <a:ext uri="{FF2B5EF4-FFF2-40B4-BE49-F238E27FC236}">
                <a16:creationId xmlns:a16="http://schemas.microsoft.com/office/drawing/2014/main" id="{AB8FAEC2-D677-43DA-A68F-F3F15248D820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1주차</a:t>
            </a:r>
          </a:p>
        </p:txBody>
      </p:sp>
      <p:sp>
        <p:nvSpPr>
          <p:cNvPr id="8" name="WBS 진행 본문 1W">
            <a:extLst>
              <a:ext uri="{FF2B5EF4-FFF2-40B4-BE49-F238E27FC236}">
                <a16:creationId xmlns:a16="http://schemas.microsoft.com/office/drawing/2014/main" id="{6B515DDE-3225-4EB7-8738-41470B2A5015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요구사항 분석 및 프로젝트 기획</a:t>
            </a:r>
          </a:p>
        </p:txBody>
      </p:sp>
      <p:sp>
        <p:nvSpPr>
          <p:cNvPr id="9" name="WBS 진행 설명 1W">
            <a:extLst>
              <a:ext uri="{FF2B5EF4-FFF2-40B4-BE49-F238E27FC236}">
                <a16:creationId xmlns:a16="http://schemas.microsoft.com/office/drawing/2014/main" id="{D21204B7-AB5F-49CD-B5BD-F6BE92F93C9B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WBS 진행 카드 2W">
            <a:extLst>
              <a:ext uri="{FF2B5EF4-FFF2-40B4-BE49-F238E27FC236}">
                <a16:creationId xmlns:a16="http://schemas.microsoft.com/office/drawing/2014/main" id="{25177EA7-97D0-4011-B578-F2709E850CA3}"/>
              </a:ext>
            </a:extLst>
          </p:cNvPr>
          <p:cNvSpPr>
            <a:spLocks noGrp="1"/>
          </p:cNvSpPr>
          <p:nvPr/>
        </p:nvSpPr>
        <p:spPr>
          <a:xfrm>
            <a:off x="6400800" y="1476375"/>
            <a:ext cx="5143500" cy="933450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WBS 진행 번호 2W">
            <a:extLst>
              <a:ext uri="{FF2B5EF4-FFF2-40B4-BE49-F238E27FC236}">
                <a16:creationId xmlns:a16="http://schemas.microsoft.com/office/drawing/2014/main" id="{A03ADA73-5F08-4E67-BA9D-3A2F338433CB}"/>
              </a:ext>
            </a:extLst>
          </p:cNvPr>
          <p:cNvSpPr>
            <a:spLocks noGrp="1"/>
          </p:cNvSpPr>
          <p:nvPr/>
        </p:nvSpPr>
        <p:spPr>
          <a:xfrm>
            <a:off x="6591300" y="165735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2주차</a:t>
            </a:r>
          </a:p>
        </p:txBody>
      </p:sp>
      <p:sp>
        <p:nvSpPr>
          <p:cNvPr id="13" name="WBS 진행 본문 2W">
            <a:extLst>
              <a:ext uri="{FF2B5EF4-FFF2-40B4-BE49-F238E27FC236}">
                <a16:creationId xmlns:a16="http://schemas.microsoft.com/office/drawing/2014/main" id="{1919D590-225E-4BA6-AC0A-2D86DADB96EA}"/>
              </a:ext>
            </a:extLst>
          </p:cNvPr>
          <p:cNvSpPr>
            <a:spLocks noGrp="1"/>
          </p:cNvSpPr>
          <p:nvPr/>
        </p:nvSpPr>
        <p:spPr>
          <a:xfrm>
            <a:off x="6591300" y="20002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데이터·DB 기반 구축 / 화면 설계 시작</a:t>
            </a:r>
          </a:p>
        </p:txBody>
      </p:sp>
      <p:sp>
        <p:nvSpPr>
          <p:cNvPr id="14" name="WBS 진행 설명 2W">
            <a:extLst>
              <a:ext uri="{FF2B5EF4-FFF2-40B4-BE49-F238E27FC236}">
                <a16:creationId xmlns:a16="http://schemas.microsoft.com/office/drawing/2014/main" id="{86658801-A44F-43A1-90A9-2CB25E3C7683}"/>
              </a:ext>
            </a:extLst>
          </p:cNvPr>
          <p:cNvSpPr>
            <a:spLocks noGrp="1"/>
          </p:cNvSpPr>
          <p:nvPr/>
        </p:nvSpPr>
        <p:spPr>
          <a:xfrm>
            <a:off x="6591300" y="21145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5" name="WBS 진행 카드 3W 전반">
            <a:extLst>
              <a:ext uri="{FF2B5EF4-FFF2-40B4-BE49-F238E27FC236}">
                <a16:creationId xmlns:a16="http://schemas.microsoft.com/office/drawing/2014/main" id="{068B9288-B9BD-46C8-B1F5-2EC96CB6400A}"/>
              </a:ext>
            </a:extLst>
          </p:cNvPr>
          <p:cNvSpPr>
            <a:spLocks noGrp="1"/>
          </p:cNvSpPr>
          <p:nvPr/>
        </p:nvSpPr>
        <p:spPr>
          <a:xfrm>
            <a:off x="647700" y="2524125"/>
            <a:ext cx="5143500" cy="933450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WBS 진행 번호 3W 전반">
            <a:extLst>
              <a:ext uri="{FF2B5EF4-FFF2-40B4-BE49-F238E27FC236}">
                <a16:creationId xmlns:a16="http://schemas.microsoft.com/office/drawing/2014/main" id="{0C99906E-FD07-47D1-A0EC-176F821CBAB1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3주 전반</a:t>
            </a:r>
          </a:p>
        </p:txBody>
      </p:sp>
      <p:sp>
        <p:nvSpPr>
          <p:cNvPr id="18" name="WBS 진행 본문 3W 전반">
            <a:extLst>
              <a:ext uri="{FF2B5EF4-FFF2-40B4-BE49-F238E27FC236}">
                <a16:creationId xmlns:a16="http://schemas.microsoft.com/office/drawing/2014/main" id="{2D764CF6-4A73-4C22-9B18-36B756B15A3D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프론트엔드·백엔드 개발 시작 / 중간 발표</a:t>
            </a:r>
          </a:p>
        </p:txBody>
      </p:sp>
      <p:sp>
        <p:nvSpPr>
          <p:cNvPr id="19" name="WBS 진행 설명 3W 전반">
            <a:extLst>
              <a:ext uri="{FF2B5EF4-FFF2-40B4-BE49-F238E27FC236}">
                <a16:creationId xmlns:a16="http://schemas.microsoft.com/office/drawing/2014/main" id="{803115DB-40F3-4A89-A395-5F65C509BE38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0" name="WBS 진행 카드 3W 후반">
            <a:extLst>
              <a:ext uri="{FF2B5EF4-FFF2-40B4-BE49-F238E27FC236}">
                <a16:creationId xmlns:a16="http://schemas.microsoft.com/office/drawing/2014/main" id="{2A9A2738-E2A9-4CBD-B849-D2DDE3D9ECF2}"/>
              </a:ext>
            </a:extLst>
          </p:cNvPr>
          <p:cNvSpPr>
            <a:spLocks noGrp="1"/>
          </p:cNvSpPr>
          <p:nvPr/>
        </p:nvSpPr>
        <p:spPr>
          <a:xfrm>
            <a:off x="6400800" y="2524125"/>
            <a:ext cx="5143500" cy="933450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WBS 진행 번호 3W 후반">
            <a:extLst>
              <a:ext uri="{FF2B5EF4-FFF2-40B4-BE49-F238E27FC236}">
                <a16:creationId xmlns:a16="http://schemas.microsoft.com/office/drawing/2014/main" id="{7D429D5F-6DDD-45EA-80A1-D218A5D3C7D3}"/>
              </a:ext>
            </a:extLst>
          </p:cNvPr>
          <p:cNvSpPr>
            <a:spLocks noGrp="1"/>
          </p:cNvSpPr>
          <p:nvPr/>
        </p:nvSpPr>
        <p:spPr>
          <a:xfrm>
            <a:off x="6591300" y="270510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3주 후반</a:t>
            </a:r>
          </a:p>
        </p:txBody>
      </p:sp>
      <p:sp>
        <p:nvSpPr>
          <p:cNvPr id="23" name="WBS 진행 본문 3W 후반">
            <a:extLst>
              <a:ext uri="{FF2B5EF4-FFF2-40B4-BE49-F238E27FC236}">
                <a16:creationId xmlns:a16="http://schemas.microsoft.com/office/drawing/2014/main" id="{1FE47915-D97F-4E43-8490-2B463B333BD5}"/>
              </a:ext>
            </a:extLst>
          </p:cNvPr>
          <p:cNvSpPr>
            <a:spLocks noGrp="1"/>
          </p:cNvSpPr>
          <p:nvPr/>
        </p:nvSpPr>
        <p:spPr>
          <a:xfrm>
            <a:off x="6591300" y="304800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데이터 전처리·학습 및 AI 모델링 시작</a:t>
            </a:r>
          </a:p>
        </p:txBody>
      </p:sp>
      <p:sp>
        <p:nvSpPr>
          <p:cNvPr id="24" name="WBS 진행 설명 3W 후반">
            <a:extLst>
              <a:ext uri="{FF2B5EF4-FFF2-40B4-BE49-F238E27FC236}">
                <a16:creationId xmlns:a16="http://schemas.microsoft.com/office/drawing/2014/main" id="{95B699CD-82EB-4514-B23D-4BDDDD1B585E}"/>
              </a:ext>
            </a:extLst>
          </p:cNvPr>
          <p:cNvSpPr>
            <a:spLocks noGrp="1"/>
          </p:cNvSpPr>
          <p:nvPr/>
        </p:nvSpPr>
        <p:spPr>
          <a:xfrm>
            <a:off x="6591300" y="316230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5" name="WBS 진행 카드 4W">
            <a:extLst>
              <a:ext uri="{FF2B5EF4-FFF2-40B4-BE49-F238E27FC236}">
                <a16:creationId xmlns:a16="http://schemas.microsoft.com/office/drawing/2014/main" id="{9BD8B485-1345-4A9E-9F1D-D055575D6745}"/>
              </a:ext>
            </a:extLst>
          </p:cNvPr>
          <p:cNvSpPr>
            <a:spLocks noGrp="1"/>
          </p:cNvSpPr>
          <p:nvPr/>
        </p:nvSpPr>
        <p:spPr>
          <a:xfrm>
            <a:off x="647700" y="3571875"/>
            <a:ext cx="5143500" cy="933450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WBS 진행 번호 4W">
            <a:extLst>
              <a:ext uri="{FF2B5EF4-FFF2-40B4-BE49-F238E27FC236}">
                <a16:creationId xmlns:a16="http://schemas.microsoft.com/office/drawing/2014/main" id="{C9FB7C4C-5D55-40D4-8AA5-5E66B5E50EE6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4주차</a:t>
            </a:r>
          </a:p>
        </p:txBody>
      </p:sp>
      <p:sp>
        <p:nvSpPr>
          <p:cNvPr id="28" name="WBS 진행 본문 4W">
            <a:extLst>
              <a:ext uri="{FF2B5EF4-FFF2-40B4-BE49-F238E27FC236}">
                <a16:creationId xmlns:a16="http://schemas.microsoft.com/office/drawing/2014/main" id="{1025D2C2-46AD-4214-8E09-0A7056D1D118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데이터 전처리·학습 / AI 모델링 및 웹 개발</a:t>
            </a:r>
          </a:p>
        </p:txBody>
      </p:sp>
      <p:sp>
        <p:nvSpPr>
          <p:cNvPr id="29" name="WBS 진행 설명 4W">
            <a:extLst>
              <a:ext uri="{FF2B5EF4-FFF2-40B4-BE49-F238E27FC236}">
                <a16:creationId xmlns:a16="http://schemas.microsoft.com/office/drawing/2014/main" id="{E983FFAF-E29D-4AF1-BB56-32DAD85EB0DC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0" name="WBS 진행 카드 5W">
            <a:extLst>
              <a:ext uri="{FF2B5EF4-FFF2-40B4-BE49-F238E27FC236}">
                <a16:creationId xmlns:a16="http://schemas.microsoft.com/office/drawing/2014/main" id="{2C1CE0BF-9A0E-4AFD-A615-9C5E96AE13E0}"/>
              </a:ext>
            </a:extLst>
          </p:cNvPr>
          <p:cNvSpPr>
            <a:spLocks noGrp="1"/>
          </p:cNvSpPr>
          <p:nvPr/>
        </p:nvSpPr>
        <p:spPr>
          <a:xfrm>
            <a:off x="6400800" y="3571875"/>
            <a:ext cx="5143500" cy="933450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WBS 진행 번호 5W">
            <a:extLst>
              <a:ext uri="{FF2B5EF4-FFF2-40B4-BE49-F238E27FC236}">
                <a16:creationId xmlns:a16="http://schemas.microsoft.com/office/drawing/2014/main" id="{DEC39033-8561-4881-B933-6BB08081BDE4}"/>
              </a:ext>
            </a:extLst>
          </p:cNvPr>
          <p:cNvSpPr>
            <a:spLocks noGrp="1"/>
          </p:cNvSpPr>
          <p:nvPr/>
        </p:nvSpPr>
        <p:spPr>
          <a:xfrm>
            <a:off x="6591300" y="375285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5주차</a:t>
            </a:r>
          </a:p>
        </p:txBody>
      </p:sp>
      <p:sp>
        <p:nvSpPr>
          <p:cNvPr id="33" name="WBS 진행 본문 5W">
            <a:extLst>
              <a:ext uri="{FF2B5EF4-FFF2-40B4-BE49-F238E27FC236}">
                <a16:creationId xmlns:a16="http://schemas.microsoft.com/office/drawing/2014/main" id="{5C989069-0F0B-42F2-B08C-6AD34EEB646A}"/>
              </a:ext>
            </a:extLst>
          </p:cNvPr>
          <p:cNvSpPr>
            <a:spLocks noGrp="1"/>
          </p:cNvSpPr>
          <p:nvPr/>
        </p:nvSpPr>
        <p:spPr>
          <a:xfrm>
            <a:off x="6591300" y="40957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AI 모델 평가 / 프론트엔드·백엔드·AI 기능 통합</a:t>
            </a:r>
          </a:p>
        </p:txBody>
      </p:sp>
      <p:sp>
        <p:nvSpPr>
          <p:cNvPr id="34" name="WBS 진행 설명 5W">
            <a:extLst>
              <a:ext uri="{FF2B5EF4-FFF2-40B4-BE49-F238E27FC236}">
                <a16:creationId xmlns:a16="http://schemas.microsoft.com/office/drawing/2014/main" id="{FBC1D20F-83D9-4C35-B83A-FB274851327B}"/>
              </a:ext>
            </a:extLst>
          </p:cNvPr>
          <p:cNvSpPr>
            <a:spLocks noGrp="1"/>
          </p:cNvSpPr>
          <p:nvPr/>
        </p:nvSpPr>
        <p:spPr>
          <a:xfrm>
            <a:off x="6591300" y="42100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5" name="WBS 진행 카드 6W">
            <a:extLst>
              <a:ext uri="{FF2B5EF4-FFF2-40B4-BE49-F238E27FC236}">
                <a16:creationId xmlns:a16="http://schemas.microsoft.com/office/drawing/2014/main" id="{111E625D-29FC-406B-98FF-E7FB64C33B6C}"/>
              </a:ext>
            </a:extLst>
          </p:cNvPr>
          <p:cNvSpPr>
            <a:spLocks noGrp="1"/>
          </p:cNvSpPr>
          <p:nvPr/>
        </p:nvSpPr>
        <p:spPr>
          <a:xfrm>
            <a:off x="647700" y="4619625"/>
            <a:ext cx="5143500" cy="933450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WBS 진행 번호 6W">
            <a:extLst>
              <a:ext uri="{FF2B5EF4-FFF2-40B4-BE49-F238E27FC236}">
                <a16:creationId xmlns:a16="http://schemas.microsoft.com/office/drawing/2014/main" id="{4EB07E5C-EBC4-45D1-AFB7-F4C590304659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6주차</a:t>
            </a:r>
          </a:p>
        </p:txBody>
      </p:sp>
      <p:sp>
        <p:nvSpPr>
          <p:cNvPr id="38" name="WBS 진행 본문 6W">
            <a:extLst>
              <a:ext uri="{FF2B5EF4-FFF2-40B4-BE49-F238E27FC236}">
                <a16:creationId xmlns:a16="http://schemas.microsoft.com/office/drawing/2014/main" id="{98BB7769-6509-48D8-BD63-886128A6B447}"/>
              </a:ext>
            </a:extLst>
          </p:cNvPr>
          <p:cNvSpPr>
            <a:spLocks noGrp="1"/>
          </p:cNvSpPr>
          <p:nvPr/>
        </p:nvSpPr>
        <p:spPr>
          <a:xfrm>
            <a:off x="838200" y="514350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통합 테스트 / 오류 수정 / 배포 검증</a:t>
            </a:r>
          </a:p>
        </p:txBody>
      </p:sp>
      <p:sp>
        <p:nvSpPr>
          <p:cNvPr id="39" name="WBS 진행 설명 6W">
            <a:extLst>
              <a:ext uri="{FF2B5EF4-FFF2-40B4-BE49-F238E27FC236}">
                <a16:creationId xmlns:a16="http://schemas.microsoft.com/office/drawing/2014/main" id="{8945A3A8-FA7C-4B88-A763-7A87F30875CB}"/>
              </a:ext>
            </a:extLst>
          </p:cNvPr>
          <p:cNvSpPr>
            <a:spLocks noGrp="1"/>
          </p:cNvSpPr>
          <p:nvPr/>
        </p:nvSpPr>
        <p:spPr>
          <a:xfrm>
            <a:off x="838200" y="525780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40" name="WBS 진행 카드 7W">
            <a:extLst>
              <a:ext uri="{FF2B5EF4-FFF2-40B4-BE49-F238E27FC236}">
                <a16:creationId xmlns:a16="http://schemas.microsoft.com/office/drawing/2014/main" id="{422AFF04-D4AB-473C-8F18-765D16794BA5}"/>
              </a:ext>
            </a:extLst>
          </p:cNvPr>
          <p:cNvSpPr>
            <a:spLocks noGrp="1"/>
          </p:cNvSpPr>
          <p:nvPr/>
        </p:nvSpPr>
        <p:spPr>
          <a:xfrm>
            <a:off x="6400800" y="4619625"/>
            <a:ext cx="5143500" cy="933450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WBS 진행 번호 7W">
            <a:extLst>
              <a:ext uri="{FF2B5EF4-FFF2-40B4-BE49-F238E27FC236}">
                <a16:creationId xmlns:a16="http://schemas.microsoft.com/office/drawing/2014/main" id="{D2DDAC1F-02C8-45E0-8CD8-7200C1D43488}"/>
              </a:ext>
            </a:extLst>
          </p:cNvPr>
          <p:cNvSpPr>
            <a:spLocks noGrp="1"/>
          </p:cNvSpPr>
          <p:nvPr/>
        </p:nvSpPr>
        <p:spPr>
          <a:xfrm>
            <a:off x="6591300" y="4800600"/>
            <a:ext cx="476250" cy="228600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 anchor="ctr"/>
          <a:lstStyle/>
          <a:p>
            <a:pPr algn="ctr"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7주차</a:t>
            </a:r>
          </a:p>
        </p:txBody>
      </p:sp>
      <p:sp>
        <p:nvSpPr>
          <p:cNvPr id="43" name="WBS 진행 본문 7W">
            <a:extLst>
              <a:ext uri="{FF2B5EF4-FFF2-40B4-BE49-F238E27FC236}">
                <a16:creationId xmlns:a16="http://schemas.microsoft.com/office/drawing/2014/main" id="{A736219C-9F60-4369-A7E9-5A3B714C5ABA}"/>
              </a:ext>
            </a:extLst>
          </p:cNvPr>
          <p:cNvSpPr>
            <a:spLocks noGrp="1"/>
          </p:cNvSpPr>
          <p:nvPr/>
        </p:nvSpPr>
        <p:spPr>
          <a:xfrm>
            <a:off x="6591300" y="514350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>
              <a:buNone/>
              <a:def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최종 산출물 검수 / 발표 및 제출</a:t>
            </a:r>
          </a:p>
        </p:txBody>
      </p:sp>
      <p:sp>
        <p:nvSpPr>
          <p:cNvPr id="44" name="WBS 진행 설명 7W">
            <a:extLst>
              <a:ext uri="{FF2B5EF4-FFF2-40B4-BE49-F238E27FC236}">
                <a16:creationId xmlns:a16="http://schemas.microsoft.com/office/drawing/2014/main" id="{850466AD-42F6-4075-A72C-4C69E8B32977}"/>
              </a:ext>
            </a:extLst>
          </p:cNvPr>
          <p:cNvSpPr>
            <a:spLocks noGrp="1"/>
          </p:cNvSpPr>
          <p:nvPr/>
        </p:nvSpPr>
        <p:spPr>
          <a:xfrm>
            <a:off x="6591300" y="525780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2357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이슈사항 제목">
            <a:extLst>
              <a:ext uri="{FF2B5EF4-FFF2-40B4-BE49-F238E27FC236}">
                <a16:creationId xmlns:a16="http://schemas.microsoft.com/office/drawing/2014/main" id="{DAC730DD-5B2C-4081-824B-2F2D568E7D15}"/>
              </a:ext>
            </a:extLst>
          </p:cNvPr>
          <p:cNvSpPr>
            <a:spLocks noGrp="1"/>
          </p:cNvSpPr>
          <p:nvPr/>
        </p:nvSpPr>
        <p:spPr>
          <a:xfrm>
            <a:off x="647700" y="4191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2250" b="1" dirty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이슈사항</a:t>
            </a:r>
            <a:endParaRPr sz="2250" b="1" dirty="0">
              <a:solidFill>
                <a:srgbClr val="15202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" name="이슈사항 설명">
            <a:extLst>
              <a:ext uri="{FF2B5EF4-FFF2-40B4-BE49-F238E27FC236}">
                <a16:creationId xmlns:a16="http://schemas.microsoft.com/office/drawing/2014/main" id="{CD91C23F-18F3-4F6D-8BD0-BBCCE6A42C56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66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20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프로젝트 진행 중 확인된 이슈와 대응 현황을 정리합니다.</a:t>
            </a:r>
          </a:p>
        </p:txBody>
      </p:sp>
      <p:sp>
        <p:nvSpPr>
          <p:cNvPr id="3" name="이슈사항 구분선">
            <a:extLst>
              <a:ext uri="{FF2B5EF4-FFF2-40B4-BE49-F238E27FC236}">
                <a16:creationId xmlns:a16="http://schemas.microsoft.com/office/drawing/2014/main" id="{B09B673E-1834-43FF-B904-C57A95DC5738}"/>
              </a:ext>
            </a:extLst>
          </p:cNvPr>
          <p:cNvSpPr>
            <a:spLocks noGrp="1"/>
          </p:cNvSpPr>
          <p:nvPr/>
        </p:nvSpPr>
        <p:spPr>
          <a:xfrm>
            <a:off x="647700" y="1219200"/>
            <a:ext cx="10896600" cy="9525"/>
          </a:xfrm>
          <a:prstGeom prst="rect">
            <a:avLst/>
          </a:prstGeom>
          <a:solidFill>
            <a:srgbClr val="D7DF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이슈사항 푸터">
            <a:extLst>
              <a:ext uri="{FF2B5EF4-FFF2-40B4-BE49-F238E27FC236}">
                <a16:creationId xmlns:a16="http://schemas.microsoft.com/office/drawing/2014/main" id="{B352E9A3-9686-4579-8097-DAE73B1C257D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82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26" name="이슈사항 ML 데이터 카드">
            <a:extLst>
              <a:ext uri="{FF2B5EF4-FFF2-40B4-BE49-F238E27FC236}">
                <a16:creationId xmlns:a16="http://schemas.microsoft.com/office/drawing/2014/main" id="{487B04E4-BE46-4D0B-882C-8038D7DB4B87}"/>
              </a:ext>
            </a:extLst>
          </p:cNvPr>
          <p:cNvSpPr>
            <a:spLocks noGrp="1"/>
          </p:cNvSpPr>
          <p:nvPr/>
        </p:nvSpPr>
        <p:spPr>
          <a:xfrm>
            <a:off x="647700" y="1809750"/>
            <a:ext cx="10896600" cy="157162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이슈사항 ML 데이터 번호">
            <a:extLst>
              <a:ext uri="{FF2B5EF4-FFF2-40B4-BE49-F238E27FC236}">
                <a16:creationId xmlns:a16="http://schemas.microsoft.com/office/drawing/2014/main" id="{7FA2D954-EC8B-4E4A-9592-C3BAD215F5C9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495300" cy="266700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8" name="이슈사항 ML 데이터 제목">
            <a:extLst>
              <a:ext uri="{FF2B5EF4-FFF2-40B4-BE49-F238E27FC236}">
                <a16:creationId xmlns:a16="http://schemas.microsoft.com/office/drawing/2014/main" id="{ABD4A119-3DEA-48CE-BBAC-029FA09C9FD6}"/>
              </a:ext>
            </a:extLst>
          </p:cNvPr>
          <p:cNvSpPr>
            <a:spLocks noGrp="1"/>
          </p:cNvSpPr>
          <p:nvPr/>
        </p:nvSpPr>
        <p:spPr>
          <a:xfrm>
            <a:off x="1619250" y="20002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4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ML 학습용 데이터 수량 추가확보 필요</a:t>
            </a:r>
          </a:p>
        </p:txBody>
      </p:sp>
      <p:sp>
        <p:nvSpPr>
          <p:cNvPr id="29" name="이슈사항 ML 데이터 본문">
            <a:extLst>
              <a:ext uri="{FF2B5EF4-FFF2-40B4-BE49-F238E27FC236}">
                <a16:creationId xmlns:a16="http://schemas.microsoft.com/office/drawing/2014/main" id="{1643B8E3-4E82-47EA-8A0A-09C5CA7ABD71}"/>
              </a:ext>
            </a:extLst>
          </p:cNvPr>
          <p:cNvSpPr>
            <a:spLocks noGrp="1"/>
          </p:cNvSpPr>
          <p:nvPr/>
        </p:nvSpPr>
        <p:spPr>
          <a:xfrm>
            <a:off x="876300" y="2524125"/>
            <a:ext cx="1000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1125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ML 학습용 데이터 수량 추가확보 필요</a:t>
            </a:r>
          </a:p>
        </p:txBody>
      </p:sp>
      <p:sp>
        <p:nvSpPr>
          <p:cNvPr id="30" name="이슈사항 ML 데이터 설명">
            <a:extLst>
              <a:ext uri="{FF2B5EF4-FFF2-40B4-BE49-F238E27FC236}">
                <a16:creationId xmlns:a16="http://schemas.microsoft.com/office/drawing/2014/main" id="{A7AF479B-6AD1-4257-8615-6759564083A5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buNone/>
              <a:defRPr sz="97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현재 HuggingFace Datasets 확보 : markobo/B2B_Sales_data</a:t>
            </a:r>
          </a:p>
        </p:txBody>
      </p:sp>
      <p:sp>
        <p:nvSpPr>
          <p:cNvPr id="31" name="이슈사항 ERD 요약 카드">
            <a:extLst>
              <a:ext uri="{FF2B5EF4-FFF2-40B4-BE49-F238E27FC236}">
                <a16:creationId xmlns:a16="http://schemas.microsoft.com/office/drawing/2014/main" id="{E6FC2338-E422-4D61-849C-FC84E8BB150C}"/>
              </a:ext>
            </a:extLst>
          </p:cNvPr>
          <p:cNvSpPr>
            <a:spLocks noGrp="1"/>
          </p:cNvSpPr>
          <p:nvPr/>
        </p:nvSpPr>
        <p:spPr>
          <a:xfrm>
            <a:off x="647700" y="3619500"/>
            <a:ext cx="10896600" cy="157162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D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이슈사항 ERD 요약 번호">
            <a:extLst>
              <a:ext uri="{FF2B5EF4-FFF2-40B4-BE49-F238E27FC236}">
                <a16:creationId xmlns:a16="http://schemas.microsoft.com/office/drawing/2014/main" id="{DCFC4DCA-37DE-4D73-8DF4-A9A5740F521E}"/>
              </a:ext>
            </a:extLst>
          </p:cNvPr>
          <p:cNvSpPr>
            <a:spLocks noGrp="1"/>
          </p:cNvSpPr>
          <p:nvPr/>
        </p:nvSpPr>
        <p:spPr>
          <a:xfrm>
            <a:off x="876300" y="3829050"/>
            <a:ext cx="495300" cy="266700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 wrap="none"/>
          <a:lstStyle/>
          <a:p>
            <a:pPr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3" name="이슈사항 ERD 요약 제목">
            <a:extLst>
              <a:ext uri="{FF2B5EF4-FFF2-40B4-BE49-F238E27FC236}">
                <a16:creationId xmlns:a16="http://schemas.microsoft.com/office/drawing/2014/main" id="{B461DF32-B8DF-4817-9494-432CECF62DB1}"/>
              </a:ext>
            </a:extLst>
          </p:cNvPr>
          <p:cNvSpPr>
            <a:spLocks noGrp="1"/>
          </p:cNvSpPr>
          <p:nvPr/>
        </p:nvSpPr>
        <p:spPr>
          <a:xfrm>
            <a:off x="1619250" y="3810000"/>
            <a:ext cx="965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defRPr sz="14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1425" b="1" dirty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Open API </a:t>
            </a:r>
            <a:r>
              <a:rPr lang="ko-KR" altLang="en-US" sz="1425" b="1" dirty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결제지연</a:t>
            </a:r>
            <a:endParaRPr sz="1425" b="1" dirty="0">
              <a:solidFill>
                <a:srgbClr val="12355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4" name="이슈사항 ERD 요약 본문">
            <a:extLst>
              <a:ext uri="{FF2B5EF4-FFF2-40B4-BE49-F238E27FC236}">
                <a16:creationId xmlns:a16="http://schemas.microsoft.com/office/drawing/2014/main" id="{FE6ECFDC-4417-4E29-B48A-C00B19F72438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10439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defRPr sz="1125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1125" b="1" dirty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Open AI </a:t>
            </a:r>
            <a:r>
              <a:rPr lang="ko-KR" altLang="en-US" sz="1125" b="1" dirty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현재 </a:t>
            </a:r>
            <a:r>
              <a:rPr lang="en-US" altLang="ko-KR" sz="1125" b="1" dirty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$10</a:t>
            </a:r>
            <a:r>
              <a:rPr lang="ko-KR" altLang="en-US" sz="1125" b="1" dirty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만 결제처리</a:t>
            </a:r>
            <a:endParaRPr sz="1125" b="1" dirty="0">
              <a:solidFill>
                <a:srgbClr val="15202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이슈사항 ERD 요약 설명">
            <a:extLst>
              <a:ext uri="{FF2B5EF4-FFF2-40B4-BE49-F238E27FC236}">
                <a16:creationId xmlns:a16="http://schemas.microsoft.com/office/drawing/2014/main" id="{805D49C3-93CD-4F7E-9F2B-45DC2D89184B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0439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/>
          <a:lstStyle/>
          <a:p>
            <a:pPr>
              <a:defRPr sz="975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975" dirty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Open AI </a:t>
            </a:r>
            <a:r>
              <a:rPr lang="ko-KR" altLang="en-US" sz="975" dirty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카드결제 관련 오류로 추가 </a:t>
            </a:r>
            <a:r>
              <a:rPr lang="en-US" altLang="ko-KR" sz="975" dirty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$290 </a:t>
            </a:r>
            <a:r>
              <a:rPr lang="ko-KR" altLang="en-US" sz="975" dirty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결제 필요</a:t>
            </a:r>
            <a:endParaRPr sz="975" dirty="0">
              <a:solidFill>
                <a:srgbClr val="6B7785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1361274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A9A233-A8A8-4544-9FDF-C5B07D02F66C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기대효과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B14323-CA68-4BCE-8A64-DE26E314EB93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기존 방식의 “찾고 정리하고 다시 입력”을 줄여, 영업 판단에 쓰는 시간을 늘립니다.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952A6742-9B85-4B8D-A3FC-46160103E638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640DD65-BAAB-4071-AAF2-70D0A62C90A3}"/>
              </a:ext>
            </a:extLst>
          </p:cNvPr>
          <p:cNvSpPr>
            <a:spLocks noGrp="1"/>
          </p:cNvSpPr>
          <p:nvPr/>
        </p:nvSpPr>
        <p:spPr>
          <a:xfrm>
            <a:off x="647700" y="2019300"/>
            <a:ext cx="5048250" cy="34290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424C35-A3F5-4250-8772-51DF17106D9C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20955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4967" lnSpcReduction="10000"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기존 방법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ACC64D-29C7-4DB2-8334-4F87966BEA4C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90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84660" lnSpcReduction="10000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99DA72-45A3-401A-99DB-E553495AB9A4}"/>
              </a:ext>
            </a:extLst>
          </p:cNvPr>
          <p:cNvSpPr>
            <a:spLocks noGrp="1"/>
          </p:cNvSpPr>
          <p:nvPr/>
        </p:nvSpPr>
        <p:spPr>
          <a:xfrm>
            <a:off x="1257300" y="2914650"/>
            <a:ext cx="371475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매출은 Excel, 마케팅은 PPT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705D9F-41F8-4C96-B898-92EEF263D657}"/>
              </a:ext>
            </a:extLst>
          </p:cNvPr>
          <p:cNvSpPr>
            <a:spLocks noGrp="1"/>
          </p:cNvSpPr>
          <p:nvPr/>
        </p:nvSpPr>
        <p:spPr>
          <a:xfrm>
            <a:off x="952500" y="3409950"/>
            <a:ext cx="190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84660" lnSpcReduction="10000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510F7B-DAB2-4370-9FD0-D737B5B7D54B}"/>
              </a:ext>
            </a:extLst>
          </p:cNvPr>
          <p:cNvSpPr>
            <a:spLocks noGrp="1"/>
          </p:cNvSpPr>
          <p:nvPr/>
        </p:nvSpPr>
        <p:spPr>
          <a:xfrm>
            <a:off x="1257300" y="3429000"/>
            <a:ext cx="371475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미팅 후 수기 정리와 반복 입력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5FD4E1-5021-4E79-B3B7-99E580B5E1D3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190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84660" lnSpcReduction="10000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942A49-0C0E-4BA8-8AEC-197234548971}"/>
              </a:ext>
            </a:extLst>
          </p:cNvPr>
          <p:cNvSpPr>
            <a:spLocks noGrp="1"/>
          </p:cNvSpPr>
          <p:nvPr/>
        </p:nvSpPr>
        <p:spPr>
          <a:xfrm>
            <a:off x="1257300" y="3943350"/>
            <a:ext cx="371475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인수인계는 형식적 문서 전달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6B2C5E-DC27-483F-8F9A-733E494478E7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190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84660" lnSpcReduction="10000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B500A3-D695-41EC-8AFA-1CF96EAFE51B}"/>
              </a:ext>
            </a:extLst>
          </p:cNvPr>
          <p:cNvSpPr>
            <a:spLocks noGrp="1"/>
          </p:cNvSpPr>
          <p:nvPr/>
        </p:nvSpPr>
        <p:spPr>
          <a:xfrm>
            <a:off x="1257300" y="4457700"/>
            <a:ext cx="371475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숫자는 보이지만 원인·맥락은 분산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86EBB80-1318-4907-86CA-EC6849C8CE72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429250" cy="3429000"/>
          </a:xfrm>
          <a:prstGeom prst="roundRect">
            <a:avLst>
              <a:gd name="adj" fmla="val 6667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14B25A-4BE0-4B96-9473-2C9162F31A15}"/>
              </a:ext>
            </a:extLst>
          </p:cNvPr>
          <p:cNvSpPr>
            <a:spLocks noGrp="1"/>
          </p:cNvSpPr>
          <p:nvPr/>
        </p:nvSpPr>
        <p:spPr>
          <a:xfrm>
            <a:off x="6419850" y="2324100"/>
            <a:ext cx="266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4967" lnSpcReduction="10000"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SalesLuv 이용 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C1BC97-420B-4787-A2EA-64AAA1BC5244}"/>
              </a:ext>
            </a:extLst>
          </p:cNvPr>
          <p:cNvSpPr>
            <a:spLocks noGrp="1"/>
          </p:cNvSpPr>
          <p:nvPr/>
        </p:nvSpPr>
        <p:spPr>
          <a:xfrm>
            <a:off x="6419850" y="2895600"/>
            <a:ext cx="2286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D641B6-09EE-4428-B105-BC92B924C1F4}"/>
              </a:ext>
            </a:extLst>
          </p:cNvPr>
          <p:cNvSpPr>
            <a:spLocks noGrp="1"/>
          </p:cNvSpPr>
          <p:nvPr/>
        </p:nvSpPr>
        <p:spPr>
          <a:xfrm>
            <a:off x="6800850" y="2914650"/>
            <a:ext cx="4191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rPr>
              <a:t>정형 데이터는 자동 집계·검증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DF0B2E5-D132-438D-A36C-1B180DA99EF1}"/>
              </a:ext>
            </a:extLst>
          </p:cNvPr>
          <p:cNvSpPr>
            <a:spLocks noGrp="1"/>
          </p:cNvSpPr>
          <p:nvPr/>
        </p:nvSpPr>
        <p:spPr>
          <a:xfrm>
            <a:off x="6419850" y="3409950"/>
            <a:ext cx="2286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23DE5F9-0335-4456-A267-F767C70064AA}"/>
              </a:ext>
            </a:extLst>
          </p:cNvPr>
          <p:cNvSpPr>
            <a:spLocks noGrp="1"/>
          </p:cNvSpPr>
          <p:nvPr/>
        </p:nvSpPr>
        <p:spPr>
          <a:xfrm>
            <a:off x="6800850" y="3429000"/>
            <a:ext cx="4191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rPr>
              <a:t>정성 데이터는 브리핑으로 구조화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C66571-2382-4E06-B664-73498660C421}"/>
              </a:ext>
            </a:extLst>
          </p:cNvPr>
          <p:cNvSpPr>
            <a:spLocks noGrp="1"/>
          </p:cNvSpPr>
          <p:nvPr/>
        </p:nvSpPr>
        <p:spPr>
          <a:xfrm>
            <a:off x="6419850" y="3924300"/>
            <a:ext cx="2286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656EB4-FEF7-40A5-BC7C-A5291A5EB3D2}"/>
              </a:ext>
            </a:extLst>
          </p:cNvPr>
          <p:cNvSpPr>
            <a:spLocks noGrp="1"/>
          </p:cNvSpPr>
          <p:nvPr/>
        </p:nvSpPr>
        <p:spPr>
          <a:xfrm>
            <a:off x="6800850" y="3943350"/>
            <a:ext cx="4191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rPr>
              <a:t>승인된 변경만 CRM에 반영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7BFD5B-2B86-49FE-83F3-82458BAB6D22}"/>
              </a:ext>
            </a:extLst>
          </p:cNvPr>
          <p:cNvSpPr>
            <a:spLocks noGrp="1"/>
          </p:cNvSpPr>
          <p:nvPr/>
        </p:nvSpPr>
        <p:spPr>
          <a:xfrm>
            <a:off x="6419850" y="4438650"/>
            <a:ext cx="2286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1675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27C490-7334-4FD4-80B9-B10B3E678458}"/>
              </a:ext>
            </a:extLst>
          </p:cNvPr>
          <p:cNvSpPr>
            <a:spLocks noGrp="1"/>
          </p:cNvSpPr>
          <p:nvPr/>
        </p:nvSpPr>
        <p:spPr>
          <a:xfrm>
            <a:off x="6800850" y="4457700"/>
            <a:ext cx="4191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rPr>
              <a:t>딜별 판단과 전체 우선순위를 재계산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81859A9-E8CB-455B-84F0-7ED4E7AEA3C9}"/>
              </a:ext>
            </a:extLst>
          </p:cNvPr>
          <p:cNvSpPr>
            <a:spLocks noGrp="1"/>
          </p:cNvSpPr>
          <p:nvPr/>
        </p:nvSpPr>
        <p:spPr>
          <a:xfrm>
            <a:off x="876300" y="5924550"/>
            <a:ext cx="104775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6451" lnSpcReduction="10000"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7C5C00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200" b="1">
              <a:solidFill>
                <a:srgbClr val="7C5C0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939E40-043B-4A39-A852-4F9121C5C057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</p:spTree>
    <p:extLst>
      <p:ext uri="{BB962C8B-B14F-4D97-AF65-F5344CB8AC3E}">
        <p14:creationId xmlns:p14="http://schemas.microsoft.com/office/powerpoint/2010/main" val="11533837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2063</Words>
  <Application>Microsoft Macintosh PowerPoint</Application>
  <DocSecurity>0</DocSecurity>
  <PresentationFormat>와이드스크린</PresentationFormat>
  <Paragraphs>307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Apple SD Gothic Neo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SKN 30기_1</cp:lastModifiedBy>
  <cp:revision>2</cp:revision>
  <dcterms:created xsi:type="dcterms:W3CDTF">2026-08-18T08:27:29Z</dcterms:created>
  <dcterms:modified xsi:type="dcterms:W3CDTF">2026-08-18T08:51:49Z</dcterms:modified>
</cp:coreProperties>
</file>