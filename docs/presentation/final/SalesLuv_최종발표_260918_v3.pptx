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국내 CRM 시장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2025년</c:v>
                </c:pt>
                <c:pt idx="1">
                  <c:v>2026년</c:v>
                </c:pt>
                <c:pt idx="2">
                  <c:v>2033년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2.51</c:v>
                </c:pt>
                <c:pt idx="1">
                  <c:v>2.75</c:v>
                </c:pt>
                <c:pt idx="2">
                  <c:v>5.46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6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1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6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Accuracy</c:v>
                </c:pt>
              </c:strCache>
            </c:strRef>
          </c:tx>
          <c:spPr>
            <a:solidFill>
              <a:srgbClr val="BFDBF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RF 기준선</c:v>
                </c:pt>
                <c:pt idx="1">
                  <c:v>RF 튜닝</c:v>
                </c:pt>
                <c:pt idx="2">
                  <c:v>Stacking_LR (최종)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0.6958</c:v>
                </c:pt>
                <c:pt idx="1">
                  <c:v>0.7338</c:v>
                </c:pt>
                <c:pt idx="2">
                  <c:v>0.736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RF 기준선</c:v>
                </c:pt>
                <c:pt idx="1">
                  <c:v>RF 튜닝</c:v>
                </c:pt>
                <c:pt idx="2">
                  <c:v>Stacking_LR (최종)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0.7409</c:v>
                </c:pt>
                <c:pt idx="1">
                  <c:v>0.7756</c:v>
                </c:pt>
                <c:pt idx="2">
                  <c:v>0.7783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0.84"/>
          <c:min val="0.6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Pretendard Medium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개선 전</c:v>
                </c:pt>
              </c:strCache>
            </c:strRef>
          </c:tx>
          <c:spPr>
            <a:solidFill>
              <a:srgbClr val="BFDBF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미팅</c:v>
                </c:pt>
                <c:pt idx="1">
                  <c:v>일일</c:v>
                </c:pt>
                <c:pt idx="2">
                  <c:v>주간</c:v>
                </c:pt>
                <c:pt idx="3">
                  <c:v>월간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97.74</c:v>
                </c:pt>
                <c:pt idx="1">
                  <c:v>86.88</c:v>
                </c:pt>
                <c:pt idx="2">
                  <c:v>72.5</c:v>
                </c:pt>
                <c:pt idx="3">
                  <c:v>66.25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개선 후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미팅</c:v>
                </c:pt>
                <c:pt idx="1">
                  <c:v>일일</c:v>
                </c:pt>
                <c:pt idx="2">
                  <c:v>주간</c:v>
                </c:pt>
                <c:pt idx="3">
                  <c:v>월간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96.57</c:v>
                </c:pt>
                <c:pt idx="1">
                  <c:v>95.16</c:v>
                </c:pt>
                <c:pt idx="2">
                  <c:v>87.08</c:v>
                </c:pt>
                <c:pt idx="3">
                  <c:v>76.25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08.0"/>
          <c:min val="60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Pretendard Medium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점수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Sheet1!$A$2:$A$7</c:f>
              <c:strCache>
                <c:ptCount val="6"/>
                <c:pt idx="0">
                  <c:v>overall</c:v>
                </c:pt>
                <c:pt idx="1">
                  <c:v>completeness</c:v>
                </c:pt>
                <c:pt idx="2">
                  <c:v>groundedness</c:v>
                </c:pt>
                <c:pt idx="3">
                  <c:v>hallucination</c:v>
                </c:pt>
                <c:pt idx="4">
                  <c:v>retrieval_relevance</c:v>
                </c:pt>
                <c:pt idx="5">
                  <c:v>irrelevance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0.846</c:v>
                </c:pt>
                <c:pt idx="1">
                  <c:v>0.828</c:v>
                </c:pt>
                <c:pt idx="2">
                  <c:v>0.914</c:v>
                </c:pt>
                <c:pt idx="3">
                  <c:v>0.942</c:v>
                </c:pt>
                <c:pt idx="4">
                  <c:v>0.892</c:v>
                </c:pt>
                <c:pt idx="5">
                  <c:v>0.901</c:v>
                </c:pt>
              </c:numCache>
            </c:numRef>
          </c:val>
        </c:ser>
        <c:dLbls>
          <c:numFmt formatCode="0.00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5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"/>
          <c:min val="0.0"/>
        </c:scaling>
        <c:delete val="0"/>
        <c:axPos val="b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1차 테스트</c:v>
                </c:pt>
              </c:strCache>
            </c:strRef>
          </c:tx>
          <c:spPr>
            <a:solidFill>
              <a:srgbClr val="BFDBFE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견적서</c:v>
                </c:pt>
                <c:pt idx="1">
                  <c:v>계약서</c:v>
                </c:pt>
                <c:pt idx="2">
                  <c:v>발주서</c:v>
                </c:pt>
                <c:pt idx="3">
                  <c:v>상품설명서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100.0</c:v>
                </c:pt>
                <c:pt idx="1">
                  <c:v>25.0</c:v>
                </c:pt>
                <c:pt idx="2">
                  <c:v>66.9</c:v>
                </c:pt>
                <c:pt idx="3">
                  <c:v>84.0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최종 테스트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Sheet1!$A$2:$A$5</c:f>
              <c:strCache>
                <c:ptCount val="4"/>
                <c:pt idx="0">
                  <c:v>견적서</c:v>
                </c:pt>
                <c:pt idx="1">
                  <c:v>계약서</c:v>
                </c:pt>
                <c:pt idx="2">
                  <c:v>발주서</c:v>
                </c:pt>
                <c:pt idx="3">
                  <c:v>상품설명서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100.0</c:v>
                </c:pt>
                <c:pt idx="1">
                  <c:v>98.5</c:v>
                </c:pt>
                <c:pt idx="2">
                  <c:v>98.5</c:v>
                </c:pt>
                <c:pt idx="3">
                  <c:v>86.0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7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20.0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  <c:majorUnit val="30.0"/>
      </c:valAx>
    </c:plotArea>
    <c:legend>
      <c:legendPos val="t"/>
      <c:overlay val="0"/>
      <c:txPr>
        <a:bodyPr/>
        <a:lstStyle/>
        <a:p>
          <a:pPr>
            <a:defRPr sz="1000">
              <a:solidFill>
                <a:srgbClr val="45515E"/>
              </a:solidFill>
              <a:latin typeface="Pretendard Medium"/>
            </a:defRPr>
          </a:pPr>
        </a:p>
      </c:txPr>
    </c:legend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overall</c:v>
                </c:pt>
              </c:strCache>
            </c:strRef>
          </c:tx>
          <c:spPr>
            <a:solidFill>
              <a:srgbClr val="1456F0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요약1</c:v>
                </c:pt>
                <c:pt idx="1">
                  <c:v>요약2</c:v>
                </c:pt>
                <c:pt idx="2">
                  <c:v>요약3</c:v>
                </c:pt>
                <c:pt idx="3">
                  <c:v>요약4</c:v>
                </c:pt>
                <c:pt idx="4">
                  <c:v>요약5</c:v>
                </c:pt>
                <c:pt idx="5">
                  <c:v>요약6</c:v>
                </c:pt>
                <c:pt idx="6">
                  <c:v>검색1</c:v>
                </c:pt>
                <c:pt idx="7">
                  <c:v>검색2</c:v>
                </c:pt>
                <c:pt idx="8">
                  <c:v>검색3</c:v>
                </c:pt>
                <c:pt idx="9">
                  <c:v>검색4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0.97</c:v>
                </c:pt>
                <c:pt idx="1">
                  <c:v>0.91</c:v>
                </c:pt>
                <c:pt idx="2">
                  <c:v>0.96</c:v>
                </c:pt>
                <c:pt idx="3">
                  <c:v>0.98</c:v>
                </c:pt>
                <c:pt idx="4">
                  <c:v>0.93</c:v>
                </c:pt>
                <c:pt idx="5">
                  <c:v>0.96</c:v>
                </c:pt>
                <c:pt idx="6">
                  <c:v>0.25</c:v>
                </c:pt>
                <c:pt idx="7">
                  <c:v>0.78</c:v>
                </c:pt>
                <c:pt idx="8">
                  <c:v>0.9</c:v>
                </c:pt>
                <c:pt idx="9">
                  <c:v>0.82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sz="1400">
                  <a:solidFill>
                    <a:srgbClr val="222222"/>
                  </a:solidFill>
                  <a:latin typeface="Pretendard SemiBold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5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E5E7EB"/>
            </a:solidFill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 Medium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1.05"/>
        </c:scaling>
        <c:delete val="0"/>
        <c:axPos val="l"/>
        <c:majorGridlines>
          <c:spPr>
            <a:ln w="9525">
              <a:solidFill>
                <a:srgbClr val="E5E7EB"/>
              </a:solidFill>
            </a:ln>
          </c:spPr>
        </c:majorGridlines>
        <c:majorTickMark val="out"/>
        <c:minorTickMark val="none"/>
        <c:tickLblPos val="nextTo"/>
        <c:spPr>
          <a:ln>
            <a:noFill/>
          </a:ln>
        </c:spPr>
        <c:txPr>
          <a:bodyPr/>
          <a:lstStyle/>
          <a:p>
            <a:pPr>
              <a:defRPr sz="1400">
                <a:solidFill>
                  <a:srgbClr val="45515E"/>
                </a:solidFill>
                <a:latin typeface="Pretendard"/>
              </a:defRPr>
            </a:pPr>
          </a:p>
        </c:txPr>
        <c:crossAx val="-2068027336"/>
        <c:crosses val="autoZero"/>
      </c:valAx>
    </c:plotArea>
    <c:dispBlanksAs val="gap"/>
  </c:chart>
  <c:txPr>
    <a:bodyPr/>
    <a:lstStyle/>
    <a:p>
      <a:pPr>
        <a:defRPr sz="1400">
          <a:solidFill>
            <a:srgbClr val="45515E"/>
          </a:solidFill>
          <a:latin typeface="Pretendard"/>
        </a:defRPr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image" Target="../media/image9.png"/><Relationship Id="rId10" Type="http://schemas.openxmlformats.org/officeDocument/2006/relationships/image" Target="../media/image10.png"/><Relationship Id="rId11" Type="http://schemas.openxmlformats.org/officeDocument/2006/relationships/image" Target="../media/image11.png"/><Relationship Id="rId12" Type="http://schemas.openxmlformats.org/officeDocument/2006/relationships/image" Target="../media/image12.png"/><Relationship Id="rId13" Type="http://schemas.openxmlformats.org/officeDocument/2006/relationships/image" Target="../media/image13.png"/><Relationship Id="rId14" Type="http://schemas.openxmlformats.org/officeDocument/2006/relationships/image" Target="../media/image14.png"/><Relationship Id="rId15" Type="http://schemas.openxmlformats.org/officeDocument/2006/relationships/image" Target="../media/image15.png"/><Relationship Id="rId16" Type="http://schemas.openxmlformats.org/officeDocument/2006/relationships/image" Target="../media/image16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16.png"/><Relationship Id="rId4" Type="http://schemas.openxmlformats.org/officeDocument/2006/relationships/image" Target="../media/image17.png"/><Relationship Id="rId5" Type="http://schemas.openxmlformats.org/officeDocument/2006/relationships/image" Target="../media/image18.png"/><Relationship Id="rId6" Type="http://schemas.openxmlformats.org/officeDocument/2006/relationships/image" Target="../media/image9.png"/><Relationship Id="rId7" Type="http://schemas.openxmlformats.org/officeDocument/2006/relationships/image" Target="../media/image14.png"/><Relationship Id="rId8" Type="http://schemas.openxmlformats.org/officeDocument/2006/relationships/image" Target="../media/image1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2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3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4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5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6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783080"/>
            <a:ext cx="731520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60A5FA"/>
                </a:solidFill>
                <a:latin typeface="Pretendard SemiBold"/>
              </a:rPr>
              <a:t>SKN30 1Team · CassTerra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" y="2176272"/>
            <a:ext cx="91440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7800" b="1">
                <a:solidFill>
                  <a:srgbClr val="FFFFFF"/>
                </a:solidFill>
                <a:latin typeface="Pretendard"/>
              </a:rPr>
              <a:t>SalesLuv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66928" y="352044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2500">
                <a:solidFill>
                  <a:srgbClr val="C4CFDD"/>
                </a:solidFill>
                <a:latin typeface="Pretendard Medium"/>
              </a:rPr>
              <a:t>영업의 흐름을 연결하는 멀티에이전트 CRM</a:t>
            </a:r>
          </a:p>
        </p:txBody>
      </p:sp>
      <p:sp>
        <p:nvSpPr>
          <p:cNvPr id="7" name="Rectangle 6"/>
          <p:cNvSpPr/>
          <p:nvPr/>
        </p:nvSpPr>
        <p:spPr>
          <a:xfrm>
            <a:off x="566928" y="4224528"/>
            <a:ext cx="1828800" cy="685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66928" y="4498848"/>
            <a:ext cx="914400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FFFFFF"/>
                </a:solidFill>
                <a:latin typeface="Pretendard"/>
              </a:rPr>
              <a:t>CONNECT THE HISTORY.</a:t>
            </a:r>
          </a:p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60A5FA"/>
                </a:solidFill>
                <a:latin typeface="Pretendard"/>
              </a:rPr>
              <a:t>APPROVE THE NEXT MOVE.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42432"/>
            <a:ext cx="91440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Pretendard SemiBold"/>
              </a:rPr>
              <a:t>2026.09.18 (FRI) 15:00</a:t>
            </a:r>
          </a:p>
          <a:p>
            <a:pPr algn="l">
              <a:lnSpc>
                <a:spcPct val="140000"/>
              </a:lnSpc>
              <a:spcBef>
                <a:spcPts val="400"/>
              </a:spcBef>
              <a:spcAft>
                <a:spcPts val="0"/>
              </a:spcAft>
            </a:pPr>
            <a:r>
              <a:rPr sz="1800">
                <a:solidFill>
                  <a:srgbClr val="C4CFDD"/>
                </a:solidFill>
                <a:latin typeface="Pretendard"/>
              </a:rPr>
              <a:t>천성배 · 정주애 · 박제섭 · 박지유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711696"/>
            <a:ext cx="12191695" cy="146304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목차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문제 → 구현 → 검증, 세 파트로 설명합니다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3381146" cy="1055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BFDBFE"/>
                </a:solidFill>
                <a:latin typeface="Pretendard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99816"/>
            <a:ext cx="338114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22222"/>
                </a:solidFill>
                <a:latin typeface="Pretendard"/>
              </a:rPr>
              <a:t>문제 정의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739896"/>
            <a:ext cx="338114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왜 이 문제를 골랐는가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6928" y="4562856"/>
            <a:ext cx="3106826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566928" y="4773168"/>
            <a:ext cx="31982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팀 · 주제 · 문제</a:t>
            </a:r>
          </a:p>
          <a:p>
            <a:pPr algn="l">
              <a:lnSpc>
                <a:spcPct val="145000"/>
              </a:lnSpc>
              <a:spcBef>
                <a:spcPts val="4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시장 · 경쟁 · 해결책 · 기대효과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4176674" y="1956816"/>
            <a:ext cx="0" cy="3730752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4405274" y="1865376"/>
            <a:ext cx="3381146" cy="1055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BFDBFE"/>
                </a:solidFill>
                <a:latin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05274" y="3099816"/>
            <a:ext cx="338114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22222"/>
                </a:solidFill>
                <a:latin typeface="Pretendard"/>
              </a:rPr>
              <a:t>설계와 구현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05274" y="3739896"/>
            <a:ext cx="338114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무엇을 어떻게 만들었는가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405274" y="4562856"/>
            <a:ext cx="3106826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4405274" y="4773168"/>
            <a:ext cx="31982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시나리오 · 시연 · 기술 스택</a:t>
            </a:r>
          </a:p>
          <a:p>
            <a:pPr algn="l">
              <a:lnSpc>
                <a:spcPct val="145000"/>
              </a:lnSpc>
              <a:spcBef>
                <a:spcPts val="4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아키텍처 · 에이전트 · AI 기능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015020" y="1956816"/>
            <a:ext cx="0" cy="3730752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8243620" y="1865376"/>
            <a:ext cx="3381146" cy="105537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BFDBFE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43620" y="3099816"/>
            <a:ext cx="3381146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222222"/>
                </a:solidFill>
                <a:latin typeface="Pretendard"/>
              </a:rPr>
              <a:t>검증과 확장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43620" y="3739896"/>
            <a:ext cx="3381146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제대로 동작하는지 어떻게 확인했는가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243620" y="4562856"/>
            <a:ext cx="3106827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8243620" y="4773168"/>
            <a:ext cx="3198266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에이전트별 평가 · 일정 에이전트</a:t>
            </a:r>
          </a:p>
          <a:p>
            <a:pPr algn="l">
              <a:lnSpc>
                <a:spcPct val="145000"/>
              </a:lnSpc>
              <a:spcBef>
                <a:spcPts val="4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실패와 개선 · 향후 계획 · 결론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41732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310128"/>
            <a:ext cx="137160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Pretendard"/>
              </a:rPr>
              <a:t>문제 정의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17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C4CFDD"/>
                </a:solidFill>
                <a:latin typeface="Pretendard Medium"/>
              </a:rPr>
              <a:t>왜 이 프로젝트가 필요한가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SemiBold"/>
              </a:rPr>
              <a:t>03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네 명이 기획부터 배포까지 나눠 맡았다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65376"/>
            <a:ext cx="2545003" cy="2103120"/>
          </a:xfrm>
          <a:prstGeom prst="roundRect">
            <a:avLst>
              <a:gd name="adj" fmla="val 565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 Medium"/>
              </a:rPr>
              <a:t>[PHOTO]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4133087"/>
            <a:ext cx="2545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22222"/>
                </a:solidFill>
                <a:latin typeface="Pretendard"/>
              </a:rPr>
              <a:t>천성배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4626864"/>
            <a:ext cx="45720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" y="4809744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P.M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5157216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OCR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5504688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자료요약 Agent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04539" y="1865376"/>
            <a:ext cx="2545003" cy="2103120"/>
          </a:xfrm>
          <a:prstGeom prst="roundRect">
            <a:avLst>
              <a:gd name="adj" fmla="val 565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 Medium"/>
              </a:rPr>
              <a:t>[PHOTO]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04539" y="4133087"/>
            <a:ext cx="2545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22222"/>
                </a:solidFill>
                <a:latin typeface="Pretendard"/>
              </a:rPr>
              <a:t>정주애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404539" y="4626864"/>
            <a:ext cx="45720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404539" y="4809744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Full Stack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04539" y="5157216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Infra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242151" y="1865376"/>
            <a:ext cx="2545003" cy="2103120"/>
          </a:xfrm>
          <a:prstGeom prst="roundRect">
            <a:avLst>
              <a:gd name="adj" fmla="val 565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 Medium"/>
              </a:rPr>
              <a:t>[PHOTO]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42151" y="4133087"/>
            <a:ext cx="2545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22222"/>
                </a:solidFill>
                <a:latin typeface="Pretendard"/>
              </a:rPr>
              <a:t>박제섭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242151" y="4626864"/>
            <a:ext cx="45720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242151" y="4809744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기술리더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42151" y="5157216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미팅분석 Agent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242151" y="5504688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업무보고 Agent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079763" y="1865376"/>
            <a:ext cx="2545003" cy="2103120"/>
          </a:xfrm>
          <a:prstGeom prst="roundRect">
            <a:avLst>
              <a:gd name="adj" fmla="val 565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 Medium"/>
              </a:rPr>
              <a:t>[PHOTO]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79763" y="4133087"/>
            <a:ext cx="2545003" cy="38404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300" b="1">
                <a:solidFill>
                  <a:srgbClr val="222222"/>
                </a:solidFill>
                <a:latin typeface="Pretendard"/>
              </a:rPr>
              <a:t>박지유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079763" y="4626864"/>
            <a:ext cx="45720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079763" y="4809744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563EB"/>
                </a:solidFill>
                <a:latin typeface="Pretendard SemiBold"/>
              </a:rPr>
              <a:t>영업계약 Agent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79763" y="5157216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일정관리 Agent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079763" y="5504688"/>
            <a:ext cx="254500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시연영상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담당자의 고객 맥락을 팀이 이어받게 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기획서(2026-08)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1057839" cy="1051560"/>
          </a:xfrm>
          <a:prstGeom prst="roundRect">
            <a:avLst>
              <a:gd name="adj" fmla="val 1043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2157984"/>
            <a:ext cx="103263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700" b="1">
                <a:solidFill>
                  <a:srgbClr val="17437D"/>
                </a:solidFill>
                <a:latin typeface="Pretendard"/>
              </a:rPr>
              <a:t>영업의 시작부터 끝까지, 한 번에 해결하는 멀티에이전트 CRM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66928" y="3328416"/>
            <a:ext cx="3466490" cy="4572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66928" y="3602736"/>
            <a:ext cx="346649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국내 B2B 영업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" y="4133088"/>
            <a:ext cx="346649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고객 · 딜 · 일정 · 보고가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흩어져 있는 조직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362602" y="3328416"/>
            <a:ext cx="3466490" cy="4572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2602" y="3602736"/>
            <a:ext cx="346649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멀티에이전트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2602" y="4133088"/>
            <a:ext cx="346649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판단 · 초안 · 제안을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다섯 에이전트로 분담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158276" y="3328416"/>
            <a:ext cx="3466490" cy="45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158276" y="3602736"/>
            <a:ext cx="346649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Human-in-the-loop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8276" y="4133088"/>
            <a:ext cx="346649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AI는 초안까지,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확정은 사람의 승인으로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6875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CRM — 고객과 나눈 이야기를 기억하는 시스템        딜 — 하나의 거래 기회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영업 맥락은 다섯 지점에서 끊긴다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기획서(2026-08) · 영업사원 출신 PM의 현장 경험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2020824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47088" y="2075688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영업정보 분산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47488" y="2093976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고객 · 계약 · 매출이 따로 관리된다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06624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2862072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47088" y="2916936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영업흐름 단절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47488" y="2935224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리드 → 계약 → 매출이 이어지지 않는다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47872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6112" y="3703320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7088" y="3758184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판단 공백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47488" y="3776472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진행 상황과 예측이 보이지 않는다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389120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389120"/>
            <a:ext cx="68580" cy="7132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44568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47088" y="4599432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인수인계 맥락 소실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47488" y="4617720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관계와 노하우가 담당자와 함께 사라진다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66928" y="5230368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96112" y="5385816"/>
            <a:ext cx="822960" cy="4206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47088" y="5440680"/>
            <a:ext cx="2926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범용 CRM 한계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47488" y="5458968"/>
            <a:ext cx="6257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B2B 영업 현장에는 기능이 부족하다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결국 남는 문제는 암묵지다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기획서(2026-08) · 영업사원 출신 PM의 현장 경험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1057839" cy="1554480"/>
          </a:xfrm>
          <a:prstGeom prst="roundRect">
            <a:avLst>
              <a:gd name="adj" fmla="val 7058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15544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78408" y="2194560"/>
            <a:ext cx="10234879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222222"/>
                </a:solidFill>
                <a:latin typeface="Pretendard"/>
              </a:rPr>
              <a:t>고객 맥락과 영업 노하우는 담당자 개인의 암묵지로만 쌓인다</a:t>
            </a:r>
          </a:p>
          <a:p>
            <a:pPr algn="l">
              <a:lnSpc>
                <a:spcPct val="135000"/>
              </a:lnSpc>
              <a:spcBef>
                <a:spcPts val="1000"/>
              </a:spcBef>
              <a:spcAft>
                <a:spcPts val="0"/>
              </a:spcAft>
            </a:pPr>
            <a:r>
              <a:rPr sz="2100">
                <a:solidFill>
                  <a:srgbClr val="45515E"/>
                </a:solidFill>
                <a:latin typeface="Pretendard"/>
              </a:rPr>
              <a:t>조직 자산으로 남지 않아 담당자가 바뀌면 함께 사라진다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808476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7673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이 판단의 근거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4206240"/>
            <a:ext cx="3466490" cy="1755648"/>
          </a:xfrm>
          <a:prstGeom prst="roundRect">
            <a:avLst>
              <a:gd name="adj" fmla="val 62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7" y="4498848"/>
            <a:ext cx="2917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프로젝트 기획서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7" y="5029200"/>
            <a:ext cx="29178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2026-08 작성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문제 정의와 범위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362602" y="4206240"/>
            <a:ext cx="3466490" cy="1755648"/>
          </a:xfrm>
          <a:prstGeom prst="roundRect">
            <a:avLst>
              <a:gd name="adj" fmla="val 62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636922" y="4498848"/>
            <a:ext cx="2917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현장 경험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922" y="5029200"/>
            <a:ext cx="29178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영업사원 출신 PM의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실무 경험에서 출발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8276" y="4206240"/>
            <a:ext cx="3466490" cy="1755648"/>
          </a:xfrm>
          <a:prstGeom prst="roundRect">
            <a:avLst>
              <a:gd name="adj" fmla="val 625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596" y="4498848"/>
            <a:ext cx="291785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8E8E93"/>
                </a:solidFill>
                <a:latin typeface="Pretendard SemiBold"/>
              </a:rPr>
              <a:t>정량 근거는 없음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5029200"/>
            <a:ext cx="291785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설문 · 인터뷰 데이터 없이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검증할 가설로 다룬다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국내 CRM 시장은 2033년까지 두 배 이상 커진다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Grand View Research(2026) · KISDI 2026(원자료 Gartner 2025) · 환율 2026-09-15 1,347.8원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국내 CRM 시장 규모 (조원)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2249424"/>
          <a:ext cx="649224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7516367" y="1865376"/>
            <a:ext cx="4108399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808975" y="2048256"/>
            <a:ext cx="35231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10.3%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08975" y="2761488"/>
            <a:ext cx="35231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국내 CRM 연평균 성장률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08975" y="3090672"/>
            <a:ext cx="3523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2026–2033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516367" y="3712464"/>
            <a:ext cx="410839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808975" y="3895344"/>
            <a:ext cx="35231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3B82F6"/>
                </a:solidFill>
                <a:latin typeface="Pretendard"/>
              </a:rPr>
              <a:t>17.1%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08975" y="4608576"/>
            <a:ext cx="35231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국내 SaaS 연평균 성장률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08975" y="4937760"/>
            <a:ext cx="35231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2025–2029 · 2조 1,295억 → 4조 164억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66928" y="573328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CRM과 SaaS는 시장 정의가 달라 합산하지 않는다 · 영업 CRM 단독 시장 통계는 공개된 것이 없다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진입 조건은 근거 · 연결 · 승인 세 가지다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각 사 공식 제품 페이지(2026-09-15 확인) · 팀 시장 조사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09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66544"/>
            <a:ext cx="2917850" cy="734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818892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경쟁 현실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61995"/>
            <a:ext cx="291785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 미팅 요약과 후속조치
제안은 이미 존재한다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602" y="1865376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636922" y="2066544"/>
            <a:ext cx="2917850" cy="734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636922" y="2818892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초기 ICP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36922" y="3261995"/>
            <a:ext cx="2917850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문서 · 견적 · 계약이
복잡한 B2B 영업팀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8276" y="1865376"/>
            <a:ext cx="3466490" cy="3017520"/>
          </a:xfrm>
          <a:prstGeom prst="roundRect">
            <a:avLst>
              <a:gd name="adj" fmla="val 3636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8276" y="1865376"/>
            <a:ext cx="68580" cy="30175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5748" y="2066544"/>
            <a:ext cx="2844698" cy="7340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400" b="1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5748" y="2818892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차별화 조건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505748" y="3261995"/>
            <a:ext cx="2844698" cy="3017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근거 검색 + 데이터 연결
+ 담당자 승인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66928" y="5157216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566928" y="5157216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96112" y="5286375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성장하는 시장에서 우리가 고른 자리 — 근거를 대고, 데이터를 잇고, 사람이 승인한다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기본 기능은 세 제품 모두 갖추고 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각 사 공식 제품 페이지(2026-09-15 확인) · 기능군 판정은 팀 조사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10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65376"/>
          <a:ext cx="1105783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680106"/>
                <a:gridCol w="2680106"/>
                <a:gridCol w="2680106"/>
              </a:tblGrid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제품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고객 · 거래처 관리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파이프라인 · 딜 관리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영업 실적 · 매출 분석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세일즈맵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핑거세일즈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세일즈인사이트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△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SalesLuv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5961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● 제공        △ 일부        – 공개 자료에서 확인되지 않음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차이는 AI 유무가 아니라 승인이 순환하는 구조다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각 사 공식 제품 페이지(2026-09-15 확인) · 기능군 판정은 팀 조사 기준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11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65376"/>
          <a:ext cx="1105783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7520"/>
                <a:gridCol w="2286000"/>
                <a:gridCol w="2876702"/>
                <a:gridCol w="2877616"/>
              </a:tblGrid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제품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AI 기능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사용자 승인 후 업무 반영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승인 결과 → 다음 행동 순환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세일즈맵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△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핑거세일즈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세일즈인사이트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SalesLuv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●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5961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● 제공        △ 일부        – 공개 자료에서 확인되지 않음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SalesLuv가 더하는 것은 세 가지다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2834640"/>
          </a:xfrm>
          <a:prstGeom prst="roundRect">
            <a:avLst>
              <a:gd name="adj" fmla="val 387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2834640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322576"/>
            <a:ext cx="28264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근거 기반 추천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980944"/>
            <a:ext cx="282641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보고서와 자료를 검색해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출처와 함께 제안한다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2602" y="1865376"/>
            <a:ext cx="3466490" cy="2834640"/>
          </a:xfrm>
          <a:prstGeom prst="roundRect">
            <a:avLst>
              <a:gd name="adj" fmla="val 387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2602" y="1865376"/>
            <a:ext cx="68580" cy="2834640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10074" y="2322576"/>
            <a:ext cx="28264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Human-in-the-loop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10074" y="2980944"/>
            <a:ext cx="282641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 제안은 초안일 뿐,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담당자가 확정한다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158276" y="1865376"/>
            <a:ext cx="3466490" cy="2834640"/>
          </a:xfrm>
          <a:prstGeom prst="roundRect">
            <a:avLst>
              <a:gd name="adj" fmla="val 387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158276" y="1865376"/>
            <a:ext cx="68580" cy="283464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505748" y="2322576"/>
            <a:ext cx="282641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다음 행동으로 순환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505748" y="2980944"/>
            <a:ext cx="282641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승인 결과가 다시</a:t>
            </a:r>
          </a:p>
          <a:p>
            <a:pPr algn="l">
              <a:lnSpc>
                <a:spcPct val="150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다음 추천을 부른다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99262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99262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12178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경쟁 제품에도 AI는 있다. 다른 것은 승인 결과가 다음 행동으로 순환하는 구조다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기록이 초안이 되고, 승인이 다음 일정이 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558719" cy="2880360"/>
          </a:xfrm>
          <a:prstGeom prst="roundRect">
            <a:avLst>
              <a:gd name="adj" fmla="val 428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7" y="2066544"/>
            <a:ext cx="2010079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7" y="2789682"/>
            <a:ext cx="2010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미팅 기록 입력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7" y="3232785"/>
            <a:ext cx="2010079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 · 음성 STT
이미지 OCR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162223" y="3310128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3399967" y="1865376"/>
            <a:ext cx="2558719" cy="2880360"/>
          </a:xfrm>
          <a:prstGeom prst="roundRect">
            <a:avLst>
              <a:gd name="adj" fmla="val 428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74287" y="2066544"/>
            <a:ext cx="2010079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74287" y="2789682"/>
            <a:ext cx="2010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AI 초안 + 딜 승산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74287" y="3232785"/>
            <a:ext cx="2010079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딜별 귀속 · 13개 특성
성사 확률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5995263" y="3310128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6233007" y="1865376"/>
            <a:ext cx="2558719" cy="2880360"/>
          </a:xfrm>
          <a:prstGeom prst="roundRect">
            <a:avLst>
              <a:gd name="adj" fmla="val 4288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33007" y="1865376"/>
            <a:ext cx="68580" cy="288036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0479" y="2066544"/>
            <a:ext cx="1936927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80479" y="2789682"/>
            <a:ext cx="1936927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사람이 확정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80479" y="3232785"/>
            <a:ext cx="1936927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근거 대조 · 확정
팀장 검토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8828303" y="3310128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Rounded Rectangle 24"/>
          <p:cNvSpPr/>
          <p:nvPr/>
        </p:nvSpPr>
        <p:spPr>
          <a:xfrm>
            <a:off x="9066047" y="1865376"/>
            <a:ext cx="2558719" cy="2880360"/>
          </a:xfrm>
          <a:prstGeom prst="roundRect">
            <a:avLst>
              <a:gd name="adj" fmla="val 428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340367" y="2066544"/>
            <a:ext cx="2010079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40367" y="2789682"/>
            <a:ext cx="201007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다음 미팅 · 브리핑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40367" y="3232785"/>
            <a:ext cx="2010079" cy="2880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날짜 추천
캘린더 승인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020056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020056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49215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04의 승인 결과가 다시 01로 — 모든 기록은 딜(sales_deal) 하나로 연결된다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파일럿에서 네 개 지표로 검증한다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기획서 9장 · 파일럿 KPI 정의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558719" cy="1600200"/>
          </a:xfrm>
          <a:prstGeom prst="roundRect">
            <a:avLst>
              <a:gd name="adj" fmla="val 7428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[수치 입력 예정]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66928" y="3675887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222222"/>
                </a:solidFill>
                <a:latin typeface="Pretendard SemiBold"/>
              </a:rPr>
              <a:t>보고서 작성시간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4105656"/>
            <a:ext cx="2558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활성 작업시간 중앙값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399967" y="1865376"/>
            <a:ext cx="2558719" cy="1600200"/>
          </a:xfrm>
          <a:prstGeom prst="roundRect">
            <a:avLst>
              <a:gd name="adj" fmla="val 7428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[수치 입력 예정]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399967" y="3675887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222222"/>
                </a:solidFill>
                <a:latin typeface="Pretendard SemiBold"/>
              </a:rPr>
              <a:t>당일 제출률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399967" y="4105656"/>
            <a:ext cx="2558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당일 제출 ÷ 보고 대상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33007" y="1865376"/>
            <a:ext cx="2558719" cy="1600200"/>
          </a:xfrm>
          <a:prstGeom prst="roundRect">
            <a:avLst>
              <a:gd name="adj" fmla="val 7428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[수치 입력 예정]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33007" y="3675887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222222"/>
                </a:solidFill>
                <a:latin typeface="Pretendard SemiBold"/>
              </a:rPr>
              <a:t>필수정보 초회 완성률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33007" y="4105656"/>
            <a:ext cx="2558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첫 제출 필수항목 충족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9066047" y="1865376"/>
            <a:ext cx="2558719" cy="1600200"/>
          </a:xfrm>
          <a:prstGeom prst="roundRect">
            <a:avLst>
              <a:gd name="adj" fmla="val 7428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[수치 입력 예정]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66047" y="3675887"/>
            <a:ext cx="25587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222222"/>
                </a:solidFill>
                <a:latin typeface="Pretendard SemiBold"/>
              </a:rPr>
              <a:t>팀장 검토시간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066047" y="4105656"/>
            <a:ext cx="255871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검토 작업시간 중앙값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5157216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5157216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5286375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정량 수치는 파일럿에서 검증할 가설이며 실측값이 아니다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01 문제 정의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보고서는 아래 단계의 확정본 위에 쌓인다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6035040" cy="694944"/>
          </a:xfrm>
          <a:prstGeom prst="roundRect">
            <a:avLst>
              <a:gd name="adj" fmla="val 13157"/>
            </a:avLst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미팅 보고서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584448" y="2587752"/>
            <a:ext cx="0" cy="16459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914400" y="2779776"/>
            <a:ext cx="5340096" cy="694944"/>
          </a:xfrm>
          <a:prstGeom prst="roundRect">
            <a:avLst>
              <a:gd name="adj" fmla="val 13157"/>
            </a:avLst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Pretendard SemiBold"/>
              </a:rPr>
              <a:t>일일 업무보고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3584448" y="3502152"/>
            <a:ext cx="0" cy="16459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1261872" y="3694176"/>
            <a:ext cx="4645152" cy="694944"/>
          </a:xfrm>
          <a:prstGeom prst="roundRect">
            <a:avLst>
              <a:gd name="adj" fmla="val 13157"/>
            </a:avLst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Pretendard SemiBold"/>
              </a:rPr>
              <a:t>주간 업무보고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84448" y="4416552"/>
            <a:ext cx="0" cy="16459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1609344" y="4608576"/>
            <a:ext cx="3950207" cy="694944"/>
          </a:xfrm>
          <a:prstGeom prst="roundRect">
            <a:avLst>
              <a:gd name="adj" fmla="val 13157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FFFFFF"/>
                </a:solidFill>
                <a:latin typeface="Pretendard SemiBold"/>
              </a:rPr>
              <a:t>월간 업무보고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66928" y="5568696"/>
            <a:ext cx="6035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각 단계는 아래 단계의 확정 제출본을 원천으로 사용한다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150607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333488" y="1865376"/>
            <a:ext cx="44741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정성 효과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150607" y="2340864"/>
            <a:ext cx="4474159" cy="1024128"/>
          </a:xfrm>
          <a:prstGeom prst="roundRect">
            <a:avLst>
              <a:gd name="adj" fmla="val 1071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424927" y="2523744"/>
            <a:ext cx="3925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17437D"/>
                </a:solidFill>
                <a:latin typeface="Pretendard SemiBold"/>
              </a:rPr>
              <a:t>자동 집계 · 검증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24927" y="2907792"/>
            <a:ext cx="3925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흩어진 기록을 모아 숫자를 스스로 맞춘다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150607" y="3547872"/>
            <a:ext cx="4474159" cy="1024128"/>
          </a:xfrm>
          <a:prstGeom prst="roundRect">
            <a:avLst>
              <a:gd name="adj" fmla="val 1071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424927" y="3730752"/>
            <a:ext cx="3925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17437D"/>
                </a:solidFill>
                <a:latin typeface="Pretendard SemiBold"/>
              </a:rPr>
              <a:t>승인 기반 반영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24927" y="4114800"/>
            <a:ext cx="3925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확정된 내용만 CRM · 캘린더에 반영한다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0607" y="4754880"/>
            <a:ext cx="4474159" cy="1024128"/>
          </a:xfrm>
          <a:prstGeom prst="roundRect">
            <a:avLst>
              <a:gd name="adj" fmla="val 1071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24927" y="4937760"/>
            <a:ext cx="3925519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>
                <a:solidFill>
                  <a:srgbClr val="17437D"/>
                </a:solidFill>
                <a:latin typeface="Pretendard SemiBold"/>
              </a:rPr>
              <a:t>암묵지의 자산화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424927" y="5321808"/>
            <a:ext cx="392551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개인의 노하우가 조직의 기록으로 남는다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41732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1456F0"/>
                </a:solidFill>
                <a:latin typeface="Pretendard"/>
              </a:rPr>
              <a:t>02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310128"/>
            <a:ext cx="137160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Pretendard"/>
              </a:rPr>
              <a:t>설계와 구현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17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C4CFDD"/>
                </a:solidFill>
                <a:latin typeface="Pretendard Medium"/>
              </a:rPr>
              <a:t>그래서 어떻게 해결했는가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SemiBold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AI는 미팅을 준비하고 기록을 받아 적는다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사용자 시나리오 01 – 03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04288"/>
            <a:ext cx="3466490" cy="3108960"/>
          </a:xfrm>
          <a:prstGeom prst="roundRect">
            <a:avLst>
              <a:gd name="adj" fmla="val 352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505456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3228594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미팅 준비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671697"/>
            <a:ext cx="291785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영업·계약관리 에이전트가
다음 미팅을 추천하고
사람이 캘린더에 승인한다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62602" y="2304288"/>
            <a:ext cx="3466490" cy="3108960"/>
          </a:xfrm>
          <a:prstGeom prst="roundRect">
            <a:avLst>
              <a:gd name="adj" fmla="val 352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636922" y="2505456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922" y="3228594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사전 브리핑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922" y="3671697"/>
            <a:ext cx="291785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과거 보고서와 자료를
RAG로 찾아 근거와 함께
브리핑을 만든다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158276" y="2304288"/>
            <a:ext cx="3466490" cy="3108960"/>
          </a:xfrm>
          <a:prstGeom prst="roundRect">
            <a:avLst>
              <a:gd name="adj" fmla="val 352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432596" y="2505456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432596" y="3228594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미팅 후 입력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3671697"/>
            <a:ext cx="291785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원문을 직접 쓰거나
음성 파일 STT · 이미지 OCR로
기록을 올린다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554126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566928" y="554126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96112" y="567042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여기까지는 모두 AI가 준비한 초안 — 아직 확정된 것은 없다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확정은 사람이 하고, 그 확정이 다음을 부른다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구현 코드(develop,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사용자 시나리오 04 – 06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04288"/>
            <a:ext cx="3466490" cy="3108960"/>
          </a:xfrm>
          <a:prstGeom prst="roundRect">
            <a:avLst>
              <a:gd name="adj" fmla="val 3529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66928" y="2304288"/>
            <a:ext cx="68580" cy="310896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2505456"/>
            <a:ext cx="2844698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228594"/>
            <a:ext cx="2844698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보고서 확정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3671697"/>
            <a:ext cx="2844698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사람이 확정해야
저장된다
AI 단독 저장은 없다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62602" y="2304288"/>
            <a:ext cx="3466490" cy="3108960"/>
          </a:xfrm>
          <a:prstGeom prst="roundRect">
            <a:avLst>
              <a:gd name="adj" fmla="val 352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36922" y="2505456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922" y="3228594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보고서 누적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922" y="3671697"/>
            <a:ext cx="291785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확정본이 RAG에 적재되고
다음 미팅 추천
트리거가 걸린다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58276" y="2304288"/>
            <a:ext cx="3466490" cy="3108960"/>
          </a:xfrm>
          <a:prstGeom prst="roundRect">
            <a:avLst>
              <a:gd name="adj" fmla="val 3529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2596" y="2505456"/>
            <a:ext cx="2917850" cy="70484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60A5FA"/>
                </a:solidFill>
                <a:latin typeface="Pretendard"/>
              </a:rPr>
              <a:t>06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2596" y="3228594"/>
            <a:ext cx="291785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222222"/>
                </a:solidFill>
                <a:latin typeface="Pretendard SemiBold"/>
              </a:rPr>
              <a:t>기간 보고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32596" y="3671697"/>
            <a:ext cx="2917850" cy="3108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일일 · 주간 · 월간으로
묶여 팀장 검토로
올라간다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554126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554126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67042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확정 결과가 다시 01 미팅 준비로 순환한다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한 번의 영업 사이클을 실제 화면으로 따라간다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19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65376"/>
            <a:ext cx="6766560" cy="3806190"/>
          </a:xfrm>
          <a:prstGeom prst="roundRect">
            <a:avLst>
              <a:gd name="adj" fmla="val 3123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8E8E93"/>
                </a:solidFill>
                <a:latin typeface="Pretendard Medium"/>
              </a:rPr>
              <a:t>시연 영상 (16:9)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5799582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[시연 동선 한 줄 입력 예정]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9068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973567" y="1865376"/>
            <a:ext cx="383407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시연 체크포인트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790688" y="2340864"/>
            <a:ext cx="3834079" cy="585216"/>
          </a:xfrm>
          <a:prstGeom prst="roundRect">
            <a:avLst>
              <a:gd name="adj" fmla="val 187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28431" y="2496312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75904" y="2496312"/>
            <a:ext cx="3029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자료실 업로드 → 요약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790688" y="3035808"/>
            <a:ext cx="3834079" cy="585216"/>
          </a:xfrm>
          <a:prstGeom prst="roundRect">
            <a:avLst>
              <a:gd name="adj" fmla="val 187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28431" y="3191256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75904" y="3191256"/>
            <a:ext cx="3029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캘린더 추천 승인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90688" y="3730752"/>
            <a:ext cx="3834079" cy="585216"/>
          </a:xfrm>
          <a:prstGeom prst="roundRect">
            <a:avLst>
              <a:gd name="adj" fmla="val 187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28431" y="3886200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75904" y="3886200"/>
            <a:ext cx="3029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AI 브리핑 확인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790688" y="4425696"/>
            <a:ext cx="3834079" cy="585216"/>
          </a:xfrm>
          <a:prstGeom prst="roundRect">
            <a:avLst>
              <a:gd name="adj" fmla="val 187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028431" y="4581144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75904" y="4581144"/>
            <a:ext cx="3029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미팅 원문 → 초안 생성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790688" y="5120640"/>
            <a:ext cx="3834079" cy="585216"/>
          </a:xfrm>
          <a:prstGeom prst="roundRect">
            <a:avLst>
              <a:gd name="adj" fmla="val 1875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28431" y="527608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1456F0"/>
                </a:solidFill>
                <a:latin typeface="Pretendard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75904" y="5276088"/>
            <a:ext cx="302940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보고서 확정 → 다음 추천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이 프로젝트를 만든 기술 조합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frontend/package.json · backend/uv.lock · 운영 설정값(2026-09-11 확인)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690573" cy="3767328"/>
          </a:xfrm>
          <a:prstGeom prst="roundRect">
            <a:avLst>
              <a:gd name="adj" fmla="val 649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2084832"/>
            <a:ext cx="1690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FRONTEND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768096" y="2450592"/>
            <a:ext cx="1288237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Picture 11" descr="reac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6766" y="2615184"/>
            <a:ext cx="310896" cy="31089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58368" y="2980944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React 19</a:t>
            </a:r>
          </a:p>
        </p:txBody>
      </p:sp>
      <p:pic>
        <p:nvPicPr>
          <p:cNvPr id="14" name="Picture 13" descr="typescrip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56766" y="3200400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58368" y="356616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TypeScript</a:t>
            </a:r>
          </a:p>
        </p:txBody>
      </p:sp>
      <p:pic>
        <p:nvPicPr>
          <p:cNvPr id="16" name="Picture 15" descr="vit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56766" y="3785615"/>
            <a:ext cx="310896" cy="310896"/>
          </a:xfrm>
          <a:prstGeom prst="rect">
            <a:avLst/>
          </a:prstGeom>
        </p:spPr>
      </p:pic>
      <p:sp>
        <p:nvSpPr>
          <p:cNvPr id="17" name="TextBox 16"/>
          <p:cNvSpPr txBox="1"/>
          <p:nvPr/>
        </p:nvSpPr>
        <p:spPr>
          <a:xfrm>
            <a:off x="658368" y="4151376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Vite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440381" y="1865376"/>
            <a:ext cx="1690573" cy="3767328"/>
          </a:xfrm>
          <a:prstGeom prst="roundRect">
            <a:avLst>
              <a:gd name="adj" fmla="val 649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440381" y="2084832"/>
            <a:ext cx="1690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BACKEND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2641549" y="2450592"/>
            <a:ext cx="1288237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1" name="Picture 20" descr="fastapi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130219" y="2615184"/>
            <a:ext cx="310896" cy="310896"/>
          </a:xfrm>
          <a:prstGeom prst="rect">
            <a:avLst/>
          </a:prstGeom>
        </p:spPr>
      </p:pic>
      <p:sp>
        <p:nvSpPr>
          <p:cNvPr id="22" name="TextBox 21"/>
          <p:cNvSpPr txBox="1"/>
          <p:nvPr/>
        </p:nvSpPr>
        <p:spPr>
          <a:xfrm>
            <a:off x="2531821" y="2980944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FastAPI</a:t>
            </a:r>
          </a:p>
        </p:txBody>
      </p:sp>
      <p:pic>
        <p:nvPicPr>
          <p:cNvPr id="23" name="Picture 22" descr="python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130219" y="3200400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531821" y="356616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Python 3.13</a:t>
            </a:r>
          </a:p>
        </p:txBody>
      </p:sp>
      <p:pic>
        <p:nvPicPr>
          <p:cNvPr id="25" name="Picture 24" descr="sqlalchemy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130219" y="3785615"/>
            <a:ext cx="310896" cy="310896"/>
          </a:xfrm>
          <a:prstGeom prst="rect">
            <a:avLst/>
          </a:prstGeom>
        </p:spPr>
      </p:pic>
      <p:sp>
        <p:nvSpPr>
          <p:cNvPr id="26" name="TextBox 25"/>
          <p:cNvSpPr txBox="1"/>
          <p:nvPr/>
        </p:nvSpPr>
        <p:spPr>
          <a:xfrm>
            <a:off x="2531821" y="4151376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SQLAlchemy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4313834" y="1865376"/>
            <a:ext cx="1690573" cy="3767328"/>
          </a:xfrm>
          <a:prstGeom prst="roundRect">
            <a:avLst>
              <a:gd name="adj" fmla="val 649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313834" y="2084832"/>
            <a:ext cx="1690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DATABASE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4515002" y="2450592"/>
            <a:ext cx="1288237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0" name="Picture 29" descr="supabas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03673" y="2615184"/>
            <a:ext cx="310896" cy="310896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4405274" y="2980944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Supabase</a:t>
            </a:r>
          </a:p>
        </p:txBody>
      </p:sp>
      <p:pic>
        <p:nvPicPr>
          <p:cNvPr id="32" name="Picture 31" descr="postgresql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003673" y="3200400"/>
            <a:ext cx="310896" cy="310896"/>
          </a:xfrm>
          <a:prstGeom prst="rect">
            <a:avLst/>
          </a:prstGeom>
        </p:spPr>
      </p:pic>
      <p:sp>
        <p:nvSpPr>
          <p:cNvPr id="33" name="TextBox 32"/>
          <p:cNvSpPr txBox="1"/>
          <p:nvPr/>
        </p:nvSpPr>
        <p:spPr>
          <a:xfrm>
            <a:off x="4405274" y="356616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PostgreSQL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03673" y="3785615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Pretendard"/>
              </a:rPr>
              <a:t>P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405274" y="4151376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pgvector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6187287" y="1865376"/>
            <a:ext cx="1690573" cy="3767328"/>
          </a:xfrm>
          <a:prstGeom prst="roundRect">
            <a:avLst>
              <a:gd name="adj" fmla="val 649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187287" y="2084832"/>
            <a:ext cx="1690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56F0"/>
                </a:solidFill>
                <a:latin typeface="Pretendard"/>
              </a:rPr>
              <a:t>AI · ML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6388455" y="2450592"/>
            <a:ext cx="1288237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39" name="Picture 38" descr="openai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877126" y="2615184"/>
            <a:ext cx="310896" cy="310896"/>
          </a:xfrm>
          <a:prstGeom prst="rect">
            <a:avLst/>
          </a:prstGeom>
        </p:spPr>
      </p:pic>
      <p:sp>
        <p:nvSpPr>
          <p:cNvPr id="40" name="TextBox 39"/>
          <p:cNvSpPr txBox="1"/>
          <p:nvPr/>
        </p:nvSpPr>
        <p:spPr>
          <a:xfrm>
            <a:off x="6278727" y="2980944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OpenAI API</a:t>
            </a:r>
          </a:p>
        </p:txBody>
      </p:sp>
      <p:pic>
        <p:nvPicPr>
          <p:cNvPr id="41" name="Picture 40" descr="langchain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6877126" y="3200400"/>
            <a:ext cx="310896" cy="310896"/>
          </a:xfrm>
          <a:prstGeom prst="rect">
            <a:avLst/>
          </a:prstGeom>
        </p:spPr>
      </p:pic>
      <p:sp>
        <p:nvSpPr>
          <p:cNvPr id="42" name="TextBox 41"/>
          <p:cNvSpPr txBox="1"/>
          <p:nvPr/>
        </p:nvSpPr>
        <p:spPr>
          <a:xfrm>
            <a:off x="6278727" y="356616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LangChain</a:t>
            </a:r>
          </a:p>
        </p:txBody>
      </p:sp>
      <p:pic>
        <p:nvPicPr>
          <p:cNvPr id="43" name="Picture 42" descr="scikitlearn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877126" y="3785615"/>
            <a:ext cx="310896" cy="310896"/>
          </a:xfrm>
          <a:prstGeom prst="rect">
            <a:avLst/>
          </a:prstGeom>
        </p:spPr>
      </p:pic>
      <p:sp>
        <p:nvSpPr>
          <p:cNvPr id="44" name="TextBox 43"/>
          <p:cNvSpPr txBox="1"/>
          <p:nvPr/>
        </p:nvSpPr>
        <p:spPr>
          <a:xfrm>
            <a:off x="6278727" y="4151376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scikit-learn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6877126" y="4370831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Pretendard"/>
              </a:rPr>
              <a:t>C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278727" y="4736592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CatBoost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6877126" y="4956048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Pretendard"/>
              </a:rPr>
              <a:t>D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278727" y="5321808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DeepAgents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060740" y="1865376"/>
            <a:ext cx="1690573" cy="3767328"/>
          </a:xfrm>
          <a:prstGeom prst="roundRect">
            <a:avLst>
              <a:gd name="adj" fmla="val 649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060740" y="2084832"/>
            <a:ext cx="1690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56F0"/>
                </a:solidFill>
                <a:latin typeface="Pretendard"/>
              </a:rPr>
              <a:t>OCR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261908" y="2450592"/>
            <a:ext cx="1288238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8750579" y="2615184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Pretendard"/>
              </a:rPr>
              <a:t>P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152180" y="2980944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PaddleOCR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8750579" y="3200400"/>
            <a:ext cx="310896" cy="310896"/>
          </a:xfrm>
          <a:prstGeom prst="roundRect">
            <a:avLst>
              <a:gd name="adj" fmla="val 17647"/>
            </a:avLst>
          </a:prstGeom>
          <a:solidFill>
            <a:srgbClr val="F5F6F8"/>
          </a:solidFill>
          <a:ln w="12700">
            <a:solidFill>
              <a:srgbClr val="E5E7E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2563EB"/>
                </a:solidFill>
                <a:latin typeface="Pretendard"/>
              </a:rPr>
              <a:t>R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8152180" y="356616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RunPod GPU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934194" y="1865376"/>
            <a:ext cx="1690573" cy="3767328"/>
          </a:xfrm>
          <a:prstGeom prst="roundRect">
            <a:avLst>
              <a:gd name="adj" fmla="val 649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9934194" y="2084832"/>
            <a:ext cx="169057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INFRA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10135362" y="2450592"/>
            <a:ext cx="1288237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9" name="Picture 58" descr="docker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0624032" y="2615184"/>
            <a:ext cx="310896" cy="310896"/>
          </a:xfrm>
          <a:prstGeom prst="rect">
            <a:avLst/>
          </a:prstGeom>
        </p:spPr>
      </p:pic>
      <p:sp>
        <p:nvSpPr>
          <p:cNvPr id="60" name="TextBox 59"/>
          <p:cNvSpPr txBox="1"/>
          <p:nvPr/>
        </p:nvSpPr>
        <p:spPr>
          <a:xfrm>
            <a:off x="10025634" y="2980944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Docker</a:t>
            </a:r>
          </a:p>
        </p:txBody>
      </p:sp>
      <p:pic>
        <p:nvPicPr>
          <p:cNvPr id="61" name="Picture 60" descr="githubactions.png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0624032" y="3200400"/>
            <a:ext cx="310896" cy="310896"/>
          </a:xfrm>
          <a:prstGeom prst="rect">
            <a:avLst/>
          </a:prstGeom>
        </p:spPr>
      </p:pic>
      <p:sp>
        <p:nvSpPr>
          <p:cNvPr id="62" name="TextBox 61"/>
          <p:cNvSpPr txBox="1"/>
          <p:nvPr/>
        </p:nvSpPr>
        <p:spPr>
          <a:xfrm>
            <a:off x="10025634" y="3566160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GitHub Actions</a:t>
            </a:r>
          </a:p>
        </p:txBody>
      </p:sp>
      <p:pic>
        <p:nvPicPr>
          <p:cNvPr id="63" name="Picture 62" descr="amazonwebservices.png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0624032" y="3785615"/>
            <a:ext cx="310896" cy="310896"/>
          </a:xfrm>
          <a:prstGeom prst="rect">
            <a:avLst/>
          </a:prstGeom>
        </p:spPr>
      </p:pic>
      <p:sp>
        <p:nvSpPr>
          <p:cNvPr id="64" name="TextBox 63"/>
          <p:cNvSpPr txBox="1"/>
          <p:nvPr/>
        </p:nvSpPr>
        <p:spPr>
          <a:xfrm>
            <a:off x="10025634" y="4151376"/>
            <a:ext cx="150769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222222"/>
                </a:solidFill>
                <a:latin typeface="Pretendard Medium"/>
              </a:rPr>
              <a:t>AWS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566928" y="5705856"/>
            <a:ext cx="11057839" cy="347472"/>
          </a:xfrm>
          <a:prstGeom prst="roundRect">
            <a:avLst>
              <a:gd name="adj" fmla="val 31578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566928" y="5705856"/>
            <a:ext cx="68580" cy="34747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877824" y="5769864"/>
            <a:ext cx="105091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7437D"/>
                </a:solidFill>
                <a:latin typeface="Pretendard SemiBold"/>
              </a:rPr>
              <a:t>LLM gpt-5.6-luna · STT gpt-4o-transcribe · OCR PaddleOCR (RunPod GPU) · provider adapter로 교체 가능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입구는 하나, 오래 걸리는 AI 작업은 따로 뗐다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deploy/backend/deploy.sh · backend/app/services/agent_worker.py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063239" y="1865376"/>
            <a:ext cx="2377440" cy="457200"/>
          </a:xfrm>
          <a:prstGeom prst="roundRect">
            <a:avLst>
              <a:gd name="adj" fmla="val 24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66928" y="1984248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8E8E93"/>
                </a:solidFill>
                <a:latin typeface="Pretendard"/>
              </a:rPr>
              <a:t>CLIENT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355847" y="1956816"/>
            <a:ext cx="1856232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사용자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737360" y="2414016"/>
            <a:ext cx="5029200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66928" y="263347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EDGE</a:t>
            </a:r>
          </a:p>
        </p:txBody>
      </p:sp>
      <p:pic>
        <p:nvPicPr>
          <p:cNvPr id="14" name="Picture 13" descr="amazonwebservice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9967" y="2587752"/>
            <a:ext cx="310896" cy="310896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523744" y="2523744"/>
            <a:ext cx="40142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CloudFront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단일 HTTPS 진입점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4251960" y="2322576"/>
            <a:ext cx="0" cy="7315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086600" y="2414016"/>
            <a:ext cx="4535424" cy="658368"/>
          </a:xfrm>
          <a:prstGeom prst="roundRect">
            <a:avLst>
              <a:gd name="adj" fmla="val 1666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18" name="Picture 17" descr="amazons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60920" y="2596896"/>
            <a:ext cx="292608" cy="292608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7781544" y="2523744"/>
            <a:ext cx="36210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S3 (Private)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React SPA 정적 호스팅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6803136" y="2743200"/>
            <a:ext cx="246888" cy="0"/>
          </a:xfrm>
          <a:prstGeom prst="line">
            <a:avLst/>
          </a:prstGeom>
          <a:ln w="19050">
            <a:solidFill>
              <a:srgbClr val="BFDBF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737360" y="3163824"/>
            <a:ext cx="5029200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66928" y="3383280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2563EB"/>
                </a:solidFill>
                <a:latin typeface="Pretendard"/>
              </a:rPr>
              <a:t>APP</a:t>
            </a:r>
          </a:p>
        </p:txBody>
      </p:sp>
      <p:pic>
        <p:nvPicPr>
          <p:cNvPr id="23" name="Picture 22" descr="amazonec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29967" y="3337560"/>
            <a:ext cx="310896" cy="310896"/>
          </a:xfrm>
          <a:prstGeom prst="rect">
            <a:avLst/>
          </a:prstGeom>
        </p:spPr>
      </p:pic>
      <p:sp>
        <p:nvSpPr>
          <p:cNvPr id="24" name="TextBox 23"/>
          <p:cNvSpPr txBox="1"/>
          <p:nvPr/>
        </p:nvSpPr>
        <p:spPr>
          <a:xfrm>
            <a:off x="2523744" y="3273552"/>
            <a:ext cx="40142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EC2 · Nginx · FastAPI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API 서버 · SSE 진행 상황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251960" y="3072384"/>
            <a:ext cx="0" cy="7315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7086600" y="3163824"/>
            <a:ext cx="4535424" cy="658368"/>
          </a:xfrm>
          <a:prstGeom prst="roundRect">
            <a:avLst>
              <a:gd name="adj" fmla="val 1666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781544" y="3273552"/>
            <a:ext cx="36210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OCR · STT 동기 호출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RunPod PaddleOCR · gpt-4o-transcribe</a:t>
            </a:r>
          </a:p>
        </p:txBody>
      </p:sp>
      <p:cxnSp>
        <p:nvCxnSpPr>
          <p:cNvPr id="28" name="Connector 27"/>
          <p:cNvCxnSpPr/>
          <p:nvPr/>
        </p:nvCxnSpPr>
        <p:spPr>
          <a:xfrm>
            <a:off x="6803136" y="3493008"/>
            <a:ext cx="246888" cy="0"/>
          </a:xfrm>
          <a:prstGeom prst="line">
            <a:avLst/>
          </a:prstGeom>
          <a:ln w="19050">
            <a:solidFill>
              <a:srgbClr val="BFDBF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Rounded Rectangle 28"/>
          <p:cNvSpPr/>
          <p:nvPr/>
        </p:nvSpPr>
        <p:spPr>
          <a:xfrm>
            <a:off x="1737360" y="3913632"/>
            <a:ext cx="5029200" cy="1042415"/>
          </a:xfrm>
          <a:prstGeom prst="roundRect">
            <a:avLst>
              <a:gd name="adj" fmla="val 10526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66928" y="4325112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1456F0"/>
                </a:solidFill>
                <a:latin typeface="Pretendard"/>
              </a:rPr>
              <a:t>DATA</a:t>
            </a:r>
          </a:p>
        </p:txBody>
      </p:sp>
      <p:pic>
        <p:nvPicPr>
          <p:cNvPr id="31" name="Picture 30" descr="supabas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029967" y="4279392"/>
            <a:ext cx="310896" cy="310896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2523744" y="4023360"/>
            <a:ext cx="4014216" cy="1042415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Supabase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PostgreSQL · pgvector · Auth · Storage</a:t>
            </a:r>
          </a:p>
          <a:p>
            <a:pPr algn="l">
              <a:lnSpc>
                <a:spcPct val="130000"/>
              </a:lnSpc>
              <a:spcBef>
                <a:spcPts val="10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agent_run 작업 큐</a:t>
            </a:r>
          </a:p>
        </p:txBody>
      </p:sp>
      <p:cxnSp>
        <p:nvCxnSpPr>
          <p:cNvPr id="33" name="Connector 32"/>
          <p:cNvCxnSpPr/>
          <p:nvPr/>
        </p:nvCxnSpPr>
        <p:spPr>
          <a:xfrm>
            <a:off x="4251960" y="3822191"/>
            <a:ext cx="0" cy="73153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Rounded Rectangle 33"/>
          <p:cNvSpPr/>
          <p:nvPr/>
        </p:nvSpPr>
        <p:spPr>
          <a:xfrm>
            <a:off x="1737360" y="5047488"/>
            <a:ext cx="5029200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66928" y="5266944"/>
            <a:ext cx="10972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>
                <a:solidFill>
                  <a:srgbClr val="3B82F6"/>
                </a:solidFill>
                <a:latin typeface="Pretendard"/>
              </a:rPr>
              <a:t>ASYNC</a:t>
            </a:r>
          </a:p>
        </p:txBody>
      </p:sp>
      <p:pic>
        <p:nvPicPr>
          <p:cNvPr id="36" name="Picture 35" descr="docker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29967" y="5221224"/>
            <a:ext cx="310896" cy="310896"/>
          </a:xfrm>
          <a:prstGeom prst="rect">
            <a:avLst/>
          </a:prstGeom>
        </p:spPr>
      </p:pic>
      <p:sp>
        <p:nvSpPr>
          <p:cNvPr id="37" name="TextBox 36"/>
          <p:cNvSpPr txBox="1"/>
          <p:nvPr/>
        </p:nvSpPr>
        <p:spPr>
          <a:xfrm>
            <a:off x="2523744" y="5157216"/>
            <a:ext cx="4014216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Agent Worker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큐 폴링 · 별도 Docker 컨테이너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4251960" y="4956048"/>
            <a:ext cx="0" cy="7315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086600" y="5047488"/>
            <a:ext cx="4535424" cy="658368"/>
          </a:xfrm>
          <a:prstGeom prst="roundRect">
            <a:avLst>
              <a:gd name="adj" fmla="val 16666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0" name="Picture 39" descr="openai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360920" y="5230368"/>
            <a:ext cx="292608" cy="292608"/>
          </a:xfrm>
          <a:prstGeom prst="rect">
            <a:avLst/>
          </a:prstGeom>
        </p:spPr>
      </p:pic>
      <p:sp>
        <p:nvSpPr>
          <p:cNvPr id="41" name="TextBox 40"/>
          <p:cNvSpPr txBox="1"/>
          <p:nvPr/>
        </p:nvSpPr>
        <p:spPr>
          <a:xfrm>
            <a:off x="7781544" y="5157216"/>
            <a:ext cx="3621024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OpenAI gpt-5.6-luna</a:t>
            </a:r>
          </a:p>
          <a:p>
            <a:pPr algn="l">
              <a:lnSpc>
                <a:spcPct val="130000"/>
              </a:lnSpc>
              <a:spcBef>
                <a:spcPts val="40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보고서 · 미팅분석 생성</a:t>
            </a:r>
          </a:p>
        </p:txBody>
      </p:sp>
      <p:cxnSp>
        <p:nvCxnSpPr>
          <p:cNvPr id="42" name="Connector 41"/>
          <p:cNvCxnSpPr/>
          <p:nvPr/>
        </p:nvCxnSpPr>
        <p:spPr>
          <a:xfrm>
            <a:off x="6803136" y="5376672"/>
            <a:ext cx="246888" cy="0"/>
          </a:xfrm>
          <a:prstGeom prst="line">
            <a:avLst/>
          </a:prstGeom>
          <a:ln w="19050">
            <a:solidFill>
              <a:srgbClr val="BFDBFE"/>
            </a:solidFill>
            <a:tailEnd type="triangle" w="med" len="med"/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Rounded Rectangle 42"/>
          <p:cNvSpPr/>
          <p:nvPr/>
        </p:nvSpPr>
        <p:spPr>
          <a:xfrm>
            <a:off x="566928" y="5779008"/>
            <a:ext cx="11057839" cy="384048"/>
          </a:xfrm>
          <a:prstGeom prst="roundRect">
            <a:avLst>
              <a:gd name="adj" fmla="val 2857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66928" y="5779008"/>
            <a:ext cx="68580" cy="38404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877824" y="5852160"/>
            <a:ext cx="1050919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17437D"/>
                </a:solidFill>
                <a:latin typeface="Pretendard SemiBold"/>
              </a:rPr>
              <a:t>배포    GitHub Actions → OIDC → SSM 원격 실행    ·    무중단 blue / green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다섯 에이전트가 판단 · 초안 · 제안을 나눠 맡는다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backend/app/agents/ 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1057839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65836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39112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미팅분석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675887" y="2048256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판단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367528" y="2057400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원문에서 딜별 귀속과 성사 확률을 만든다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2651760"/>
            <a:ext cx="11057839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66928" y="2651760"/>
            <a:ext cx="68580" cy="658368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96112" y="2825496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영업 · 계약관리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75887" y="2834640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상태 허브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367528" y="2843784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위험 신호와 이력을 보고 다음 미팅을 제안한다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3438144"/>
            <a:ext cx="11057839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3438144"/>
            <a:ext cx="68580" cy="658368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3611879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보고서 작성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3675887" y="36210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367528" y="3630168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원문과 하위 확정 보고서로 초안을 쓴다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566928" y="4224528"/>
            <a:ext cx="11057839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66928" y="4224528"/>
            <a:ext cx="68580" cy="658368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4398264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일정관리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675887" y="4407408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367528" y="4416552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저장된 추천이 아직 유효한지 다시 판단한다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66928" y="5010912"/>
            <a:ext cx="11057839" cy="658368"/>
          </a:xfrm>
          <a:prstGeom prst="roundRect">
            <a:avLst>
              <a:gd name="adj" fmla="val 1666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66928" y="5010912"/>
            <a:ext cx="68580" cy="658368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96112" y="5184648"/>
            <a:ext cx="26517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자료요약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3675887" y="5193792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367528" y="5202936"/>
            <a:ext cx="59371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문서를 구조화 요약하고 RAG 청크로 적재한다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판단과 제안을 만드는 두 에이전트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backend/app/agents/ 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5300319" cy="3977639"/>
          </a:xfrm>
          <a:prstGeom prst="roundRect">
            <a:avLst>
              <a:gd name="adj" fmla="val 275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3977639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미팅분석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7066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판단 생성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552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29584"/>
            <a:ext cx="46602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원문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599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34256"/>
            <a:ext cx="46602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딜별 귀속 · 13개 특성 · 성사 확률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38928"/>
            <a:ext cx="46602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확정할 때 저장된다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24447" y="1865376"/>
            <a:ext cx="5300319" cy="3977639"/>
          </a:xfrm>
          <a:prstGeom prst="roundRect">
            <a:avLst>
              <a:gd name="adj" fmla="val 275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324447" y="1865376"/>
            <a:ext cx="68580" cy="3977639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71919" y="2194560"/>
            <a:ext cx="466023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영업 · 계약관리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671919" y="27066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상태 허브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1919" y="32552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1919" y="3529584"/>
            <a:ext cx="46602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위험 신호 7종 · 이력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671919" y="40599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1919" y="4334256"/>
            <a:ext cx="46602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다음 미팅 제안 · 근거 브리핑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71919" y="4864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671919" y="5138928"/>
            <a:ext cx="46602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캘린더 승인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실행을 돕는 세 에이전트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backend/app/agents/ 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24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3977639"/>
          </a:xfrm>
          <a:prstGeom prst="roundRect">
            <a:avLst>
              <a:gd name="adj" fmla="val 31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3977639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2194560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보고서 작성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914400" y="27066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2552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29584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 · 하위 확정 보고서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0599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4334256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작성 → 검토 → 수정 초안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4864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5138928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확정 · 팀장 검토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62602" y="1865376"/>
            <a:ext cx="3466490" cy="3977639"/>
          </a:xfrm>
          <a:prstGeom prst="roundRect">
            <a:avLst>
              <a:gd name="adj" fmla="val 31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362602" y="1865376"/>
            <a:ext cx="68580" cy="3977639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10074" y="2194560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일정관리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10074" y="27066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10074" y="32552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710074" y="3529584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저장된 추천 · 딜 상태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10074" y="40599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710074" y="4334256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유효 / 재생성 / 무시 판단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10074" y="4864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710074" y="5138928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승인 · 거절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158276" y="1865376"/>
            <a:ext cx="3466490" cy="3977639"/>
          </a:xfrm>
          <a:prstGeom prst="roundRect">
            <a:avLst>
              <a:gd name="adj" fmla="val 31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8158276" y="1865376"/>
            <a:ext cx="68580" cy="3977639"/>
          </a:xfrm>
          <a:prstGeom prst="rect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505748" y="2194560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자료요약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505748" y="2706624"/>
            <a:ext cx="1417320" cy="310896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0" bIns="0"/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2563EB"/>
                </a:solidFill>
                <a:latin typeface="Pretendard SemiBold"/>
              </a:rPr>
              <a:t>실행 지원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05748" y="3255264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입력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05748" y="3529584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PDF · DOCX · 이미지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05748" y="4059936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출력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05748" y="4334256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구조화 요약 · RAG 청크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05748" y="4864608"/>
            <a:ext cx="11887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사람 확인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05748" y="5138928"/>
            <a:ext cx="2826410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원문 대조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ML · OCR · Agent는 서로 다른 일을 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backend/app/agents · OCR 고도화 전후 최종 결과보고서(2026-09-17)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1057839" cy="1261872"/>
          </a:xfrm>
          <a:prstGeom prst="roundRect">
            <a:avLst>
              <a:gd name="adj" fmla="val 869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126187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176272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437D"/>
                </a:solidFill>
                <a:latin typeface="Pretendard"/>
              </a:rPr>
              <a:t>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6112" y="256032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딜 승산 예측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35808" y="208483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미팅 원문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95595" y="249631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60771" y="208483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딜 13개 특성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20559" y="249631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85735" y="208483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Stacking_LR 모델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45523" y="249631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710699" y="208483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성사 확률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66928" y="3328415"/>
            <a:ext cx="11057839" cy="1261872"/>
          </a:xfrm>
          <a:prstGeom prst="roundRect">
            <a:avLst>
              <a:gd name="adj" fmla="val 869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566928" y="3328415"/>
            <a:ext cx="68580" cy="1261872"/>
          </a:xfrm>
          <a:prstGeom prst="rect">
            <a:avLst/>
          </a:prstGeom>
          <a:solidFill>
            <a:srgbClr val="3B82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96112" y="3639311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437D"/>
                </a:solidFill>
                <a:latin typeface="Pretendard"/>
              </a:rPr>
              <a:t>OCR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96112" y="4023359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문서 텍스트 추출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3035808" y="354787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문서 · 이미지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4995595" y="395935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5260771" y="354787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RunPod PDF OCR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7220559" y="395935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Rounded Rectangle 27"/>
          <p:cNvSpPr/>
          <p:nvPr/>
        </p:nvSpPr>
        <p:spPr>
          <a:xfrm>
            <a:off x="7485735" y="354787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한글 누락 시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PNG 재시도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445523" y="395935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/>
          <p:cNvSpPr/>
          <p:nvPr/>
        </p:nvSpPr>
        <p:spPr>
          <a:xfrm>
            <a:off x="9710699" y="354787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필드 추출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고객 · 계약 등록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566928" y="4791456"/>
            <a:ext cx="11057839" cy="1261872"/>
          </a:xfrm>
          <a:prstGeom prst="roundRect">
            <a:avLst>
              <a:gd name="adj" fmla="val 869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566928" y="4791456"/>
            <a:ext cx="68580" cy="126187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6112" y="5102352"/>
            <a:ext cx="182880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200" b="1">
                <a:solidFill>
                  <a:srgbClr val="17437D"/>
                </a:solidFill>
                <a:latin typeface="Pretendard"/>
              </a:rPr>
              <a:t>Agent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96112" y="5486400"/>
            <a:ext cx="1828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45515E"/>
                </a:solidFill>
                <a:latin typeface="Pretendard"/>
              </a:rPr>
              <a:t>초안과 제안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3035808" y="501091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업무 트리거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4995595" y="542239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5260771" y="501091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agent_run 큐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7220559" y="542239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Rounded Rectangle 38"/>
          <p:cNvSpPr/>
          <p:nvPr/>
        </p:nvSpPr>
        <p:spPr>
          <a:xfrm>
            <a:off x="7485735" y="501091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에이전트 초안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445523" y="5422392"/>
            <a:ext cx="219456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ounded Rectangle 40"/>
          <p:cNvSpPr/>
          <p:nvPr/>
        </p:nvSpPr>
        <p:spPr>
          <a:xfrm>
            <a:off x="9710699" y="5010912"/>
            <a:ext cx="1914067" cy="822959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222222"/>
                </a:solidFill>
                <a:latin typeface="Pretendard SemiBold"/>
              </a:rPr>
              <a:t>사람이 확정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트리거와 작업 큐로 잇고, 사람이 닫는다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backend/app/services/agent_runs.py · agent_worker.py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26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572435" cy="3657600"/>
          </a:xfrm>
          <a:prstGeom prst="roundRect">
            <a:avLst>
              <a:gd name="adj" fmla="val 4265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04672" y="2103120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업무 트리거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04672" y="2560320"/>
            <a:ext cx="2096947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ectangle 11"/>
          <p:cNvSpPr/>
          <p:nvPr/>
        </p:nvSpPr>
        <p:spPr>
          <a:xfrm>
            <a:off x="804672" y="2825496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7552" y="2724912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자료 업로드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04672" y="3392424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7552" y="3291840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보고서 생성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" y="3959352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3858768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 확정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04672" y="4526280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87552" y="4425696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일정 등록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672" y="5093208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87552" y="4992624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딜 단계 이동 외 3건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3175939" y="3694176"/>
            <a:ext cx="18288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3395395" y="1865376"/>
            <a:ext cx="2572435" cy="3657600"/>
          </a:xfrm>
          <a:prstGeom prst="roundRect">
            <a:avLst>
              <a:gd name="adj" fmla="val 42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633139" y="2103120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작업 큐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3633139" y="2560320"/>
            <a:ext cx="2096948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3633139" y="2825496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3816019" y="2724912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agent_run 큐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633139" y="3392424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816019" y="3291840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PostgreSQL 기반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33139" y="3959352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816019" y="3858768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부모 · 자식 실행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633139" y="4526280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3816019" y="4425696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재시도 최대 2회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633139" y="5093208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3816019" y="4992624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lease 90초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6004407" y="3694176"/>
            <a:ext cx="18288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Rounded Rectangle 36"/>
          <p:cNvSpPr/>
          <p:nvPr/>
        </p:nvSpPr>
        <p:spPr>
          <a:xfrm>
            <a:off x="6223863" y="1865376"/>
            <a:ext cx="2572435" cy="3657600"/>
          </a:xfrm>
          <a:prstGeom prst="roundRect">
            <a:avLst>
              <a:gd name="adj" fmla="val 4265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6223863" y="1865376"/>
            <a:ext cx="68580" cy="365760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461607" y="2103120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17437D"/>
                </a:solidFill>
                <a:latin typeface="Pretendard"/>
              </a:rPr>
              <a:t>에이전트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6461607" y="2560320"/>
            <a:ext cx="2096948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6461607" y="2825496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644487" y="2724912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미팅 내용분석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461607" y="3392424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644487" y="3291840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보고서 작성</a:t>
            </a:r>
          </a:p>
        </p:txBody>
      </p:sp>
      <p:sp>
        <p:nvSpPr>
          <p:cNvPr id="45" name="Rectangle 44"/>
          <p:cNvSpPr/>
          <p:nvPr/>
        </p:nvSpPr>
        <p:spPr>
          <a:xfrm>
            <a:off x="6461607" y="3959352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6644487" y="3858768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딜 특성 + ML 예측</a:t>
            </a:r>
          </a:p>
        </p:txBody>
      </p:sp>
      <p:sp>
        <p:nvSpPr>
          <p:cNvPr id="47" name="Rectangle 46"/>
          <p:cNvSpPr/>
          <p:nvPr/>
        </p:nvSpPr>
        <p:spPr>
          <a:xfrm>
            <a:off x="6461607" y="4526280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6644487" y="4425696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계약관리 → 일정관리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461607" y="5093208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6644487" y="4992624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SemiBold"/>
              </a:rPr>
              <a:t>브리핑 · 자료요약</a:t>
            </a:r>
          </a:p>
        </p:txBody>
      </p:sp>
      <p:cxnSp>
        <p:nvCxnSpPr>
          <p:cNvPr id="51" name="Connector 50"/>
          <p:cNvCxnSpPr/>
          <p:nvPr/>
        </p:nvCxnSpPr>
        <p:spPr>
          <a:xfrm>
            <a:off x="8832875" y="3694176"/>
            <a:ext cx="182880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2" name="Rounded Rectangle 51"/>
          <p:cNvSpPr/>
          <p:nvPr/>
        </p:nvSpPr>
        <p:spPr>
          <a:xfrm>
            <a:off x="9052331" y="1865376"/>
            <a:ext cx="2572435" cy="3657600"/>
          </a:xfrm>
          <a:prstGeom prst="roundRect">
            <a:avLst>
              <a:gd name="adj" fmla="val 4265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290075" y="2103120"/>
            <a:ext cx="211523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사람</a:t>
            </a:r>
          </a:p>
        </p:txBody>
      </p:sp>
      <p:cxnSp>
        <p:nvCxnSpPr>
          <p:cNvPr id="54" name="Connector 53"/>
          <p:cNvCxnSpPr/>
          <p:nvPr/>
        </p:nvCxnSpPr>
        <p:spPr>
          <a:xfrm>
            <a:off x="9290075" y="2560320"/>
            <a:ext cx="2096948" cy="0"/>
          </a:xfrm>
          <a:prstGeom prst="line">
            <a:avLst/>
          </a:prstGeom>
          <a:ln w="127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9290075" y="2825496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472955" y="2724912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 확정</a:t>
            </a:r>
          </a:p>
        </p:txBody>
      </p:sp>
      <p:sp>
        <p:nvSpPr>
          <p:cNvPr id="57" name="Rectangle 56"/>
          <p:cNvSpPr/>
          <p:nvPr/>
        </p:nvSpPr>
        <p:spPr>
          <a:xfrm>
            <a:off x="9290075" y="3392424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472955" y="3291840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추천 승인 · 일정 등록</a:t>
            </a:r>
          </a:p>
        </p:txBody>
      </p:sp>
      <p:sp>
        <p:nvSpPr>
          <p:cNvPr id="59" name="Rectangle 58"/>
          <p:cNvSpPr/>
          <p:nvPr/>
        </p:nvSpPr>
        <p:spPr>
          <a:xfrm>
            <a:off x="9290075" y="3959352"/>
            <a:ext cx="73152" cy="7315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9472955" y="3858768"/>
            <a:ext cx="1968931" cy="6583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팀장 검토 · 반려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566928" y="5669280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566928" y="5669280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TextBox 62"/>
          <p:cNvSpPr txBox="1"/>
          <p:nvPr/>
        </p:nvSpPr>
        <p:spPr>
          <a:xfrm>
            <a:off x="896112" y="5798439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사람의 확정이 다시 트리거가 되어 처음으로 돌아간다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02 설계와 구현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전역 LLM Supervisor는 없다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backend/app/services/agent_runs.py · agent_worker.py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27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3200400"/>
          </a:xfrm>
          <a:prstGeom prst="roundRect">
            <a:avLst>
              <a:gd name="adj" fmla="val 342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249424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무엇으로 잇는가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916936"/>
            <a:ext cx="282641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agent_run 큐</a:t>
            </a:r>
          </a:p>
          <a:p>
            <a:pPr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코드 dispatch</a:t>
            </a:r>
          </a:p>
          <a:p>
            <a:pPr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API 트리거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2602" y="1865376"/>
            <a:ext cx="3466490" cy="3200400"/>
          </a:xfrm>
          <a:prstGeom prst="roundRect">
            <a:avLst>
              <a:gd name="adj" fmla="val 3428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710074" y="2249424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큐 규칙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710074" y="2916936"/>
            <a:ext cx="282641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부모 · 자식 실행 구조</a:t>
            </a:r>
          </a:p>
          <a:p>
            <a:pPr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재시도 최대 2회</a:t>
            </a:r>
          </a:p>
          <a:p>
            <a:pPr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lease 90초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865376"/>
            <a:ext cx="3466490" cy="3200400"/>
          </a:xfrm>
          <a:prstGeom prst="roundRect">
            <a:avLst>
              <a:gd name="adj" fmla="val 3428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58276" y="1865376"/>
            <a:ext cx="68580" cy="320040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505748" y="2249424"/>
            <a:ext cx="282641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DeepAgents 범위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05748" y="2916936"/>
            <a:ext cx="2826410" cy="20116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6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 작성 내부에서만</a:t>
            </a:r>
          </a:p>
          <a:p>
            <a:pPr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사용한다</a:t>
            </a:r>
          </a:p>
          <a:p>
            <a:pPr algn="l">
              <a:lnSpc>
                <a:spcPct val="160000"/>
              </a:lnSpc>
              <a:spcBef>
                <a:spcPts val="3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전체 조율에는 쓰지 않는다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5340096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5340096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96112" y="5469255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연결은 큐와 코드로 — 판단은 에이전트가, 확정은 사람이 한다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417320"/>
            <a:ext cx="5486400" cy="1463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2000" b="1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3310128"/>
            <a:ext cx="1371600" cy="6858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3611880"/>
            <a:ext cx="914400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4800" b="1">
                <a:solidFill>
                  <a:srgbClr val="FFFFFF"/>
                </a:solidFill>
                <a:latin typeface="Pretendard"/>
              </a:rPr>
              <a:t>검증과 확장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6928" y="4617720"/>
            <a:ext cx="91440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000">
                <a:solidFill>
                  <a:srgbClr val="C4CFDD"/>
                </a:solidFill>
                <a:latin typeface="Pretendard Medium"/>
              </a:rPr>
              <a:t>제대로 동작하는지 어떻게 확인했는가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SemiBold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에이전트마다 다른 방법으로 검증했다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 · output/evals · OCR 고도화 전후 최종 결과보고서(2026-09-17)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29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7132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96112" y="2066544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미팅분석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38928" y="2084832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골든셋 정답표 대조 + 딜 승산 ML 30회 반복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66928" y="2706624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566928" y="2706624"/>
            <a:ext cx="68580" cy="7132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96112" y="2907792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보고서 작성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38928" y="2926080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53건 LLM Judge 절대 평가 + 개선 전후 쌍대 비교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66928" y="3547872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566928" y="3547872"/>
            <a:ext cx="68580" cy="7132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96112" y="3749039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자료요약 · RAG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138928" y="3767328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문서 7개 · QRA 자동 골든셋 10건 LLM Judge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66928" y="4389120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566928" y="4389120"/>
            <a:ext cx="68580" cy="713232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96112" y="4590288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OCR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38928" y="4608576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문서 200건 선정 필드 정답값 대조 · 1차와 최종 재시험 비교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5230368"/>
            <a:ext cx="11057839" cy="713232"/>
          </a:xfrm>
          <a:prstGeom prst="roundRect">
            <a:avLst>
              <a:gd name="adj" fmla="val 15384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96112" y="5431536"/>
            <a:ext cx="402336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8E8E93"/>
                </a:solidFill>
                <a:latin typeface="Pretendard"/>
              </a:rPr>
              <a:t>영업 · 계약관리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138928" y="5449824"/>
            <a:ext cx="616579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"/>
              </a:rPr>
              <a:t>[평가 방법 입력 예정]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딜 귀속 84.7%, 특성 추출 74.8%가 다음 과제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미팅 내용분석 구조 보고서 (2026-08-31 골든셋 · 과거 코드 기준)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84.7%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근거 · 딜 일치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94 / 111 구간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996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086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74.8%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086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딜 특성 필드 정확도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86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350 / 468 필드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4390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82.6%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4390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필수 사실 보존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90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38 / 46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906604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9066047" y="1865376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694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 / 36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694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13개 특성 전부 정답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694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가장 큰 과제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90187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749039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방법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270248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187952"/>
            <a:ext cx="1082009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미팅 12회 · 딜 36개로 만든 골든셋 (2026-08-31)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64024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681728"/>
            <a:ext cx="1082009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AI가 의미를 검수한 결과이며 사람 판정이 아니다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26694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526694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39610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13개 특성을 한 건도 빠짐없이 맞춘 사례는 36건 중 0건 — 가장 먼저 개선할 지점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딜 승산 모델은 Stacking으로 AUC 0.778까지 올랐다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머신러닝 · 딥러닝 학습결과서 (30회 평균)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단계별 성능 — 공개 영문 B2B 448건 · 30회 반복 평균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2286000"/>
          <a:ext cx="731520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339327" y="1865376"/>
            <a:ext cx="3285439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1936" y="2048256"/>
            <a:ext cx="2700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+0.037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2761488"/>
            <a:ext cx="2700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ROC-AUC 상승폭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1936" y="3090672"/>
            <a:ext cx="2700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0.7409 → 0.7783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7" y="3712464"/>
            <a:ext cx="328543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3895344"/>
            <a:ext cx="2700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3B82F6"/>
                </a:solidFill>
                <a:latin typeface="Pretendard"/>
              </a:rPr>
              <a:t>0.1880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608576"/>
            <a:ext cx="2700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Brier 점수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4937760"/>
            <a:ext cx="2700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0.2097 → 0.1880 (낮을수록 좋음)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미팅분석 수치를 읽을 때 유의할 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미팅 내용분석 구조 보고서 · 머신러닝 · 딥러닝 학습결과서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31136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합성 데이터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71216"/>
            <a:ext cx="286298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합성 미팅 12회 · 딜 36개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2026-08-31 골든셋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과거 코드 기준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2602" y="1865376"/>
            <a:ext cx="346649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231136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사람 판정 아님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871216"/>
            <a:ext cx="286298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AI가 의미를 검수했다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사람 평가자가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채점한 결과가 아니다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865376"/>
            <a:ext cx="346649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9172" y="2231136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영문 공개 데이터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9172" y="2871216"/>
            <a:ext cx="286298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딜 승산 ML은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공개 영문 B2B 448건 기준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한국어 실제 성능은 별도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394960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394960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524119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실제 한국어 영업 데이터에서의 성능은 아직 측정하지 않았다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구조를 바꾸자 53건 모두 생성, 토큰은 54% 감소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docs/eval/01_보고서작성에이전트 (Judge gpt-5.6-luna, 2026-09-08)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103120"/>
            <a:ext cx="1936927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47 → 53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694431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유효 답안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3023615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53건 중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9996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71086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18 → 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1086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외부 재시도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86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생성 실패 6 → 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23300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6233007" y="1865376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390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−54.4%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90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생성 토큰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90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1,001만 → 457만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604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6943" y="2103120"/>
            <a:ext cx="1936927" cy="609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29 / 47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6943" y="2694431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쌍대 우세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6943" y="3023615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개선 전 우세 1건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790187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749039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방법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66928" y="4270248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2" y="4187952"/>
            <a:ext cx="1082009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루브릭 5개로 절대 채점하고, 순서를 익명 교차해 쌍대 비교했다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66928" y="4764024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804672" y="4681728"/>
            <a:ext cx="10820095" cy="49377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인용은 기계로 검증하고, 기간 보고서는 하위 확정본을 참조했다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66928" y="5266944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566928" y="5266944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96112" y="5396103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실패하던 6건이 사라지고, 같은 결과를 절반 이하의 토큰으로 만든다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주간 · 월간 보고서 점수가 가장 크게 올랐다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docs/eval/01_보고서작성에이전트 (Judge gpt-5.6-luna, 2026-09-08)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34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73152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보고서 유형별 LLM Judge 점수 — 100점 만점 · 공통 43건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2286000"/>
          <a:ext cx="7315200" cy="324612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339327" y="1865376"/>
            <a:ext cx="3285439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631936" y="2048256"/>
            <a:ext cx="2700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+14.6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31936" y="2761488"/>
            <a:ext cx="2700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주간 보고서 상승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31936" y="3090672"/>
            <a:ext cx="2700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72.50 → 87.08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339327" y="3712464"/>
            <a:ext cx="328543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631936" y="3895344"/>
            <a:ext cx="270022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8E8E93"/>
                </a:solidFill>
                <a:latin typeface="Pretendard"/>
              </a:rPr>
              <a:t>−1.2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631936" y="4608576"/>
            <a:ext cx="270022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미팅 보고서 하락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31936" y="4937760"/>
            <a:ext cx="270022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97.74 → 96.57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보고서 수치를 읽을 때 유의할 점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docs/eval/01_보고서작성에이전트 (2026-09-08)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31136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표본이 작다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871216"/>
            <a:ext cx="286298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시나리오 1개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월간 보고서는 1건뿐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2602" y="1865376"/>
            <a:ext cx="346649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231136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같은 모델이 채점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871216"/>
            <a:ext cx="286298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생성 모델과 Judge 모델이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동일하다 (gpt-5.6-luna)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865376"/>
            <a:ext cx="3466490" cy="3291840"/>
          </a:xfrm>
          <a:prstGeom prst="roundRect">
            <a:avLst>
              <a:gd name="adj" fmla="val 3333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9172" y="2231136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떨어진 지표도 있다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9172" y="2871216"/>
            <a:ext cx="2862986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5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미팅 보고서 점수 하락</a:t>
            </a:r>
          </a:p>
          <a:p>
            <a:pPr algn="l">
              <a:lnSpc>
                <a:spcPct val="15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사실 정확성 3.84 → 3.74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5394960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566928" y="5394960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5524119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개선은 기간 보고서에 집중되었고, 미팅 보고서의 사실 정확성은 오히려 떨어졌다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[영업 · 계약관리 평가 결론 입력 예정]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66928" y="1865376"/>
            <a:ext cx="2558719" cy="1554480"/>
          </a:xfrm>
          <a:prstGeom prst="roundRect">
            <a:avLst>
              <a:gd name="adj" fmla="val 7647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99967" y="1865376"/>
            <a:ext cx="2558719" cy="1554480"/>
          </a:xfrm>
          <a:prstGeom prst="roundRect">
            <a:avLst>
              <a:gd name="adj" fmla="val 7647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33007" y="1865376"/>
            <a:ext cx="2558719" cy="1554480"/>
          </a:xfrm>
          <a:prstGeom prst="roundRect">
            <a:avLst>
              <a:gd name="adj" fmla="val 7647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66047" y="1865376"/>
            <a:ext cx="2558719" cy="1554480"/>
          </a:xfrm>
          <a:prstGeom prst="roundRect">
            <a:avLst>
              <a:gd name="adj" fmla="val 7647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[지표 입력 예정]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66928" y="3648456"/>
            <a:ext cx="7315200" cy="2404872"/>
          </a:xfrm>
          <a:prstGeom prst="roundRect">
            <a:avLst>
              <a:gd name="adj" fmla="val 494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[차트 또는 평가 도식 입력 예정]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6448" y="3648456"/>
            <a:ext cx="3468319" cy="2404872"/>
          </a:xfrm>
          <a:prstGeom prst="roundRect">
            <a:avLst>
              <a:gd name="adj" fmla="val 4942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[평가 데이터 · 방법 · 한계 입력 예정]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일정 추천은 보고서에 적힌 날짜에서 출발한다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backend/app/agents/contract_management.py · schedule_management.py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37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현재 동작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12848"/>
            <a:ext cx="2572435" cy="1572768"/>
          </a:xfrm>
          <a:prstGeom prst="roundRect">
            <a:avLst>
              <a:gd name="adj" fmla="val 69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1247" y="2340864"/>
            <a:ext cx="822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7" y="2798064"/>
            <a:ext cx="20237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보고서 확정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7" y="3145536"/>
            <a:ext cx="20237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확정된 미팅 보고서가</a:t>
            </a:r>
          </a:p>
          <a:p>
            <a:pPr algn="l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트리거가 된다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166795" y="2999232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3395395" y="2212848"/>
            <a:ext cx="2572435" cy="1572768"/>
          </a:xfrm>
          <a:prstGeom prst="roundRect">
            <a:avLst>
              <a:gd name="adj" fmla="val 69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3669715" y="2340864"/>
            <a:ext cx="822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69715" y="2798064"/>
            <a:ext cx="20237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합의 날짜 추출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69715" y="3145536"/>
            <a:ext cx="20237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보고서에 적힌 다음 만남</a:t>
            </a:r>
          </a:p>
          <a:p>
            <a:pPr algn="l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날짜를 그대로 쓴다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5995263" y="2999232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6223863" y="2212848"/>
            <a:ext cx="2572435" cy="1572768"/>
          </a:xfrm>
          <a:prstGeom prst="roundRect">
            <a:avLst>
              <a:gd name="adj" fmla="val 697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98183" y="2340864"/>
            <a:ext cx="822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8183" y="2798064"/>
            <a:ext cx="20237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없으면 이력 판단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98183" y="3145536"/>
            <a:ext cx="20237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미팅 간격 · 요일과 딜</a:t>
            </a:r>
          </a:p>
          <a:p>
            <a:pPr algn="l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맥락으로 날짜를 고른다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8823731" y="2999232"/>
            <a:ext cx="201168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ounded Rectangle 25"/>
          <p:cNvSpPr/>
          <p:nvPr/>
        </p:nvSpPr>
        <p:spPr>
          <a:xfrm>
            <a:off x="9052331" y="2212848"/>
            <a:ext cx="2572435" cy="1572768"/>
          </a:xfrm>
          <a:prstGeom prst="roundRect">
            <a:avLst>
              <a:gd name="adj" fmla="val 6976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9052331" y="2212848"/>
            <a:ext cx="68580" cy="157276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326651" y="2340864"/>
            <a:ext cx="822960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600" b="1">
                <a:solidFill>
                  <a:srgbClr val="1456F0"/>
                </a:solidFill>
                <a:latin typeface="Pretendard"/>
              </a:rPr>
              <a:t>04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326651" y="2798064"/>
            <a:ext cx="2023795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사람이 캘린더 승인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326651" y="3145536"/>
            <a:ext cx="2023795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담당자가 승인하거나</a:t>
            </a:r>
          </a:p>
          <a:p>
            <a:pPr algn="l">
              <a:lnSpc>
                <a:spcPct val="140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거절한다</a:t>
            </a:r>
          </a:p>
        </p:txBody>
      </p:sp>
      <p:sp>
        <p:nvSpPr>
          <p:cNvPr id="31" name="Rectangle 30"/>
          <p:cNvSpPr/>
          <p:nvPr/>
        </p:nvSpPr>
        <p:spPr>
          <a:xfrm>
            <a:off x="566928" y="4027931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49808" y="3986783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승인한 뒤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566928" y="4352544"/>
            <a:ext cx="5346039" cy="13716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77824" y="4572000"/>
            <a:ext cx="47425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일정관리 에이전트의 재판단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77824" y="5093207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115568" y="5010912"/>
            <a:ext cx="44865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유효 / 재생성 / 무시 중 하나로 판단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77824" y="5440679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1115568" y="5358383"/>
            <a:ext cx="44865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날짜는 직접 만들지 않고 계약관리에 요청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278727" y="4352544"/>
            <a:ext cx="5346039" cy="1371600"/>
          </a:xfrm>
          <a:prstGeom prst="roundRect">
            <a:avLst>
              <a:gd name="adj" fmla="val 8000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6589623" y="4572000"/>
            <a:ext cx="47425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지금 하지 않는 것</a:t>
            </a:r>
          </a:p>
        </p:txBody>
      </p:sp>
      <p:sp>
        <p:nvSpPr>
          <p:cNvPr id="41" name="Rectangle 40"/>
          <p:cNvSpPr/>
          <p:nvPr/>
        </p:nvSpPr>
        <p:spPr>
          <a:xfrm>
            <a:off x="6589623" y="5093207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827367" y="5010912"/>
            <a:ext cx="44865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외부 캘린더 연동은 없다</a:t>
            </a:r>
          </a:p>
        </p:txBody>
      </p:sp>
      <p:sp>
        <p:nvSpPr>
          <p:cNvPr id="43" name="Rectangle 42"/>
          <p:cNvSpPr/>
          <p:nvPr/>
        </p:nvSpPr>
        <p:spPr>
          <a:xfrm>
            <a:off x="6589623" y="5440679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6827367" y="5358383"/>
            <a:ext cx="4486503" cy="34747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반복 일정 패턴을 자동 규칙화하지 않는다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66928" y="5815584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규칙 기반 자율 스케줄링이 아니라, 보고서에 적힌 날짜를 우선 쓰는 단순한 방식이다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문서요약 자동 평가 종합 점수는 0.846이다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docs/document-summary-evaluation.md · output/evals/document-summary-rageval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38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78638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지표별 점수 (0–1 · 높을수록 좋음)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429768" y="2286000"/>
          <a:ext cx="7863840" cy="36576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8887967" y="1865376"/>
            <a:ext cx="2736799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80576" y="2048256"/>
            <a:ext cx="21515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0.846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80576" y="2761488"/>
            <a:ext cx="21515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overall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80576" y="3090672"/>
            <a:ext cx="2151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자동 골든셋 10건 종합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87967" y="3712464"/>
            <a:ext cx="273679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180576" y="3895344"/>
            <a:ext cx="2151583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3B82F6"/>
                </a:solidFill>
                <a:latin typeface="Pretendard"/>
              </a:rPr>
              <a:t>0.828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80576" y="4608576"/>
            <a:ext cx="2151583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completeness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80576" y="4937760"/>
            <a:ext cx="2151583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가장 낮은 지표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합성 문서에서 골든셋을 만들어 자동 채점했다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docs/document-summary-evaluation.md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39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603504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평가 흐름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340864"/>
            <a:ext cx="6035040" cy="822960"/>
          </a:xfrm>
          <a:prstGeom prst="roundRect">
            <a:avLst>
              <a:gd name="adj" fmla="val 1333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569464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587752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합성 문서 7개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584448" y="3191256"/>
            <a:ext cx="0" cy="16459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66928" y="3383280"/>
            <a:ext cx="6035040" cy="822960"/>
          </a:xfrm>
          <a:prstGeom prst="roundRect">
            <a:avLst>
              <a:gd name="adj" fmla="val 1333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7824" y="3611880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56F0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72768" y="3630168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QRA 자동 골든셋 10건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3584448" y="4233672"/>
            <a:ext cx="0" cy="164592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566928" y="4425696"/>
            <a:ext cx="6035040" cy="822960"/>
          </a:xfrm>
          <a:prstGeom prst="roundRect">
            <a:avLst>
              <a:gd name="adj" fmla="val 1333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66928" y="4425696"/>
            <a:ext cx="68580" cy="82296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77824" y="4654296"/>
            <a:ext cx="6400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456F0"/>
                </a:solidFill>
                <a:latin typeface="Pretendard"/>
              </a:rPr>
              <a:t>03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672583"/>
            <a:ext cx="4754879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요약 6 · 검색 4 LLM Judge 채점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150607" y="1906524"/>
            <a:ext cx="68580" cy="16459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33488" y="1865376"/>
            <a:ext cx="447415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 SemiBold"/>
              </a:rPr>
              <a:t>읽을 때 주의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150607" y="2340864"/>
            <a:ext cx="4474159" cy="3108960"/>
          </a:xfrm>
          <a:prstGeom prst="roundRect">
            <a:avLst>
              <a:gd name="adj" fmla="val 3529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461504" y="280720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699248" y="2724912"/>
            <a:ext cx="36146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요약 6건은 0.91–0.98 구간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61504" y="363016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99248" y="3547872"/>
            <a:ext cx="36146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사람 검수는 pending 상태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461504" y="445312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699248" y="4370832"/>
            <a:ext cx="3614623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모두 합성 문서 기준 결과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조건부 PNG 재시도로 핵심 문서 일치율 98.8%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OCR 고도화 전후 최종 결과보고서 (2026-09-17 RunPod 재시험)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40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162763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77824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1456F0"/>
                </a:solidFill>
                <a:latin typeface="Pretendard"/>
              </a:rPr>
              <a:t>98.8%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77824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핵심 구조화 문서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1,136 / 1,150 · +33.4%p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39996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71086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98.5%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086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계약서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086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197 / 200 · +73.5%p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23300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4390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98.5%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4390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발주서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4390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739 / 750 · +31.6%p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066047" y="1865376"/>
            <a:ext cx="2558719" cy="1627632"/>
          </a:xfrm>
          <a:prstGeom prst="roundRect">
            <a:avLst>
              <a:gd name="adj" fmla="val 6741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76943" y="2103120"/>
            <a:ext cx="1936927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200" b="1">
                <a:solidFill>
                  <a:srgbClr val="222222"/>
                </a:solidFill>
                <a:latin typeface="Pretendard"/>
              </a:rPr>
              <a:t>100%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6943" y="2816352"/>
            <a:ext cx="1936927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222222"/>
                </a:solidFill>
                <a:latin typeface="Pretendard SemiBold"/>
              </a:rPr>
              <a:t>견적서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76943" y="3145536"/>
            <a:ext cx="1936927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200 / 200 · 1차부터 유지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66928" y="3808476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49808" y="3767328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문서 유형별 선정 필드 일치율 (%)</a:t>
            </a:r>
          </a:p>
        </p:txBody>
      </p:sp>
      <p:graphicFrame>
        <p:nvGraphicFramePr>
          <p:cNvPr id="28" name="Chart 27"/>
          <p:cNvGraphicFramePr>
            <a:graphicFrameLocks noGrp="1"/>
          </p:cNvGraphicFramePr>
          <p:nvPr/>
        </p:nvGraphicFramePr>
        <p:xfrm>
          <a:off x="384048" y="4151376"/>
          <a:ext cx="11423599" cy="1901952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스캔 PDF만 골라 이미지 OCR로 다시 읽는다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OCR 고도화 전후 최종 결과보고서 (2026-09-17)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41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고도화 3단계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66928" y="2249424"/>
            <a:ext cx="3466490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77824" y="2487168"/>
            <a:ext cx="286298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1차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7824" y="2962656"/>
            <a:ext cx="286298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원본 PDF를 RunPod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PDF OCR로 처리한다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079138" y="3090672"/>
            <a:ext cx="237744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362602" y="2249424"/>
            <a:ext cx="3466490" cy="1783080"/>
          </a:xfrm>
          <a:prstGeom prst="roundRect">
            <a:avLst>
              <a:gd name="adj" fmla="val 6153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62602" y="2249424"/>
            <a:ext cx="68580" cy="17830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73498" y="2487168"/>
            <a:ext cx="286298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조건부 재시도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73498" y="2962656"/>
            <a:ext cx="286298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한글 필수값 누락 또는 작업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실패일 때만 모든 페이지를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PNG로 변환해 다시 읽는다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874812" y="3090672"/>
            <a:ext cx="237744" cy="0"/>
          </a:xfrm>
          <a:prstGeom prst="line">
            <a:avLst/>
          </a:prstGeom>
          <a:ln w="25400">
            <a:solidFill>
              <a:srgbClr val="60A5FA"/>
            </a:solidFill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158276" y="2249424"/>
            <a:ext cx="3466490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69172" y="2487168"/>
            <a:ext cx="2862986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결과 선택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69172" y="2962656"/>
            <a:ext cx="2862986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발주서 공급자 주소는 PDF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결과를 남기고, 나머지 필드는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PNG 결과를 쓴다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66928" y="4133087"/>
            <a:ext cx="5346039" cy="1920240"/>
          </a:xfrm>
          <a:prstGeom prst="roundRect">
            <a:avLst>
              <a:gd name="adj" fmla="val 5714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77824" y="4352544"/>
            <a:ext cx="47425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별도 관리 대상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77824" y="4873751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15568" y="4791455"/>
            <a:ext cx="448650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명함 OCR 필드 일치 127 / 134 = 94.8%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77824" y="527608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15568" y="5193792"/>
            <a:ext cx="448650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사업자등록증은 정답지가 없어 비교 제외</a:t>
            </a:r>
          </a:p>
        </p:txBody>
      </p:sp>
      <p:sp>
        <p:nvSpPr>
          <p:cNvPr id="29" name="Rectangle 28"/>
          <p:cNvSpPr/>
          <p:nvPr/>
        </p:nvSpPr>
        <p:spPr>
          <a:xfrm>
            <a:off x="877824" y="5678423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115568" y="5596127"/>
            <a:ext cx="448650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엑셀 등록은 OCR이 아닌 파일 파싱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278727" y="4133087"/>
            <a:ext cx="5346039" cy="1920240"/>
          </a:xfrm>
          <a:prstGeom prst="roundRect">
            <a:avLst>
              <a:gd name="adj" fmla="val 5714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589623" y="4352544"/>
            <a:ext cx="4742535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22222"/>
                </a:solidFill>
                <a:latin typeface="Pretendard"/>
              </a:rPr>
              <a:t>읽을 때 주의</a:t>
            </a:r>
          </a:p>
        </p:txBody>
      </p:sp>
      <p:sp>
        <p:nvSpPr>
          <p:cNvPr id="33" name="Rectangle 32"/>
          <p:cNvSpPr/>
          <p:nvPr/>
        </p:nvSpPr>
        <p:spPr>
          <a:xfrm>
            <a:off x="6589623" y="4873751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827367" y="4791455"/>
            <a:ext cx="448650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전사 정확도 · CER / WER 미포함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589623" y="527608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827367" y="5193792"/>
            <a:ext cx="448650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손글씨 오류율 45%는 별도 과제</a:t>
            </a:r>
          </a:p>
        </p:txBody>
      </p:sp>
      <p:sp>
        <p:nvSpPr>
          <p:cNvPr id="37" name="Rectangle 36"/>
          <p:cNvSpPr/>
          <p:nvPr/>
        </p:nvSpPr>
        <p:spPr>
          <a:xfrm>
            <a:off x="6589623" y="5678423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6827367" y="5596127"/>
            <a:ext cx="4486503" cy="40233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사양 값 자동 등록은 사람 검수 필요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요약은 고르게 높지만 검색 답변은 편차가 크다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output/evals/document-summary-rageval/llm_judge_results.json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42</a:t>
            </a:r>
          </a:p>
        </p:txBody>
      </p:sp>
      <p:sp>
        <p:nvSpPr>
          <p:cNvPr id="9" name="Rectangle 8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케이스별 overall 점수 (0–1) · 요약 6건 · 검색 4건</a:t>
            </a:r>
          </a:p>
        </p:txBody>
      </p:sp>
      <p:graphicFrame>
        <p:nvGraphicFramePr>
          <p:cNvPr id="11" name="Chart 10"/>
          <p:cNvGraphicFramePr>
            <a:graphicFrameLocks noGrp="1"/>
          </p:cNvGraphicFramePr>
          <p:nvPr/>
        </p:nvGraphicFramePr>
        <p:xfrm>
          <a:off x="384048" y="2286000"/>
          <a:ext cx="11423599" cy="31089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12" name="Rounded Rectangle 11"/>
          <p:cNvSpPr/>
          <p:nvPr/>
        </p:nvSpPr>
        <p:spPr>
          <a:xfrm>
            <a:off x="566928" y="5486400"/>
            <a:ext cx="11057839" cy="566928"/>
          </a:xfrm>
          <a:prstGeom prst="roundRect">
            <a:avLst>
              <a:gd name="adj" fmla="val 19354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566928" y="5486400"/>
            <a:ext cx="68580" cy="566928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96112" y="5615559"/>
            <a:ext cx="10509199" cy="56692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7437D"/>
                </a:solidFill>
                <a:latin typeface="Pretendard SemiBold"/>
              </a:rPr>
              <a:t>검색1 한 건이 0.25 — 최신 자료 대신 옛 계약서를 참조했다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RAG 답변 4건 중 1건은 옛 계약서 날짜를 답했다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output/evals/document-summary-rageval/llm_judge_results.json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6400800" cy="3474720"/>
          </a:xfrm>
          <a:prstGeom prst="roundRect">
            <a:avLst>
              <a:gd name="adj" fmla="val 3157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66928" y="1865376"/>
            <a:ext cx="68580" cy="347472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32688" y="2212848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17437D"/>
                </a:solidFill>
                <a:latin typeface="Pretendard"/>
              </a:rPr>
              <a:t>검색1 — overall 0.25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" y="2834640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질문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78608" y="2798064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현재 기준 설치 예정일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32688" y="3529584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기대한 답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578608" y="3493008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2026-10-08 (추가 자료)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2688" y="4224528"/>
            <a:ext cx="155448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 SemiBold"/>
              </a:rPr>
              <a:t>실제 답변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578608" y="4187952"/>
            <a:ext cx="40233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222222"/>
                </a:solidFill>
                <a:latin typeface="Pretendard Medium"/>
              </a:rPr>
              <a:t>2026-09-24 (기존 계약서)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32688" y="4837176"/>
            <a:ext cx="5669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1456F0"/>
                </a:solidFill>
                <a:latin typeface="Pretendard SemiBold"/>
              </a:rPr>
              <a:t>→ 최신 자료 대신 옛 계약서를 참조했다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516368" y="1906524"/>
            <a:ext cx="68580" cy="164592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699248" y="1865376"/>
            <a:ext cx="4108399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 SemiBold"/>
              </a:rPr>
              <a:t>읽을 때 주의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7516368" y="2340864"/>
            <a:ext cx="4108399" cy="2999232"/>
          </a:xfrm>
          <a:prstGeom prst="roundRect">
            <a:avLst>
              <a:gd name="adj" fmla="val 3658"/>
            </a:avLst>
          </a:prstGeom>
          <a:solidFill>
            <a:srgbClr val="F5F6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827264" y="2715768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65008" y="2633472"/>
            <a:ext cx="3248863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평가 스크립트의 검색은 단어 겹침 방식이다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827264" y="3611879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65008" y="3529584"/>
            <a:ext cx="3248863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운영은 키워드 + pgvector를 RRF로 병합하는 하이브리드 검색이다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827264" y="4507992"/>
            <a:ext cx="82296" cy="82296"/>
          </a:xfrm>
          <a:prstGeom prst="rect">
            <a:avLst/>
          </a:prstGeom>
          <a:solidFill>
            <a:srgbClr val="8E8E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65008" y="4425696"/>
            <a:ext cx="3248863" cy="89611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보고서 RAG · 브리핑 근거는 별도 품질 평가가 없다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[실패와 개선 사례 1 결론 입력 예정]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처음 접근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9967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무엇이 문제였나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9967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어떻게 바꿨나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6047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결과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6047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[실패와 개선 사례 2 결론 입력 예정]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처음 접근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99967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무엇이 문제였나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99967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233007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어떻게 바꿨나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33007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66047" y="1865376"/>
            <a:ext cx="2558719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결과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66047" y="2322576"/>
            <a:ext cx="2558719" cy="3730752"/>
          </a:xfrm>
          <a:prstGeom prst="roundRect">
            <a:avLst>
              <a:gd name="adj" fmla="val 4645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[입력 예정]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[보완점 결론 입력 예정]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1865376"/>
            <a:ext cx="346649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한계 1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2322576"/>
            <a:ext cx="3466490" cy="2834640"/>
          </a:xfrm>
          <a:prstGeom prst="roundRect">
            <a:avLst>
              <a:gd name="adj" fmla="val 4193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[영역 · 내용 · 영향 입력 예정]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62602" y="1865376"/>
            <a:ext cx="346649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한계 2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2602" y="2322576"/>
            <a:ext cx="3466490" cy="2834640"/>
          </a:xfrm>
          <a:prstGeom prst="roundRect">
            <a:avLst>
              <a:gd name="adj" fmla="val 4193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[영역 · 내용 · 영향 입력 예정]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58276" y="1865376"/>
            <a:ext cx="3466490" cy="3291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>
                <a:solidFill>
                  <a:srgbClr val="2563EB"/>
                </a:solidFill>
                <a:latin typeface="Pretendard"/>
              </a:rPr>
              <a:t>한계 3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58276" y="2322576"/>
            <a:ext cx="3466490" cy="2834640"/>
          </a:xfrm>
          <a:prstGeom prst="roundRect">
            <a:avLst>
              <a:gd name="adj" fmla="val 4193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[영역 · 내용 · 영향 입력 예정]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66928" y="5321808"/>
            <a:ext cx="11057839" cy="731520"/>
          </a:xfrm>
          <a:prstGeom prst="roundRect">
            <a:avLst>
              <a:gd name="adj" fmla="val 16250"/>
            </a:avLst>
          </a:prstGeom>
          <a:solidFill>
            <a:srgbClr val="F5F6F8"/>
          </a:solidFill>
          <a:ln w="12700">
            <a:solidFill>
              <a:srgbClr val="E5E7EB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8E8E93"/>
                </a:solidFill>
                <a:latin typeface="Pretendard Medium"/>
              </a:rPr>
              <a:t>[한 줄 정리 입력 예정]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다음 단계는 네 가지다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47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1906524"/>
            <a:ext cx="68580" cy="164592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1865376"/>
            <a:ext cx="5486400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1456F0"/>
                </a:solidFill>
                <a:latin typeface="Pretendard SemiBold"/>
              </a:rPr>
              <a:t>향후 계획 — 현재 구현된 기능이 아니다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66928" y="2249424"/>
            <a:ext cx="5346039" cy="1783080"/>
          </a:xfrm>
          <a:prstGeom prst="roundRect">
            <a:avLst>
              <a:gd name="adj" fmla="val 6153"/>
            </a:avLst>
          </a:prstGeom>
          <a:solidFill>
            <a:srgbClr val="E6EEF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66928" y="2249424"/>
            <a:ext cx="68580" cy="17830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96112" y="2487168"/>
            <a:ext cx="914400" cy="675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1456F0"/>
                </a:solidFill>
                <a:latin typeface="Pretendard"/>
              </a:rP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38528" y="2523744"/>
            <a:ext cx="3645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Pretendard"/>
              </a:rPr>
              <a:t>일정 에이전트 고도화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938528" y="3017520"/>
            <a:ext cx="36452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축적된 일정 데이터로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반복 업무 패턴을 규칙화해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Rule-based 추천으로 확장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78727" y="2249424"/>
            <a:ext cx="534603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607911" y="2487168"/>
            <a:ext cx="914400" cy="675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60A5FA"/>
                </a:solidFill>
                <a:latin typeface="Pretendard"/>
              </a:rP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650327" y="2523744"/>
            <a:ext cx="3645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Pretendard"/>
              </a:rPr>
              <a:t>ML 모델 성능 고도화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650327" y="3017520"/>
            <a:ext cx="36452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데이터와 모델 개선을 통한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예측 성능 향상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66928" y="4270248"/>
            <a:ext cx="534603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96112" y="4507992"/>
            <a:ext cx="914400" cy="675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60A5FA"/>
                </a:solidFill>
                <a:latin typeface="Pretendard"/>
              </a:rP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938528" y="4544568"/>
            <a:ext cx="3645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Pretendard"/>
              </a:rPr>
              <a:t>팀장 화면 개선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938528" y="5038344"/>
            <a:ext cx="36452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더 쉽고 빠른 업무 현황 확인을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위한 UI/UX 개선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가독성 · 현황 파악 · 접근성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278727" y="4270248"/>
            <a:ext cx="5346039" cy="1783080"/>
          </a:xfrm>
          <a:prstGeom prst="roundRect">
            <a:avLst>
              <a:gd name="adj" fmla="val 6153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607911" y="4507992"/>
            <a:ext cx="914400" cy="675639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</a:pPr>
            <a:r>
              <a:rPr sz="4000" b="1">
                <a:solidFill>
                  <a:srgbClr val="60A5FA"/>
                </a:solidFill>
                <a:latin typeface="Pretendard"/>
              </a:rP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50327" y="4544568"/>
            <a:ext cx="3645255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2000" b="1">
                <a:solidFill>
                  <a:srgbClr val="222222"/>
                </a:solidFill>
                <a:latin typeface="Pretendard"/>
              </a:rPr>
              <a:t>매출 분석 기능 확장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50327" y="5038344"/>
            <a:ext cx="3645255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계약금 중심 관리에서</a:t>
            </a:r>
          </a:p>
          <a:p>
            <a:pPr algn="l">
              <a:lnSpc>
                <a:spcPct val="145000"/>
              </a:lnSpc>
              <a:spcBef>
                <a:spcPts val="10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매출 현황 · 추이 분석으로 확장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담당자의 머릿속을 조직의 기록으로 남긴다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데이터 구조(develop, 2026-09-17) · 인수인계 질문 11개 영역 (1 /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48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494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고객 관계 맥락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98064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회사 · 담당자 · 부서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2602" y="1865376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2494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접점 히스토리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798064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일정 · 활동 · 보고서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865376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9172" y="22494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고객의 실제 발언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9172" y="2798064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 · STT · 첨부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31335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215383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발언의 대상 · 범위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764023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공통 · 딜별 + 근거 ID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2602" y="3831335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3498" y="4215383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구매 판단 신호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498" y="4764023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권한 · 경쟁사 등 13개 특성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8276" y="3831335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9172" y="4215383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딜 진행 맥락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69172" y="4764023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단계 · 금액 · 계약 · 납기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03 검증과 확장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기록이 남으면 사람이 바뀌어도 맥락은 남는다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SalesLuv 데이터 구조(develop, 2026-09-17) · 인수인계 질문 11개 영역 (2 / 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49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865376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7824" y="22494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과거 맥락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77824" y="2798064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이전 확정 보고서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62602" y="1865376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73498" y="22494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이슈 · 불만 맥락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73498" y="2798064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불만 · 긴급도 · 처리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58276" y="1865376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69172" y="2249424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위험과 다음 행동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69172" y="2798064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만료 · 지연 · 추천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66928" y="3831335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77824" y="4215383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문서 지식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77824" y="4764023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원문 추출 · 요약 · RAG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362602" y="3831335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673498" y="4215383"/>
            <a:ext cx="2862986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판단의 책임 · 이력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73498" y="4764023"/>
            <a:ext cx="2862986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작성자 · revision · 승인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8158276" y="3831335"/>
            <a:ext cx="3466490" cy="1691640"/>
          </a:xfrm>
          <a:prstGeom prst="roundRect">
            <a:avLst>
              <a:gd name="adj" fmla="val 6486"/>
            </a:avLst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469172" y="4251959"/>
            <a:ext cx="2862986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 b="1">
                <a:solidFill>
                  <a:srgbClr val="FFFFFF"/>
                </a:solidFill>
                <a:latin typeface="Pretendard"/>
              </a:rPr>
              <a:t>AI는 구조화 · 요약 · 제안까지</a:t>
            </a:r>
          </a:p>
          <a:p>
            <a:pPr algn="l">
              <a:lnSpc>
                <a:spcPct val="145000"/>
              </a:lnSpc>
              <a:spcBef>
                <a:spcPts val="800"/>
              </a:spcBef>
              <a:spcAft>
                <a:spcPts val="0"/>
              </a:spcAft>
            </a:pPr>
            <a:r>
              <a:rPr sz="1800" b="1">
                <a:solidFill>
                  <a:srgbClr val="60A5FA"/>
                </a:solidFill>
                <a:latin typeface="Pretendard"/>
              </a:rPr>
              <a:t>확정은 사람의 승인으로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81E2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" name="Picture 2" descr="full-logo-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2651760"/>
            <a:ext cx="11057839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6400" b="1">
                <a:solidFill>
                  <a:srgbClr val="FFFFFF"/>
                </a:solidFill>
                <a:latin typeface="Pretendard"/>
              </a:rPr>
              <a:t>Q &amp; A</a:t>
            </a:r>
          </a:p>
        </p:txBody>
      </p:sp>
      <p:sp>
        <p:nvSpPr>
          <p:cNvPr id="5" name="Rectangle 4"/>
          <p:cNvSpPr/>
          <p:nvPr/>
        </p:nvSpPr>
        <p:spPr>
          <a:xfrm>
            <a:off x="5181447" y="4069080"/>
            <a:ext cx="1828800" cy="685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66928" y="4389120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2100">
                <a:solidFill>
                  <a:srgbClr val="C4CFDD"/>
                </a:solidFill>
                <a:latin typeface="Pretendard Medium"/>
              </a:rPr>
              <a:t>감사합니다 · Thank You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 SemiBold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모든 데이터는 딜을 중심으로 연결된다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backend/app/models/ (develop, 2026-09-17)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51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281428" y="3328416"/>
            <a:ext cx="0" cy="1261872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9907524" y="3328416"/>
            <a:ext cx="0" cy="1261872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2281428" y="3959352"/>
            <a:ext cx="2259939" cy="0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7650327" y="3959352"/>
            <a:ext cx="2257197" cy="0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094476" y="3328416"/>
            <a:ext cx="0" cy="173736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6094476" y="4416552"/>
            <a:ext cx="0" cy="173736"/>
          </a:xfrm>
          <a:prstGeom prst="line">
            <a:avLst/>
          </a:prstGeom>
          <a:ln w="19050">
            <a:solidFill>
              <a:srgbClr val="BFDBF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541367" y="3502152"/>
            <a:ext cx="3108960" cy="914400"/>
          </a:xfrm>
          <a:prstGeom prst="roundRect">
            <a:avLst>
              <a:gd name="adj" fmla="val 12000"/>
            </a:avLst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FFFFFF"/>
                </a:solidFill>
                <a:latin typeface="Pretendard"/>
              </a:rPr>
              <a:t>sales_deal</a:t>
            </a:r>
          </a:p>
          <a:p>
            <a:pPr algn="ctr">
              <a:lnSpc>
                <a:spcPct val="130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BFDBFE"/>
                </a:solidFill>
                <a:latin typeface="Pretendard"/>
              </a:rPr>
              <a:t>영업 딜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66928" y="1865376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2960" y="206654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조직 · 권한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2505456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team · member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79976" y="1865376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636008" y="206654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고객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36008" y="2505456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customer_company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customer_contact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193023" y="1865376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449055" y="2066544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영업 실행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5" y="2505456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sales_pipeline(+stage)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product · sales_deal_item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purchase_order(+item)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66928" y="4590288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791455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활동 · 보고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2960" y="5230368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activity · report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report_deal · report_submission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379976" y="4590288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636008" y="4791455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AI 실행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36008" y="5230368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agent_run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contract_next_meeting_suggestion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193023" y="4590288"/>
            <a:ext cx="3429000" cy="1463040"/>
          </a:xfrm>
          <a:prstGeom prst="roundRect">
            <a:avLst>
              <a:gd name="adj" fmla="val 7500"/>
            </a:avLst>
          </a:prstGeom>
          <a:solidFill>
            <a:srgbClr val="F3F6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449055" y="4791455"/>
            <a:ext cx="2926080" cy="31089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700" b="1">
                <a:solidFill>
                  <a:srgbClr val="2563EB"/>
                </a:solidFill>
                <a:latin typeface="Pretendard"/>
              </a:rPr>
              <a:t>문서 · C/S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449055" y="5230368"/>
            <a:ext cx="292608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document · file</a:t>
            </a:r>
          </a:p>
          <a:p>
            <a:pPr algn="l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400">
                <a:solidFill>
                  <a:srgbClr val="45515E"/>
                </a:solidFill>
                <a:latin typeface="Pretendard"/>
              </a:rPr>
              <a:t>document_chunk · support_request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7주 동안 기획에서 배포 검증까지 진행했다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프로젝트 WBS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52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278396" y="3657600"/>
            <a:ext cx="9634902" cy="0"/>
          </a:xfrm>
          <a:prstGeom prst="line">
            <a:avLst/>
          </a:prstGeom>
          <a:ln w="25400">
            <a:solidFill>
              <a:srgbClr val="E5E7E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566928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1주</a:t>
            </a:r>
          </a:p>
        </p:txBody>
      </p:sp>
      <p:sp>
        <p:nvSpPr>
          <p:cNvPr id="11" name="Oval 10"/>
          <p:cNvSpPr/>
          <p:nvPr/>
        </p:nvSpPr>
        <p:spPr>
          <a:xfrm>
            <a:off x="1177812" y="3557016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요구사항 분석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기획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172745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2주</a:t>
            </a:r>
          </a:p>
        </p:txBody>
      </p:sp>
      <p:sp>
        <p:nvSpPr>
          <p:cNvPr id="14" name="Oval 13"/>
          <p:cNvSpPr/>
          <p:nvPr/>
        </p:nvSpPr>
        <p:spPr>
          <a:xfrm>
            <a:off x="2783629" y="3557016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72745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DB 기반 구축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화면 설계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78562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3주</a:t>
            </a:r>
          </a:p>
        </p:txBody>
      </p:sp>
      <p:sp>
        <p:nvSpPr>
          <p:cNvPr id="17" name="Oval 16"/>
          <p:cNvSpPr/>
          <p:nvPr/>
        </p:nvSpPr>
        <p:spPr>
          <a:xfrm>
            <a:off x="4389446" y="3557016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78562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FE · BE 개발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중간 발표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84379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4주</a:t>
            </a:r>
          </a:p>
        </p:txBody>
      </p:sp>
      <p:sp>
        <p:nvSpPr>
          <p:cNvPr id="20" name="Oval 19"/>
          <p:cNvSpPr/>
          <p:nvPr/>
        </p:nvSpPr>
        <p:spPr>
          <a:xfrm>
            <a:off x="5995263" y="3557016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384379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데이터 전처리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AI 모델링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990196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5주</a:t>
            </a:r>
          </a:p>
        </p:txBody>
      </p:sp>
      <p:sp>
        <p:nvSpPr>
          <p:cNvPr id="23" name="Oval 22"/>
          <p:cNvSpPr/>
          <p:nvPr/>
        </p:nvSpPr>
        <p:spPr>
          <a:xfrm>
            <a:off x="7601080" y="3557016"/>
            <a:ext cx="201168" cy="201168"/>
          </a:xfrm>
          <a:prstGeom prst="ellipse">
            <a:avLst/>
          </a:prstGeom>
          <a:solidFill>
            <a:srgbClr val="BFDBF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0196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모델 평가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기능 통합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96013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6주</a:t>
            </a:r>
          </a:p>
        </p:txBody>
      </p:sp>
      <p:sp>
        <p:nvSpPr>
          <p:cNvPr id="26" name="Oval 25"/>
          <p:cNvSpPr/>
          <p:nvPr/>
        </p:nvSpPr>
        <p:spPr>
          <a:xfrm>
            <a:off x="9206897" y="3557016"/>
            <a:ext cx="201168" cy="201168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6013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통합 테스트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배포 검증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201830" y="2926080"/>
            <a:ext cx="1422937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2100" b="1">
                <a:solidFill>
                  <a:srgbClr val="222222"/>
                </a:solidFill>
                <a:latin typeface="Pretendard"/>
              </a:rPr>
              <a:t>7주</a:t>
            </a:r>
          </a:p>
        </p:txBody>
      </p:sp>
      <p:sp>
        <p:nvSpPr>
          <p:cNvPr id="29" name="Oval 28"/>
          <p:cNvSpPr/>
          <p:nvPr/>
        </p:nvSpPr>
        <p:spPr>
          <a:xfrm>
            <a:off x="10812714" y="3557016"/>
            <a:ext cx="201168" cy="201168"/>
          </a:xfrm>
          <a:prstGeom prst="ellipse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Pretendard"/>
              </a:rPr>
              <a:t/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201830" y="4005072"/>
            <a:ext cx="1422937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45000"/>
              </a:lnSpc>
              <a:spcBef>
                <a:spcPts val="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산출물 검수</a:t>
            </a:r>
          </a:p>
          <a:p>
            <a:pPr algn="ctr">
              <a:lnSpc>
                <a:spcPct val="145000"/>
              </a:lnSpc>
              <a:spcBef>
                <a:spcPts val="200"/>
              </a:spcBef>
              <a:spcAft>
                <a:spcPts val="0"/>
              </a:spcAft>
            </a:pPr>
            <a:r>
              <a:rPr sz="1800">
                <a:solidFill>
                  <a:srgbClr val="45515E"/>
                </a:solidFill>
                <a:latin typeface="Pretendard"/>
              </a:rPr>
              <a:t>최종 발표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딜 승산 모델 단계별 성능 상세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머신러닝 · 딥러닝 학습결과서 (공개 영문 B2B 448건 · 30회 반복 평균)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53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65376"/>
          <a:ext cx="11057838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2405786"/>
                <a:gridCol w="2405786"/>
                <a:gridCol w="2405786"/>
              </a:tblGrid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단계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Accuracy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ROC-AUC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Brier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RF 기준선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0.6958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0.7409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0.2097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RF 튜닝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0.7338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0.7756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–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Stacking_LR (최종)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0.7360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0.7783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0.1880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4974336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Brier는 낮을수록 좋다 · RF 튜닝 단계의 Brier 값은 보고서에 기록되지 않았다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보고서 유형별 LLM Judge 점수 상세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docs/eval/01_보고서작성에이전트 (Judge gpt-5.6-luna, 2026-09-08)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54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65376"/>
          <a:ext cx="11057838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3242462"/>
                <a:gridCol w="3243376"/>
              </a:tblGrid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보고서 유형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개선 전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개선 후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미팅 보고서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97.74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96.57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일일 업무보고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86.88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95.16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주간 업무보고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72.50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87.08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222222"/>
                          </a:solidFill>
                          <a:latin typeface="Pretendard SemiBold"/>
                        </a:rPr>
                        <a:t>월간 업무보고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45515E"/>
                          </a:solidFill>
                          <a:latin typeface="Pretendard"/>
                        </a:rPr>
                        <a:t>66.25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800">
                          <a:solidFill>
                            <a:srgbClr val="1456F0"/>
                          </a:solidFill>
                          <a:latin typeface="Pretendard SemiBold"/>
                        </a:rPr>
                        <a:t>76.25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59612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100점 만점 · 공통 43건 · 생성 모델과 Judge 모델이 동일하며 시나리오는 1개, 월간 보고서는 1건이다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OCR 고도화 전후 문서별 상세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566928" y="6272784"/>
            <a:ext cx="996055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8E8E93"/>
                </a:solidFill>
                <a:latin typeface="Pretendard"/>
              </a:rPr>
              <a:t>출처: OCR 고도화 전후 최종 결과보고서 (2026-09-17 RunPod 재시험)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55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566928" y="1865376"/>
          <a:ext cx="11057839" cy="31089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51760"/>
                <a:gridCol w="3017520"/>
                <a:gridCol w="3017520"/>
                <a:gridCol w="2371039"/>
              </a:tblGrid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대상 (각 50건)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1차 테스트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최종 테스트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600">
                          <a:solidFill>
                            <a:srgbClr val="FFFFFF"/>
                          </a:solidFill>
                          <a:latin typeface="Pretendard SemiBold"/>
                        </a:rPr>
                        <a:t>변화</a:t>
                      </a:r>
                    </a:p>
                  </a:txBody>
                  <a:tcPr marL="146304" marR="146304" marT="36576" marB="36576" anchor="ctr">
                    <a:solidFill>
                      <a:srgbClr val="17437D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222222"/>
                          </a:solidFill>
                          <a:latin typeface="Pretendard SemiBold"/>
                        </a:rPr>
                        <a:t>견적서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200 / 200 = 100.0%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1456F0"/>
                          </a:solidFill>
                          <a:latin typeface="Pretendard SemiBold"/>
                        </a:rPr>
                        <a:t>200 / 200 = 100.0%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0.0%p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222222"/>
                          </a:solidFill>
                          <a:latin typeface="Pretendard SemiBold"/>
                        </a:rPr>
                        <a:t>계약서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50 / 200 = 25.0%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1456F0"/>
                          </a:solidFill>
                          <a:latin typeface="Pretendard SemiBold"/>
                        </a:rPr>
                        <a:t>197 / 200 = 98.5%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+73.5%p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222222"/>
                          </a:solidFill>
                          <a:latin typeface="Pretendard SemiBold"/>
                        </a:rPr>
                        <a:t>발주서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502 / 750 = 66.9%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1456F0"/>
                          </a:solidFill>
                          <a:latin typeface="Pretendard SemiBold"/>
                        </a:rPr>
                        <a:t>739 / 750 = 98.5%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+31.6%p</a:t>
                      </a:r>
                    </a:p>
                  </a:txBody>
                  <a:tcPr marL="146304" marR="146304" marT="36576" marB="36576" anchor="ctr">
                    <a:solidFill>
                      <a:srgbClr val="FFFFFF"/>
                    </a:solidFill>
                  </a:tcPr>
                </a:tc>
              </a:tr>
              <a:tr h="621792">
                <a:tc>
                  <a:txBody>
                    <a:bodyPr/>
                    <a:lstStyle/>
                    <a:p>
                      <a:pPr algn="l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222222"/>
                          </a:solidFill>
                          <a:latin typeface="Pretendard SemiBold"/>
                        </a:rPr>
                        <a:t>상품설명서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42 / 50 = 84.0%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1456F0"/>
                          </a:solidFill>
                          <a:latin typeface="Pretendard SemiBold"/>
                        </a:rPr>
                        <a:t>43 / 50 = 86.0%</a:t>
                      </a:r>
                    </a:p>
                  </a:txBody>
                  <a:tcPr marL="146304" marR="146304" marT="36576" marB="36576" anchor="ctr">
                    <a:solidFill>
                      <a:srgbClr val="E6EEF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2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700">
                          <a:solidFill>
                            <a:srgbClr val="45515E"/>
                          </a:solidFill>
                          <a:latin typeface="Pretendard"/>
                        </a:rPr>
                        <a:t>+2.0%p</a:t>
                      </a:r>
                    </a:p>
                  </a:txBody>
                  <a:tcPr marL="146304" marR="146304" marT="36576" marB="36576" anchor="ctr">
                    <a:solidFill>
                      <a:srgbClr val="F5F6F8"/>
                    </a:solidFill>
                  </a:tcPr>
                </a:tc>
              </a:tr>
            </a:tbl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566928" y="5157216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45515E"/>
                </a:solidFill>
                <a:latin typeface="Pretendard"/>
              </a:rPr>
              <a:t>핵심 구조화 문서(견적서 · 계약서 · 발주서) 합산 — 752 / 1,150 = 65.4% → 1,136 / 1,150 = 98.8% (+33.4%p)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66928" y="550468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500">
                <a:solidFill>
                  <a:srgbClr val="8E8E93"/>
                </a:solidFill>
                <a:latin typeface="Pretendard"/>
              </a:rPr>
              <a:t>정규화한 정답값이 OCR 본문에 포함되면 일치로 판정 · 웜 스타트 처리 시간은 명함 2.24초 · PDF 1.23초 (각 5회, 별도 측정)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66928" y="443484"/>
            <a:ext cx="77724" cy="182880"/>
          </a:xfrm>
          <a:prstGeom prst="rect">
            <a:avLst/>
          </a:prstGeom>
          <a:solidFill>
            <a:srgbClr val="1456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68096" y="411480"/>
            <a:ext cx="64008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400">
                <a:solidFill>
                  <a:srgbClr val="1456F0"/>
                </a:solidFill>
                <a:latin typeface="Pretendard SemiBold"/>
              </a:rPr>
              <a:t>부록 · 검증 자료</a:t>
            </a:r>
          </a:p>
        </p:txBody>
      </p:sp>
      <p:pic>
        <p:nvPicPr>
          <p:cNvPr id="4" name="Picture 3" descr="full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73207" y="393192"/>
            <a:ext cx="1051560" cy="245059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66928" y="877824"/>
            <a:ext cx="11057839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3400" b="1">
                <a:solidFill>
                  <a:srgbClr val="222222"/>
                </a:solidFill>
                <a:latin typeface="Pretendard"/>
              </a:rPr>
              <a:t>본문에 쓰인 근거 자료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66928" y="1645920"/>
            <a:ext cx="11057839" cy="0"/>
          </a:xfrm>
          <a:prstGeom prst="line">
            <a:avLst/>
          </a:prstGeom>
          <a:ln w="12700">
            <a:solidFill>
              <a:srgbClr val="E6E8E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10710367" y="6245352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BFDBFE"/>
                </a:solidFill>
                <a:latin typeface="Pretendard SemiBold"/>
              </a:rPr>
              <a:t>56</a:t>
            </a:r>
          </a:p>
        </p:txBody>
      </p:sp>
      <p:sp>
        <p:nvSpPr>
          <p:cNvPr id="8" name="Rectangle 7"/>
          <p:cNvSpPr/>
          <p:nvPr/>
        </p:nvSpPr>
        <p:spPr>
          <a:xfrm>
            <a:off x="566928" y="2221991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04672" y="2139696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프로젝트 기획서 (2026-08)</a:t>
            </a:r>
          </a:p>
        </p:txBody>
      </p:sp>
      <p:sp>
        <p:nvSpPr>
          <p:cNvPr id="10" name="Rectangle 9"/>
          <p:cNvSpPr/>
          <p:nvPr/>
        </p:nvSpPr>
        <p:spPr>
          <a:xfrm>
            <a:off x="566928" y="2825496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2" y="2743200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Grand View Research (2026)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66928" y="3429000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04672" y="3346704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KISDI 2026 · 원자료 Gartner 2025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66928" y="4032504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3950208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환율 2026-09-15 기준 1,347.8원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66928" y="4636008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4553712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각 사 공식 제품 페이지 (2026-09-15 확인)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66928" y="5239512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157216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SalesLuv 구현 코드 (develop, 2026-09-17)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370167" y="2221991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607911" y="2139696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미팅 내용분석 구조 보고서 (2026-08-31 골든셋)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370167" y="2825496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607911" y="2743200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머신러닝 · 딥러닝 학습결과서 (30회 평균)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70167" y="3429000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07911" y="3346704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docs/eval/01_보고서작성에이전트 (2026-09-08)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370167" y="4032504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607911" y="3950208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docs/document-summary-evaluation.md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370167" y="4636008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607911" y="4553712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output/evals/document-summary-rageval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70167" y="5239512"/>
            <a:ext cx="82296" cy="82296"/>
          </a:xfrm>
          <a:prstGeom prst="rect">
            <a:avLst/>
          </a:prstGeom>
          <a:solidFill>
            <a:srgbClr val="60A5F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07911" y="5157216"/>
            <a:ext cx="5016855" cy="6035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700">
                <a:solidFill>
                  <a:srgbClr val="45515E"/>
                </a:solidFill>
                <a:latin typeface="Pretendard"/>
              </a:rPr>
              <a:t>OCR 고도화 전후 최종 결과보고서 (2026-09-17)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6928" y="5687568"/>
            <a:ext cx="11057839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sz="1600">
                <a:solidFill>
                  <a:srgbClr val="8E8E93"/>
                </a:solidFill>
                <a:latin typeface="Pretendard"/>
              </a:rPr>
              <a:t>평가용 데이터는 모두 합성 데이터이며 실제 고객 · 영업 데이터를 사용하지 않았다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