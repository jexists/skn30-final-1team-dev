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312" r:id="rId63"/>
    <p:sldId id="313" r:id="rId64"/>
    <p:sldId id="314" r:id="rId6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국내 CRM 시장</c:v>
                </c:pt>
              </c:strCache>
            </c:strRef>
          </c:tx>
          <c:spPr>
            <a:solidFill>
              <a:srgbClr val="1456F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2025년</c:v>
                </c:pt>
                <c:pt idx="1">
                  <c:v>2026년</c:v>
                </c:pt>
                <c:pt idx="2">
                  <c:v>2033년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2.51</c:v>
                </c:pt>
                <c:pt idx="1">
                  <c:v>2.75</c:v>
                </c:pt>
                <c:pt idx="2">
                  <c:v>5.46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600">
                  <a:solidFill>
                    <a:srgbClr val="222222"/>
                  </a:solidFill>
                  <a:latin typeface="Pretendard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400">
                <a:solidFill>
                  <a:srgbClr val="45515E"/>
                </a:solidFill>
                <a:latin typeface="Pretendard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.0"/>
        </c:scaling>
        <c:delete val="0"/>
        <c:axPos val="l"/>
        <c:majorGridlines>
          <c:spPr>
            <a:ln w="9525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45515E"/>
                </a:solidFill>
                <a:latin typeface="Pretendard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45515E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BFDBFE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RF 기준선</c:v>
                </c:pt>
                <c:pt idx="1">
                  <c:v>RF 튜닝</c:v>
                </c:pt>
                <c:pt idx="2">
                  <c:v>Stacking_LR (최종)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0.6958</c:v>
                </c:pt>
                <c:pt idx="1">
                  <c:v>0.7338</c:v>
                </c:pt>
                <c:pt idx="2">
                  <c:v>0.736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1456F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RF 기준선</c:v>
                </c:pt>
                <c:pt idx="1">
                  <c:v>RF 튜닝</c:v>
                </c:pt>
                <c:pt idx="2">
                  <c:v>Stacking_LR (최종)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0.7409</c:v>
                </c:pt>
                <c:pt idx="1">
                  <c:v>0.7756</c:v>
                </c:pt>
                <c:pt idx="2">
                  <c:v>0.7783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400">
                  <a:solidFill>
                    <a:srgbClr val="222222"/>
                  </a:solidFill>
                  <a:latin typeface="Pretendard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400">
                <a:solidFill>
                  <a:srgbClr val="45515E"/>
                </a:solidFill>
                <a:latin typeface="Pretendard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4"/>
          <c:min val="0.6"/>
        </c:scaling>
        <c:delete val="0"/>
        <c:axPos val="l"/>
        <c:majorGridlines>
          <c:spPr>
            <a:ln w="9525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45515E"/>
                </a:solidFill>
                <a:latin typeface="Pretendard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45515E"/>
              </a:solidFill>
              <a:latin typeface="Pretendard Medium"/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45515E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개선 전</c:v>
                </c:pt>
              </c:strCache>
            </c:strRef>
          </c:tx>
          <c:spPr>
            <a:solidFill>
              <a:srgbClr val="BFDBFE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미팅</c:v>
                </c:pt>
                <c:pt idx="1">
                  <c:v>일일</c:v>
                </c:pt>
                <c:pt idx="2">
                  <c:v>주간</c:v>
                </c:pt>
                <c:pt idx="3">
                  <c:v>월간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97.74</c:v>
                </c:pt>
                <c:pt idx="1">
                  <c:v>86.88</c:v>
                </c:pt>
                <c:pt idx="2">
                  <c:v>72.5</c:v>
                </c:pt>
                <c:pt idx="3">
                  <c:v>66.25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개선 후</c:v>
                </c:pt>
              </c:strCache>
            </c:strRef>
          </c:tx>
          <c:spPr>
            <a:solidFill>
              <a:srgbClr val="1456F0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미팅</c:v>
                </c:pt>
                <c:pt idx="1">
                  <c:v>일일</c:v>
                </c:pt>
                <c:pt idx="2">
                  <c:v>주간</c:v>
                </c:pt>
                <c:pt idx="3">
                  <c:v>월간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96.57</c:v>
                </c:pt>
                <c:pt idx="1">
                  <c:v>95.16</c:v>
                </c:pt>
                <c:pt idx="2">
                  <c:v>87.08</c:v>
                </c:pt>
                <c:pt idx="3">
                  <c:v>76.25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400">
                  <a:solidFill>
                    <a:srgbClr val="222222"/>
                  </a:solidFill>
                  <a:latin typeface="Pretendard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400">
                <a:solidFill>
                  <a:srgbClr val="45515E"/>
                </a:solidFill>
                <a:latin typeface="Pretendard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8.0"/>
          <c:min val="60.0"/>
        </c:scaling>
        <c:delete val="0"/>
        <c:axPos val="l"/>
        <c:majorGridlines>
          <c:spPr>
            <a:ln w="9525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45515E"/>
                </a:solidFill>
                <a:latin typeface="Pretendard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45515E"/>
              </a:solidFill>
              <a:latin typeface="Pretendard Medium"/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45515E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점수</c:v>
                </c:pt>
              </c:strCache>
            </c:strRef>
          </c:tx>
          <c:spPr>
            <a:solidFill>
              <a:srgbClr val="1456F0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overall</c:v>
                </c:pt>
                <c:pt idx="1">
                  <c:v>completeness</c:v>
                </c:pt>
                <c:pt idx="2">
                  <c:v>groundedness</c:v>
                </c:pt>
                <c:pt idx="3">
                  <c:v>hallucination</c:v>
                </c:pt>
                <c:pt idx="4">
                  <c:v>retrieval_relevance</c:v>
                </c:pt>
                <c:pt idx="5">
                  <c:v>irrelevance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0.846</c:v>
                </c:pt>
                <c:pt idx="1">
                  <c:v>0.828</c:v>
                </c:pt>
                <c:pt idx="2">
                  <c:v>0.914</c:v>
                </c:pt>
                <c:pt idx="3">
                  <c:v>0.942</c:v>
                </c:pt>
                <c:pt idx="4">
                  <c:v>0.892</c:v>
                </c:pt>
                <c:pt idx="5">
                  <c:v>0.901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400">
                  <a:solidFill>
                    <a:srgbClr val="222222"/>
                  </a:solidFill>
                  <a:latin typeface="Pretendard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400">
                <a:solidFill>
                  <a:srgbClr val="45515E"/>
                </a:solidFill>
                <a:latin typeface="Pretendard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b"/>
        <c:majorGridlines>
          <c:spPr>
            <a:ln w="9525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45515E"/>
                </a:solidFill>
                <a:latin typeface="Pretendard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45515E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1차 테스트</c:v>
                </c:pt>
              </c:strCache>
            </c:strRef>
          </c:tx>
          <c:spPr>
            <a:solidFill>
              <a:srgbClr val="BFDBFE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견적서</c:v>
                </c:pt>
                <c:pt idx="1">
                  <c:v>계약서</c:v>
                </c:pt>
                <c:pt idx="2">
                  <c:v>발주서</c:v>
                </c:pt>
                <c:pt idx="3">
                  <c:v>상품설명서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100.0</c:v>
                </c:pt>
                <c:pt idx="1">
                  <c:v>25.0</c:v>
                </c:pt>
                <c:pt idx="2">
                  <c:v>66.9</c:v>
                </c:pt>
                <c:pt idx="3">
                  <c:v>84.0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최종 테스트</c:v>
                </c:pt>
              </c:strCache>
            </c:strRef>
          </c:tx>
          <c:spPr>
            <a:solidFill>
              <a:srgbClr val="1456F0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견적서</c:v>
                </c:pt>
                <c:pt idx="1">
                  <c:v>계약서</c:v>
                </c:pt>
                <c:pt idx="2">
                  <c:v>발주서</c:v>
                </c:pt>
                <c:pt idx="3">
                  <c:v>상품설명서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100.0</c:v>
                </c:pt>
                <c:pt idx="1">
                  <c:v>98.5</c:v>
                </c:pt>
                <c:pt idx="2">
                  <c:v>98.5</c:v>
                </c:pt>
                <c:pt idx="3">
                  <c:v>86.0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400">
                  <a:solidFill>
                    <a:srgbClr val="222222"/>
                  </a:solidFill>
                  <a:latin typeface="Pretendard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400">
                <a:solidFill>
                  <a:srgbClr val="45515E"/>
                </a:solidFill>
                <a:latin typeface="Pretendard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.0"/>
        </c:scaling>
        <c:delete val="0"/>
        <c:axPos val="l"/>
        <c:majorGridlines>
          <c:spPr>
            <a:ln w="9525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45515E"/>
                </a:solidFill>
                <a:latin typeface="Pretendard"/>
              </a:defRPr>
            </a:pPr>
          </a:p>
        </c:txPr>
        <c:crossAx val="-2068027336"/>
        <c:crosses val="autoZero"/>
        <c:majorUnit val="30.0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45515E"/>
              </a:solidFill>
              <a:latin typeface="Pretendard Medium"/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45515E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overall</c:v>
                </c:pt>
              </c:strCache>
            </c:strRef>
          </c:tx>
          <c:spPr>
            <a:solidFill>
              <a:srgbClr val="1456F0"/>
            </a:solidFill>
            <a:ln>
              <a:noFill/>
            </a:ln>
          </c:spPr>
          <c:cat>
            <c:strRef>
              <c:f>Sheet1!$A$2:$A$11</c:f>
              <c:strCache>
                <c:ptCount val="10"/>
                <c:pt idx="0">
                  <c:v>요약1</c:v>
                </c:pt>
                <c:pt idx="1">
                  <c:v>요약2</c:v>
                </c:pt>
                <c:pt idx="2">
                  <c:v>요약3</c:v>
                </c:pt>
                <c:pt idx="3">
                  <c:v>요약4</c:v>
                </c:pt>
                <c:pt idx="4">
                  <c:v>요약5</c:v>
                </c:pt>
                <c:pt idx="5">
                  <c:v>요약6</c:v>
                </c:pt>
                <c:pt idx="6">
                  <c:v>검색1</c:v>
                </c:pt>
                <c:pt idx="7">
                  <c:v>검색2</c:v>
                </c:pt>
                <c:pt idx="8">
                  <c:v>검색3</c:v>
                </c:pt>
                <c:pt idx="9">
                  <c:v>검색4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0.97</c:v>
                </c:pt>
                <c:pt idx="1">
                  <c:v>0.91</c:v>
                </c:pt>
                <c:pt idx="2">
                  <c:v>0.96</c:v>
                </c:pt>
                <c:pt idx="3">
                  <c:v>0.98</c:v>
                </c:pt>
                <c:pt idx="4">
                  <c:v>0.93</c:v>
                </c:pt>
                <c:pt idx="5">
                  <c:v>0.96</c:v>
                </c:pt>
                <c:pt idx="6">
                  <c:v>0.25</c:v>
                </c:pt>
                <c:pt idx="7">
                  <c:v>0.78</c:v>
                </c:pt>
                <c:pt idx="8">
                  <c:v>0.9</c:v>
                </c:pt>
                <c:pt idx="9">
                  <c:v>0.82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400">
                  <a:solidFill>
                    <a:srgbClr val="222222"/>
                  </a:solidFill>
                  <a:latin typeface="Pretendard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400">
                <a:solidFill>
                  <a:srgbClr val="45515E"/>
                </a:solidFill>
                <a:latin typeface="Pretendard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5"/>
        </c:scaling>
        <c:delete val="0"/>
        <c:axPos val="l"/>
        <c:majorGridlines>
          <c:spPr>
            <a:ln w="9525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45515E"/>
                </a:solidFill>
                <a:latin typeface="Pretendard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45515E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9.png"/><Relationship Id="rId7" Type="http://schemas.openxmlformats.org/officeDocument/2006/relationships/image" Target="../media/image14.png"/><Relationship Id="rId8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ull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178308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60A5FA"/>
                </a:solidFill>
                <a:latin typeface="Pretendard SemiBold"/>
              </a:rPr>
              <a:t>SKN30 1Team · CassTerra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176272"/>
            <a:ext cx="9144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800" b="1">
                <a:solidFill>
                  <a:srgbClr val="FFFFFF"/>
                </a:solidFill>
                <a:latin typeface="Pretendard"/>
              </a:rPr>
              <a:t>SalesLuv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5204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500">
                <a:solidFill>
                  <a:srgbClr val="C4CFDD"/>
                </a:solidFill>
                <a:latin typeface="Pretendard Medium"/>
              </a:rPr>
              <a:t>영업의 흐름을 연결하는 멀티에이전트 CRM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224528"/>
            <a:ext cx="1828800" cy="685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4498848"/>
            <a:ext cx="9144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Pretendard"/>
              </a:rPr>
              <a:t>CONNECT THE HISTORY.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60A5FA"/>
                </a:solidFill>
                <a:latin typeface="Pretendard"/>
              </a:rPr>
              <a:t>APPROVE THE NEXT MOVE.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742432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FFFFFF"/>
                </a:solidFill>
                <a:latin typeface="Pretendard SemiBold"/>
              </a:rPr>
              <a:t>2026.09.18 (FRI) 15:00</a:t>
            </a:r>
          </a:p>
          <a:p>
            <a:pPr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</a:pPr>
            <a:r>
              <a:rPr sz="1800">
                <a:solidFill>
                  <a:srgbClr val="C4CFDD"/>
                </a:solidFill>
                <a:latin typeface="Pretendard"/>
              </a:rPr>
              <a:t>천성배 · 정주애 · 박제섭 · 박지유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목차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문제 → 구현 → 검증, 세 파트로 설명합니다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65376"/>
            <a:ext cx="3381146" cy="1055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BFDBFE"/>
                </a:solidFill>
                <a:latin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099816"/>
            <a:ext cx="338114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22222"/>
                </a:solidFill>
                <a:latin typeface="Pretendard"/>
              </a:rPr>
              <a:t>문제 정의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739896"/>
            <a:ext cx="338114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563EB"/>
                </a:solidFill>
                <a:latin typeface="Pretendard SemiBold"/>
              </a:rPr>
              <a:t>왜 이 문제를 골랐는가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8" y="4562856"/>
            <a:ext cx="3106826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66928" y="4773168"/>
            <a:ext cx="319826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팀 · 주제 · 문제</a:t>
            </a:r>
          </a:p>
          <a:p>
            <a:pPr algn="l">
              <a:lnSpc>
                <a:spcPct val="145000"/>
              </a:lnSpc>
              <a:spcBef>
                <a:spcPts val="4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시장 · 경쟁 · 해결책 · 기대효과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76674" y="1956816"/>
            <a:ext cx="0" cy="3730752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405274" y="1865376"/>
            <a:ext cx="3381146" cy="1055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BFDBFE"/>
                </a:solidFill>
                <a:latin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5274" y="3099816"/>
            <a:ext cx="338114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22222"/>
                </a:solidFill>
                <a:latin typeface="Pretendard"/>
              </a:rPr>
              <a:t>설계와 구현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5274" y="3739896"/>
            <a:ext cx="338114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563EB"/>
                </a:solidFill>
                <a:latin typeface="Pretendard SemiBold"/>
              </a:rPr>
              <a:t>무엇을 어떻게 만들었는가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405274" y="4562856"/>
            <a:ext cx="3106826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05274" y="4773168"/>
            <a:ext cx="319826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시나리오 · 시연 · 기술 스택</a:t>
            </a:r>
          </a:p>
          <a:p>
            <a:pPr algn="l">
              <a:lnSpc>
                <a:spcPct val="145000"/>
              </a:lnSpc>
              <a:spcBef>
                <a:spcPts val="4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아키텍처 · 에이전트 · AI 기능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015020" y="1956816"/>
            <a:ext cx="0" cy="3730752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243620" y="1865376"/>
            <a:ext cx="3381146" cy="1055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BFDBFE"/>
                </a:solidFill>
                <a:latin typeface="Pretendar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3620" y="3099816"/>
            <a:ext cx="338114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22222"/>
                </a:solidFill>
                <a:latin typeface="Pretendard"/>
              </a:rPr>
              <a:t>검증과 확장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3620" y="3739896"/>
            <a:ext cx="338114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563EB"/>
                </a:solidFill>
                <a:latin typeface="Pretendard SemiBold"/>
              </a:rPr>
              <a:t>제대로 동작하는지 어떻게 확인했는가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243620" y="4562856"/>
            <a:ext cx="3106827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43620" y="4773168"/>
            <a:ext cx="319826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에이전트별 평가 · 일정 에이전트</a:t>
            </a:r>
          </a:p>
          <a:p>
            <a:pPr algn="l">
              <a:lnSpc>
                <a:spcPct val="145000"/>
              </a:lnSpc>
              <a:spcBef>
                <a:spcPts val="4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실패와 개선 · 향후 계획 · 결론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ull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141732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1">
                <a:solidFill>
                  <a:srgbClr val="1456F0"/>
                </a:solidFill>
                <a:latin typeface="Pretendard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310128"/>
            <a:ext cx="137160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61188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Pretendard"/>
              </a:rPr>
              <a:t>문제 정의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6177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C4CFDD"/>
                </a:solidFill>
                <a:latin typeface="Pretendard Medium"/>
              </a:rPr>
              <a:t>왜 이 프로젝트가 필요한가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 Semi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01 문제 정의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네 명이 기획부터 배포까지 나눠 맡았다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65376"/>
            <a:ext cx="2545003" cy="2103120"/>
          </a:xfrm>
          <a:prstGeom prst="roundRect">
            <a:avLst>
              <a:gd name="adj" fmla="val 5652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E8E93"/>
                </a:solidFill>
                <a:latin typeface="Pretendard Medium"/>
              </a:rPr>
              <a:t>[PHOTO]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133087"/>
            <a:ext cx="254500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22222"/>
                </a:solidFill>
                <a:latin typeface="Pretendard"/>
              </a:rPr>
              <a:t>천성배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626864"/>
            <a:ext cx="457200" cy="4572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4809744"/>
            <a:ext cx="25450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563EB"/>
                </a:solidFill>
                <a:latin typeface="Pretendard SemiBold"/>
              </a:rPr>
              <a:t>P.M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157216"/>
            <a:ext cx="25450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OCR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504688"/>
            <a:ext cx="25450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자료요약 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4539" y="1865376"/>
            <a:ext cx="2545003" cy="2103120"/>
          </a:xfrm>
          <a:prstGeom prst="roundRect">
            <a:avLst>
              <a:gd name="adj" fmla="val 5652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E8E93"/>
                </a:solidFill>
                <a:latin typeface="Pretendard Medium"/>
              </a:rPr>
              <a:t>[PHOTO]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4539" y="4133087"/>
            <a:ext cx="254500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22222"/>
                </a:solidFill>
                <a:latin typeface="Pretendard"/>
              </a:rPr>
              <a:t>정주애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4539" y="4626864"/>
            <a:ext cx="457200" cy="4572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04539" y="4809744"/>
            <a:ext cx="25450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563EB"/>
                </a:solidFill>
                <a:latin typeface="Pretendard SemiBold"/>
              </a:rPr>
              <a:t>Full 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4539" y="5157216"/>
            <a:ext cx="25450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Infra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1865376"/>
            <a:ext cx="2545003" cy="2103120"/>
          </a:xfrm>
          <a:prstGeom prst="roundRect">
            <a:avLst>
              <a:gd name="adj" fmla="val 5652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E8E93"/>
                </a:solidFill>
                <a:latin typeface="Pretendard Medium"/>
              </a:rPr>
              <a:t>[PHOTO]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2151" y="4133087"/>
            <a:ext cx="254500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22222"/>
                </a:solidFill>
                <a:latin typeface="Pretendard"/>
              </a:rPr>
              <a:t>박제섭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2151" y="4626864"/>
            <a:ext cx="457200" cy="4572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2151" y="4809744"/>
            <a:ext cx="25450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563EB"/>
                </a:solidFill>
                <a:latin typeface="Pretendard SemiBold"/>
              </a:rPr>
              <a:t>기술리더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2151" y="5157216"/>
            <a:ext cx="25450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미팅분석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2151" y="5504688"/>
            <a:ext cx="25450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업무보고 Agent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79763" y="1865376"/>
            <a:ext cx="2545003" cy="2103120"/>
          </a:xfrm>
          <a:prstGeom prst="roundRect">
            <a:avLst>
              <a:gd name="adj" fmla="val 5652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E8E93"/>
                </a:solidFill>
                <a:latin typeface="Pretendard Medium"/>
              </a:rPr>
              <a:t>[PHOTO]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9763" y="4133087"/>
            <a:ext cx="254500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22222"/>
                </a:solidFill>
                <a:latin typeface="Pretendard"/>
              </a:rPr>
              <a:t>박지유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79763" y="4626864"/>
            <a:ext cx="457200" cy="4572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9763" y="4809744"/>
            <a:ext cx="25450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563EB"/>
                </a:solidFill>
                <a:latin typeface="Pretendard SemiBold"/>
              </a:rPr>
              <a:t>영업계약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9763" y="5157216"/>
            <a:ext cx="25450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일정관리 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79763" y="5504688"/>
            <a:ext cx="25450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시연영상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01 문제 정의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담당자의 고객 맥락을 팀이 이어받게 한다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프로젝트 기획서(2026-08)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11057839" cy="1051560"/>
          </a:xfrm>
          <a:prstGeom prst="roundRect">
            <a:avLst>
              <a:gd name="adj" fmla="val 1043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157984"/>
            <a:ext cx="103263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437D"/>
                </a:solidFill>
                <a:latin typeface="Pretendard"/>
              </a:rPr>
              <a:t>영업의 시작부터 끝까지, 한 번에 해결하는 멀티에이전트 CRM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328416"/>
            <a:ext cx="3466490" cy="4572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602736"/>
            <a:ext cx="346649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국내 B2B 영업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133088"/>
            <a:ext cx="346649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고객 · 딜 · 일정 · 보고가</a:t>
            </a:r>
          </a:p>
          <a:p>
            <a:pPr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흩어져 있는 조직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62602" y="3328416"/>
            <a:ext cx="3466490" cy="4572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2602" y="3602736"/>
            <a:ext cx="346649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멀티에이전트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2602" y="4133088"/>
            <a:ext cx="346649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판단 · 초안 · 제안을</a:t>
            </a:r>
          </a:p>
          <a:p>
            <a:pPr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다섯 에이전트로 분담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58276" y="3328416"/>
            <a:ext cx="3466490" cy="4572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8276" y="3602736"/>
            <a:ext cx="346649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Human-in-the-loop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8276" y="4133088"/>
            <a:ext cx="346649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AI는 초안까지,</a:t>
            </a:r>
          </a:p>
          <a:p>
            <a:pPr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확정은 사람의 승인으로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687568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E8E93"/>
                </a:solidFill>
                <a:latin typeface="Pretendard"/>
              </a:rPr>
              <a:t>CRM — 고객과 나눈 이야기를 기억하는 시스템        딜 — 하나의 거래 기회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01 문제 정의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영업 맥락은 다섯 지점에서 끊긴다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프로젝트 기획서(2026-08) · 영업사원 출신 PM의 현장 경험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11057839" cy="713232"/>
          </a:xfrm>
          <a:prstGeom prst="roundRect">
            <a:avLst>
              <a:gd name="adj" fmla="val 15384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020824"/>
            <a:ext cx="8229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60A5FA"/>
                </a:solidFill>
                <a:latin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7088" y="207568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영업정보 분산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7488" y="2093976"/>
            <a:ext cx="6257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고객 · 계약 · 매출이 따로 관리된다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706624"/>
            <a:ext cx="11057839" cy="713232"/>
          </a:xfrm>
          <a:prstGeom prst="roundRect">
            <a:avLst>
              <a:gd name="adj" fmla="val 15384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862072"/>
            <a:ext cx="8229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60A5FA"/>
                </a:solidFill>
                <a:latin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47088" y="2916936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영업흐름 단절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2935224"/>
            <a:ext cx="6257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리드 → 계약 → 매출이 이어지지 않는다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547872"/>
            <a:ext cx="11057839" cy="713232"/>
          </a:xfrm>
          <a:prstGeom prst="roundRect">
            <a:avLst>
              <a:gd name="adj" fmla="val 15384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703320"/>
            <a:ext cx="8229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60A5FA"/>
                </a:solidFill>
                <a:latin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47088" y="3758184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판단 공백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7488" y="3776472"/>
            <a:ext cx="6257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진행 상황과 예측이 보이지 않는다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389120"/>
            <a:ext cx="11057839" cy="713232"/>
          </a:xfrm>
          <a:prstGeom prst="roundRect">
            <a:avLst>
              <a:gd name="adj" fmla="val 1538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389120"/>
            <a:ext cx="68580" cy="71323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544568"/>
            <a:ext cx="8229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456F0"/>
                </a:solidFill>
                <a:latin typeface="Pretendard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47088" y="459943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인수인계 맥락 소실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4617720"/>
            <a:ext cx="6257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관계와 노하우가 담당자와 함께 사라진다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230368"/>
            <a:ext cx="11057839" cy="713232"/>
          </a:xfrm>
          <a:prstGeom prst="roundRect">
            <a:avLst>
              <a:gd name="adj" fmla="val 15384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5385816"/>
            <a:ext cx="8229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60A5FA"/>
                </a:solidFill>
                <a:latin typeface="Pretendard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47088" y="54406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범용 CRM 한계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7488" y="5458968"/>
            <a:ext cx="6257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B2B 영업 현장에는 기능이 부족하다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01 문제 정의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결국 남는 문제는 암묵지다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프로젝트 기획서(2026-08) · 영업사원 출신 PM의 현장 경험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11057839" cy="1554480"/>
          </a:xfrm>
          <a:prstGeom prst="roundRect">
            <a:avLst>
              <a:gd name="adj" fmla="val 7058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65376"/>
            <a:ext cx="68580" cy="15544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194560"/>
            <a:ext cx="1023487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22222"/>
                </a:solidFill>
                <a:latin typeface="Pretendard"/>
              </a:rPr>
              <a:t>고객 맥락과 영업 노하우는 담당자 개인의 암묵지로만 쌓인다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2100">
                <a:solidFill>
                  <a:srgbClr val="45515E"/>
                </a:solidFill>
                <a:latin typeface="Pretendard"/>
              </a:rPr>
              <a:t>조직 자산으로 남지 않아 담당자가 바뀌면 함께 사라진다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808476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76732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이 판단의 근거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206240"/>
            <a:ext cx="3466490" cy="1755648"/>
          </a:xfrm>
          <a:prstGeom prst="roundRect">
            <a:avLst>
              <a:gd name="adj" fmla="val 625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4498848"/>
            <a:ext cx="291785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22222"/>
                </a:solidFill>
                <a:latin typeface="Pretendard SemiBold"/>
              </a:rPr>
              <a:t>프로젝트 기획서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5029200"/>
            <a:ext cx="29178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2026-08 작성</a:t>
            </a:r>
          </a:p>
          <a:p>
            <a:pPr algn="l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문제 정의와 범위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2602" y="4206240"/>
            <a:ext cx="3466490" cy="1755648"/>
          </a:xfrm>
          <a:prstGeom prst="roundRect">
            <a:avLst>
              <a:gd name="adj" fmla="val 625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36922" y="4498848"/>
            <a:ext cx="291785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22222"/>
                </a:solidFill>
                <a:latin typeface="Pretendard SemiBold"/>
              </a:rPr>
              <a:t>현장 경험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922" y="5029200"/>
            <a:ext cx="29178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영업사원 출신 PM의</a:t>
            </a:r>
          </a:p>
          <a:p>
            <a:pPr algn="l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실무 경험에서 출발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8276" y="4206240"/>
            <a:ext cx="3466490" cy="1755648"/>
          </a:xfrm>
          <a:prstGeom prst="roundRect">
            <a:avLst>
              <a:gd name="adj" fmla="val 625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2596" y="4498848"/>
            <a:ext cx="291785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8E8E93"/>
                </a:solidFill>
                <a:latin typeface="Pretendard SemiBold"/>
              </a:rPr>
              <a:t>정량 근거는 없음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2596" y="5029200"/>
            <a:ext cx="29178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설문 · 인터뷰 데이터 없이</a:t>
            </a:r>
          </a:p>
          <a:p>
            <a:pPr algn="l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검증할 가설로 다룬다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01 문제 정의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국내 CRM 시장은 2033년까지 두 배 이상 커진다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Grand View Research(2026) · KISDI 2026(원자료 Gartner 2025) · 환율 2026-09-15 1,347.8원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06524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65376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국내 CRM 시장 규모 (조원)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84048" y="2249424"/>
          <a:ext cx="649224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516367" y="1865376"/>
            <a:ext cx="4108399" cy="1691640"/>
          </a:xfrm>
          <a:prstGeom prst="roundRect">
            <a:avLst>
              <a:gd name="adj" fmla="val 648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08975" y="2048256"/>
            <a:ext cx="352318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456F0"/>
                </a:solidFill>
                <a:latin typeface="Pretendard"/>
              </a:rPr>
              <a:t>10.3%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08975" y="2761488"/>
            <a:ext cx="352318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국내 CRM 연평균 성장률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8975" y="3090672"/>
            <a:ext cx="35231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2026–2033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16367" y="3712464"/>
            <a:ext cx="4108399" cy="1783080"/>
          </a:xfrm>
          <a:prstGeom prst="roundRect">
            <a:avLst>
              <a:gd name="adj" fmla="val 6153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08975" y="3895344"/>
            <a:ext cx="352318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3B82F6"/>
                </a:solidFill>
                <a:latin typeface="Pretendard"/>
              </a:rPr>
              <a:t>17.1%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8975" y="4608576"/>
            <a:ext cx="352318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국내 SaaS 연평균 성장률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08975" y="4937760"/>
            <a:ext cx="35231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2025–2029 · 2조 1,295억 → 4조 164억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733288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E8E93"/>
                </a:solidFill>
                <a:latin typeface="Pretendard"/>
              </a:rPr>
              <a:t>CRM과 SaaS는 시장 정의가 달라 합산하지 않는다 · 영업 CRM 단독 시장 통계는 공개된 것이 없다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01 문제 정의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진입 조건은 근거 · 연결 · 승인 세 가지다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각 사 공식 제품 페이지(2026-09-15 확인) · 팀 시장 조사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3466490" cy="3017520"/>
          </a:xfrm>
          <a:prstGeom prst="roundRect">
            <a:avLst>
              <a:gd name="adj" fmla="val 363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066544"/>
            <a:ext cx="2917850" cy="734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60A5FA"/>
                </a:solidFill>
                <a:latin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18892"/>
            <a:ext cx="291785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22222"/>
                </a:solidFill>
                <a:latin typeface="Pretendard SemiBold"/>
              </a:rPr>
              <a:t>경쟁 현실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261995"/>
            <a:ext cx="291785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AI 미팅 요약과 후속조치
제안은 이미 존재한다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2602" y="1865376"/>
            <a:ext cx="3466490" cy="3017520"/>
          </a:xfrm>
          <a:prstGeom prst="roundRect">
            <a:avLst>
              <a:gd name="adj" fmla="val 363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922" y="2066544"/>
            <a:ext cx="2917850" cy="734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60A5FA"/>
                </a:solidFill>
                <a:latin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922" y="2818892"/>
            <a:ext cx="291785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22222"/>
                </a:solidFill>
                <a:latin typeface="Pretendard SemiBold"/>
              </a:rPr>
              <a:t>초기 ICP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922" y="3261995"/>
            <a:ext cx="291785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문서 · 견적 · 계약이
복잡한 B2B 영업팀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8276" y="1865376"/>
            <a:ext cx="3466490" cy="3017520"/>
          </a:xfrm>
          <a:prstGeom prst="roundRect">
            <a:avLst>
              <a:gd name="adj" fmla="val 3636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58276" y="1865376"/>
            <a:ext cx="68580" cy="301752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5748" y="2066544"/>
            <a:ext cx="2844698" cy="734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456F0"/>
                </a:solidFill>
                <a:latin typeface="Pretendar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5748" y="2818892"/>
            <a:ext cx="284469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22222"/>
                </a:solidFill>
                <a:latin typeface="Pretendard SemiBold"/>
              </a:rPr>
              <a:t>차별화 조건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5748" y="3261995"/>
            <a:ext cx="2844698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근거 검색 + 데이터 연결
+ 담당자 승인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157216"/>
            <a:ext cx="11057839" cy="566928"/>
          </a:xfrm>
          <a:prstGeom prst="roundRect">
            <a:avLst>
              <a:gd name="adj" fmla="val 1935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5157216"/>
            <a:ext cx="68580" cy="56692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5286375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성장하는 시장에서 우리가 고른 자리 — 근거를 대고, 데이터를 잇고, 사람이 승인한다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01 문제 정의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기본 기능은 세 제품 모두 갖추고 있다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각 사 공식 제품 페이지(2026-09-15 확인) · 기능군 판정은 팀 조사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65376"/>
          <a:ext cx="11057838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680106"/>
                <a:gridCol w="2680106"/>
                <a:gridCol w="2680106"/>
              </a:tblGrid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제품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고객 · 거래처 관리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파이프라인 · 딜 관리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영업 실적 · 매출 분석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222222"/>
                          </a:solidFill>
                          <a:latin typeface="Pretendard SemiBold"/>
                        </a:rPr>
                        <a:t>세일즈맵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222222"/>
                          </a:solidFill>
                          <a:latin typeface="Pretendard SemiBold"/>
                        </a:rPr>
                        <a:t>핑거세일즈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222222"/>
                          </a:solidFill>
                          <a:latin typeface="Pretendard SemiBold"/>
                        </a:rPr>
                        <a:t>세일즈인사이트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△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SalesLuv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5596128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E8E93"/>
                </a:solidFill>
                <a:latin typeface="Pretendard"/>
              </a:rPr>
              <a:t>● 제공        △ 일부        – 공개 자료에서 확인되지 않음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01 문제 정의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차이는 AI 유무가 아니라 승인이 순환하는 구조다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각 사 공식 제품 페이지(2026-09-15 확인) · 기능군 판정은 팀 조사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65376"/>
          <a:ext cx="11057838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286000"/>
                <a:gridCol w="2876702"/>
                <a:gridCol w="2877616"/>
              </a:tblGrid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제품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AI 기능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사용자 승인 후 업무 반영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승인 결과 → 다음 행동 순환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222222"/>
                          </a:solidFill>
                          <a:latin typeface="Pretendard SemiBold"/>
                        </a:rPr>
                        <a:t>세일즈맵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△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–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–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222222"/>
                          </a:solidFill>
                          <a:latin typeface="Pretendard SemiBold"/>
                        </a:rPr>
                        <a:t>핑거세일즈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–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222222"/>
                          </a:solidFill>
                          <a:latin typeface="Pretendard SemiBold"/>
                        </a:rPr>
                        <a:t>세일즈인사이트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–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–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–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SalesLuv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5596128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E8E93"/>
                </a:solidFill>
                <a:latin typeface="Pretendard"/>
              </a:rPr>
              <a:t>● 제공        △ 일부        – 공개 자료에서 확인되지 않음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01 문제 정의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SalesLuv가 더하는 것은 세 가지다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SalesLuv 구현 코드(develop, 2026-09-17)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3466490" cy="2834640"/>
          </a:xfrm>
          <a:prstGeom prst="roundRect">
            <a:avLst>
              <a:gd name="adj" fmla="val 387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65376"/>
            <a:ext cx="68580" cy="283464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82641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근거 기반 추천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80944"/>
            <a:ext cx="282641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보고서와 자료를 검색해</a:t>
            </a:r>
          </a:p>
          <a:p>
            <a:pPr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출처와 함께 제안한다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2602" y="1865376"/>
            <a:ext cx="3466490" cy="2834640"/>
          </a:xfrm>
          <a:prstGeom prst="roundRect">
            <a:avLst>
              <a:gd name="adj" fmla="val 387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2602" y="1865376"/>
            <a:ext cx="68580" cy="283464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0074" y="2322576"/>
            <a:ext cx="282641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Human-in-the-loop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0074" y="2980944"/>
            <a:ext cx="282641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AI 제안은 초안일 뿐,</a:t>
            </a:r>
          </a:p>
          <a:p>
            <a:pPr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담당자가 확정한다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8276" y="1865376"/>
            <a:ext cx="3466490" cy="2834640"/>
          </a:xfrm>
          <a:prstGeom prst="roundRect">
            <a:avLst>
              <a:gd name="adj" fmla="val 387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58276" y="1865376"/>
            <a:ext cx="68580" cy="283464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5748" y="2322576"/>
            <a:ext cx="282641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다음 행동으로 순환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5748" y="2980944"/>
            <a:ext cx="282641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승인 결과가 다시</a:t>
            </a:r>
          </a:p>
          <a:p>
            <a:pPr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다음 추천을 부른다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992624"/>
            <a:ext cx="11057839" cy="566928"/>
          </a:xfrm>
          <a:prstGeom prst="roundRect">
            <a:avLst>
              <a:gd name="adj" fmla="val 1935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992624"/>
            <a:ext cx="68580" cy="56692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5121783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경쟁 제품에도 AI는 있다. 다른 것은 승인 결과가 다음 행동으로 순환하는 구조다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01 문제 정의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기록이 초안이 되고, 승인이 다음 일정이 된다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SalesLuv 구현 코드(develop, 2026-09-17)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2558719" cy="2880360"/>
          </a:xfrm>
          <a:prstGeom prst="roundRect">
            <a:avLst>
              <a:gd name="adj" fmla="val 4288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066544"/>
            <a:ext cx="2010079" cy="704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60A5FA"/>
                </a:solidFill>
                <a:latin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789682"/>
            <a:ext cx="20100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22222"/>
                </a:solidFill>
                <a:latin typeface="Pretendard SemiBold"/>
              </a:rPr>
              <a:t>미팅 기록 입력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232785"/>
            <a:ext cx="2010079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원문 · 음성 STT
이미지 OCR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62223" y="3310128"/>
            <a:ext cx="201168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99967" y="1865376"/>
            <a:ext cx="2558719" cy="2880360"/>
          </a:xfrm>
          <a:prstGeom prst="roundRect">
            <a:avLst>
              <a:gd name="adj" fmla="val 4288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4287" y="2066544"/>
            <a:ext cx="2010079" cy="704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60A5FA"/>
                </a:solidFill>
                <a:latin typeface="Pretendar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4287" y="2789682"/>
            <a:ext cx="20100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22222"/>
                </a:solidFill>
                <a:latin typeface="Pretendard SemiBold"/>
              </a:rPr>
              <a:t>AI 초안 + 딜 승산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4287" y="3232785"/>
            <a:ext cx="2010079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딜별 귀속 · 13개 특성
성사 확률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95263" y="3310128"/>
            <a:ext cx="201168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33007" y="1865376"/>
            <a:ext cx="2558719" cy="2880360"/>
          </a:xfrm>
          <a:prstGeom prst="roundRect">
            <a:avLst>
              <a:gd name="adj" fmla="val 4288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007" y="1865376"/>
            <a:ext cx="68580" cy="288036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0479" y="2066544"/>
            <a:ext cx="1936927" cy="704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456F0"/>
                </a:solidFill>
                <a:latin typeface="Pretendard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0479" y="2789682"/>
            <a:ext cx="19369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22222"/>
                </a:solidFill>
                <a:latin typeface="Pretendard SemiBold"/>
              </a:rPr>
              <a:t>사람이 확정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0479" y="3232785"/>
            <a:ext cx="1936927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근거 대조 · 확정
팀장 검토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28303" y="3310128"/>
            <a:ext cx="201168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66047" y="1865376"/>
            <a:ext cx="2558719" cy="2880360"/>
          </a:xfrm>
          <a:prstGeom prst="roundRect">
            <a:avLst>
              <a:gd name="adj" fmla="val 4288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40367" y="2066544"/>
            <a:ext cx="2010079" cy="704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60A5FA"/>
                </a:solidFill>
                <a:latin typeface="Pretendard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0367" y="2789682"/>
            <a:ext cx="20100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22222"/>
                </a:solidFill>
                <a:latin typeface="Pretendard SemiBold"/>
              </a:rPr>
              <a:t>다음 미팅 · 브리핑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40367" y="3232785"/>
            <a:ext cx="2010079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날짜 추천
캘린더 승인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020056"/>
            <a:ext cx="11057839" cy="566928"/>
          </a:xfrm>
          <a:prstGeom prst="roundRect">
            <a:avLst>
              <a:gd name="adj" fmla="val 1935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5020056"/>
            <a:ext cx="68580" cy="56692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149215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04의 승인 결과가 다시 01로 — 모든 기록은 딜(sales_deal) 하나로 연결된다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01 문제 정의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파일럿에서 네 개 지표로 검증한다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프로젝트 기획서 9장 · 파일럿 KPI 정의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2558719" cy="1600200"/>
          </a:xfrm>
          <a:prstGeom prst="roundRect">
            <a:avLst>
              <a:gd name="adj" fmla="val 7428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[수치 입력 예정]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675887"/>
            <a:ext cx="25587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222222"/>
                </a:solidFill>
                <a:latin typeface="Pretendard SemiBold"/>
              </a:rPr>
              <a:t>보고서 작성시간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105656"/>
            <a:ext cx="25587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활성 작업시간 중앙값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9967" y="1865376"/>
            <a:ext cx="2558719" cy="1600200"/>
          </a:xfrm>
          <a:prstGeom prst="roundRect">
            <a:avLst>
              <a:gd name="adj" fmla="val 7428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[수치 입력 예정]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9967" y="3675887"/>
            <a:ext cx="25587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222222"/>
                </a:solidFill>
                <a:latin typeface="Pretendard SemiBold"/>
              </a:rPr>
              <a:t>당일 제출률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9967" y="4105656"/>
            <a:ext cx="25587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당일 제출 ÷ 보고 대상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865376"/>
            <a:ext cx="2558719" cy="1600200"/>
          </a:xfrm>
          <a:prstGeom prst="roundRect">
            <a:avLst>
              <a:gd name="adj" fmla="val 7428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[수치 입력 예정]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3007" y="3675887"/>
            <a:ext cx="25587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222222"/>
                </a:solidFill>
                <a:latin typeface="Pretendard SemiBold"/>
              </a:rPr>
              <a:t>필수정보 초회 완성률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3007" y="4105656"/>
            <a:ext cx="25587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첫 제출 필수항목 충족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66047" y="1865376"/>
            <a:ext cx="2558719" cy="1600200"/>
          </a:xfrm>
          <a:prstGeom prst="roundRect">
            <a:avLst>
              <a:gd name="adj" fmla="val 7428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[수치 입력 예정]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66047" y="3675887"/>
            <a:ext cx="25587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222222"/>
                </a:solidFill>
                <a:latin typeface="Pretendard SemiBold"/>
              </a:rPr>
              <a:t>팀장 검토시간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66047" y="4105656"/>
            <a:ext cx="25587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검토 작업시간 중앙값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57216"/>
            <a:ext cx="11057839" cy="566928"/>
          </a:xfrm>
          <a:prstGeom prst="roundRect">
            <a:avLst>
              <a:gd name="adj" fmla="val 1935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5157216"/>
            <a:ext cx="68580" cy="56692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5286375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정량 수치는 파일럿에서 검증할 가설이며 실측값이 아니다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01 문제 정의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보고서는 아래 단계의 확정본 위에 쌓인다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SalesLuv 구현 코드(develop, 2026-09-17)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6035040" cy="694944"/>
          </a:xfrm>
          <a:prstGeom prst="roundRect">
            <a:avLst>
              <a:gd name="adj" fmla="val 13157"/>
            </a:avLst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SemiBold"/>
              </a:rPr>
              <a:t>미팅 보고서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84448" y="2587752"/>
            <a:ext cx="0" cy="164592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4400" y="2779776"/>
            <a:ext cx="5340096" cy="694944"/>
          </a:xfrm>
          <a:prstGeom prst="roundRect">
            <a:avLst>
              <a:gd name="adj" fmla="val 13157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FFFFFF"/>
                </a:solidFill>
                <a:latin typeface="Pretendard SemiBold"/>
              </a:rPr>
              <a:t>일일 업무보고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84448" y="3502152"/>
            <a:ext cx="0" cy="164592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261872" y="3694176"/>
            <a:ext cx="4645152" cy="694944"/>
          </a:xfrm>
          <a:prstGeom prst="roundRect">
            <a:avLst>
              <a:gd name="adj" fmla="val 13157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FFFFFF"/>
                </a:solidFill>
                <a:latin typeface="Pretendard SemiBold"/>
              </a:rPr>
              <a:t>주간 업무보고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84448" y="4416552"/>
            <a:ext cx="0" cy="164592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609344" y="4608576"/>
            <a:ext cx="3950207" cy="694944"/>
          </a:xfrm>
          <a:prstGeom prst="roundRect">
            <a:avLst>
              <a:gd name="adj" fmla="val 13157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FFFFFF"/>
                </a:solidFill>
                <a:latin typeface="Pretendard SemiBold"/>
              </a:rPr>
              <a:t>월간 업무보고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568696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E8E93"/>
                </a:solidFill>
                <a:latin typeface="Pretendard"/>
              </a:rPr>
              <a:t>각 단계는 아래 단계의 확정 제출본을 원천으로 사용한다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50607" y="1906524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33488" y="1865376"/>
            <a:ext cx="44741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정성 효과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50607" y="2340864"/>
            <a:ext cx="4474159" cy="1024128"/>
          </a:xfrm>
          <a:prstGeom prst="roundRect">
            <a:avLst>
              <a:gd name="adj" fmla="val 10714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24927" y="2523744"/>
            <a:ext cx="39255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17437D"/>
                </a:solidFill>
                <a:latin typeface="Pretendard SemiBold"/>
              </a:rPr>
              <a:t>자동 집계 · 검증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4927" y="2907792"/>
            <a:ext cx="3925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흩어진 기록을 모아 숫자를 스스로 맞춘다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50607" y="3547872"/>
            <a:ext cx="4474159" cy="1024128"/>
          </a:xfrm>
          <a:prstGeom prst="roundRect">
            <a:avLst>
              <a:gd name="adj" fmla="val 10714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24927" y="3730752"/>
            <a:ext cx="39255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17437D"/>
                </a:solidFill>
                <a:latin typeface="Pretendard SemiBold"/>
              </a:rPr>
              <a:t>승인 기반 반영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4927" y="4114800"/>
            <a:ext cx="3925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확정된 내용만 CRM · 캘린더에 반영한다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50607" y="4754880"/>
            <a:ext cx="4474159" cy="1024128"/>
          </a:xfrm>
          <a:prstGeom prst="roundRect">
            <a:avLst>
              <a:gd name="adj" fmla="val 10714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24927" y="4937760"/>
            <a:ext cx="39255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17437D"/>
                </a:solidFill>
                <a:latin typeface="Pretendard SemiBold"/>
              </a:rPr>
              <a:t>암묵지의 자산화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7" y="5321808"/>
            <a:ext cx="3925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개인의 노하우가 조직의 기록으로 남는다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ull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141732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1">
                <a:solidFill>
                  <a:srgbClr val="1456F0"/>
                </a:solidFill>
                <a:latin typeface="Pretendard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310128"/>
            <a:ext cx="137160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61188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Pretendard"/>
              </a:rPr>
              <a:t>설계와 구현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6177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C4CFDD"/>
                </a:solidFill>
                <a:latin typeface="Pretendard Medium"/>
              </a:rPr>
              <a:t>그래서 어떻게 해결했는가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 SemiBol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02 설계와 구현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AI는 미팅을 준비하고 기록을 받아 적는다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SalesLuv 구현 코드(develop, 2026-09-17)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06524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65376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사용자 시나리오 01 – 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304288"/>
            <a:ext cx="3466490" cy="3108960"/>
          </a:xfrm>
          <a:prstGeom prst="roundRect">
            <a:avLst>
              <a:gd name="adj" fmla="val 3529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505456"/>
            <a:ext cx="2917850" cy="704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60A5FA"/>
                </a:solidFill>
                <a:latin typeface="Pretendar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228594"/>
            <a:ext cx="291785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22222"/>
                </a:solidFill>
                <a:latin typeface="Pretendard SemiBold"/>
              </a:rPr>
              <a:t>미팅 준비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671697"/>
            <a:ext cx="291785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영업·계약관리 에이전트가
다음 미팅을 추천하고
사람이 캘린더에 승인한다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2602" y="2304288"/>
            <a:ext cx="3466490" cy="3108960"/>
          </a:xfrm>
          <a:prstGeom prst="roundRect">
            <a:avLst>
              <a:gd name="adj" fmla="val 3529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36922" y="2505456"/>
            <a:ext cx="2917850" cy="704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60A5FA"/>
                </a:solidFill>
                <a:latin typeface="Pretendar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922" y="3228594"/>
            <a:ext cx="291785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22222"/>
                </a:solidFill>
                <a:latin typeface="Pretendard SemiBold"/>
              </a:rPr>
              <a:t>사전 브리핑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922" y="3671697"/>
            <a:ext cx="291785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과거 보고서와 자료를
RAG로 찾아 근거와 함께
브리핑을 만든다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8276" y="2304288"/>
            <a:ext cx="3466490" cy="3108960"/>
          </a:xfrm>
          <a:prstGeom prst="roundRect">
            <a:avLst>
              <a:gd name="adj" fmla="val 3529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2596" y="2505456"/>
            <a:ext cx="2917850" cy="704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60A5FA"/>
                </a:solidFill>
                <a:latin typeface="Pretendar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2596" y="3228594"/>
            <a:ext cx="291785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22222"/>
                </a:solidFill>
                <a:latin typeface="Pretendard SemiBold"/>
              </a:rPr>
              <a:t>미팅 후 입력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2596" y="3671697"/>
            <a:ext cx="291785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미팅 원문을 직접 쓰거나
음성 파일 STT · 이미지 OCR로
기록을 올린다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541264"/>
            <a:ext cx="11057839" cy="566928"/>
          </a:xfrm>
          <a:prstGeom prst="roundRect">
            <a:avLst>
              <a:gd name="adj" fmla="val 1935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5541264"/>
            <a:ext cx="68580" cy="56692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5670423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여기까지는 모두 AI가 준비한 초안 — 아직 확정된 것은 없다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02 설계와 구현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확정은 사람이 하고, 그 확정이 다음을 부른다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SalesLuv 구현 코드(develop, 2026-09-17)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06524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65376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사용자 시나리오 04 – 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304288"/>
            <a:ext cx="3466490" cy="3108960"/>
          </a:xfrm>
          <a:prstGeom prst="roundRect">
            <a:avLst>
              <a:gd name="adj" fmla="val 3529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304288"/>
            <a:ext cx="68580" cy="310896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05456"/>
            <a:ext cx="2844698" cy="704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456F0"/>
                </a:solidFill>
                <a:latin typeface="Pretendard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28594"/>
            <a:ext cx="284469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22222"/>
                </a:solidFill>
                <a:latin typeface="Pretendard SemiBold"/>
              </a:rPr>
              <a:t>보고서 확정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71697"/>
            <a:ext cx="2844698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사람이 확정해야
저장된다
AI 단독 저장은 없다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2602" y="2304288"/>
            <a:ext cx="3466490" cy="3108960"/>
          </a:xfrm>
          <a:prstGeom prst="roundRect">
            <a:avLst>
              <a:gd name="adj" fmla="val 3529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6922" y="2505456"/>
            <a:ext cx="2917850" cy="704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60A5FA"/>
                </a:solidFill>
                <a:latin typeface="Pretendard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922" y="3228594"/>
            <a:ext cx="291785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22222"/>
                </a:solidFill>
                <a:latin typeface="Pretendard SemiBold"/>
              </a:rPr>
              <a:t>보고서 누적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922" y="3671697"/>
            <a:ext cx="291785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확정본이 RAG에 적재되고
다음 미팅 추천
트리거가 걸린다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8276" y="2304288"/>
            <a:ext cx="3466490" cy="3108960"/>
          </a:xfrm>
          <a:prstGeom prst="roundRect">
            <a:avLst>
              <a:gd name="adj" fmla="val 3529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2596" y="2505456"/>
            <a:ext cx="2917850" cy="704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60A5FA"/>
                </a:solidFill>
                <a:latin typeface="Pretendard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2596" y="3228594"/>
            <a:ext cx="291785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22222"/>
                </a:solidFill>
                <a:latin typeface="Pretendard SemiBold"/>
              </a:rPr>
              <a:t>기간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596" y="3671697"/>
            <a:ext cx="291785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일일 · 주간 · 월간으로
묶여 팀장 검토로
올라간다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541264"/>
            <a:ext cx="11057839" cy="566928"/>
          </a:xfrm>
          <a:prstGeom prst="roundRect">
            <a:avLst>
              <a:gd name="adj" fmla="val 1935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5541264"/>
            <a:ext cx="68580" cy="56692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70423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확정 결과가 다시 01 미팅 준비로 순환한다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02 설계와 구현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한 번의 영업 사이클을 실제 화면으로 따라간다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65376"/>
            <a:ext cx="6766560" cy="3806190"/>
          </a:xfrm>
          <a:prstGeom prst="roundRect">
            <a:avLst>
              <a:gd name="adj" fmla="val 3123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8E8E93"/>
                </a:solidFill>
                <a:latin typeface="Pretendard Medium"/>
              </a:rPr>
              <a:t>시연 영상 (16:9)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799582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E8E93"/>
                </a:solidFill>
                <a:latin typeface="Pretendard"/>
              </a:rPr>
              <a:t>[시연 동선 한 줄 입력 예정]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90688" y="1906524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73567" y="1865376"/>
            <a:ext cx="38340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시연 체크포인트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90688" y="2340864"/>
            <a:ext cx="3834079" cy="585216"/>
          </a:xfrm>
          <a:prstGeom prst="roundRect">
            <a:avLst>
              <a:gd name="adj" fmla="val 1875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8431" y="24963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56F0"/>
                </a:solidFill>
                <a:latin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2496312"/>
            <a:ext cx="3029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Medium"/>
              </a:rPr>
              <a:t>자료실 업로드 → 요약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90688" y="3035808"/>
            <a:ext cx="3834079" cy="585216"/>
          </a:xfrm>
          <a:prstGeom prst="roundRect">
            <a:avLst>
              <a:gd name="adj" fmla="val 1875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28431" y="319125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56F0"/>
                </a:solidFill>
                <a:latin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3191256"/>
            <a:ext cx="3029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Medium"/>
              </a:rPr>
              <a:t>캘린더 추천 승인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90688" y="3730752"/>
            <a:ext cx="3834079" cy="585216"/>
          </a:xfrm>
          <a:prstGeom prst="roundRect">
            <a:avLst>
              <a:gd name="adj" fmla="val 1875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28431" y="3886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56F0"/>
                </a:solidFill>
                <a:latin typeface="Pretendar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3886200"/>
            <a:ext cx="3029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Medium"/>
              </a:rPr>
              <a:t>AI 브리핑 확인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90688" y="4425696"/>
            <a:ext cx="3834079" cy="585216"/>
          </a:xfrm>
          <a:prstGeom prst="roundRect">
            <a:avLst>
              <a:gd name="adj" fmla="val 1875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28431" y="458114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56F0"/>
                </a:solidFill>
                <a:latin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5904" y="4581144"/>
            <a:ext cx="3029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Medium"/>
              </a:rPr>
              <a:t>미팅 원문 → 초안 생성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90688" y="5120640"/>
            <a:ext cx="3834079" cy="585216"/>
          </a:xfrm>
          <a:prstGeom prst="roundRect">
            <a:avLst>
              <a:gd name="adj" fmla="val 1875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52760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56F0"/>
                </a:solidFill>
                <a:latin typeface="Pretendard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5904" y="5276088"/>
            <a:ext cx="3029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Medium"/>
              </a:rPr>
              <a:t>보고서 확정 → 다음 추천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02 설계와 구현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이 프로젝트를 만든 기술 조합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frontend/package.json · backend/uv.lock · 운영 설정값(2026-09-11 확인)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1690573" cy="3767328"/>
          </a:xfrm>
          <a:prstGeom prst="roundRect">
            <a:avLst>
              <a:gd name="adj" fmla="val 649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084832"/>
            <a:ext cx="16905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563EB"/>
                </a:solidFill>
                <a:latin typeface="Pretendard"/>
              </a:rPr>
              <a:t>FRONTEND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68096" y="2450592"/>
            <a:ext cx="1288237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re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766" y="2615184"/>
            <a:ext cx="310896" cy="3108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" y="2980944"/>
            <a:ext cx="15076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222222"/>
                </a:solidFill>
                <a:latin typeface="Pretendard Medium"/>
              </a:rPr>
              <a:t>React 19</a:t>
            </a:r>
          </a:p>
        </p:txBody>
      </p:sp>
      <p:pic>
        <p:nvPicPr>
          <p:cNvPr id="14" name="Picture 13" descr="typescri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6766" y="3200400"/>
            <a:ext cx="310896" cy="310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566160"/>
            <a:ext cx="15076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222222"/>
                </a:solidFill>
                <a:latin typeface="Pretendard Medium"/>
              </a:rPr>
              <a:t>TypeScript</a:t>
            </a:r>
          </a:p>
        </p:txBody>
      </p:sp>
      <p:pic>
        <p:nvPicPr>
          <p:cNvPr id="16" name="Picture 15" descr="v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6766" y="3785615"/>
            <a:ext cx="310896" cy="31089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4151376"/>
            <a:ext cx="15076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222222"/>
                </a:solidFill>
                <a:latin typeface="Pretendard Medium"/>
              </a:rPr>
              <a:t>Vite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40381" y="1865376"/>
            <a:ext cx="1690573" cy="3767328"/>
          </a:xfrm>
          <a:prstGeom prst="roundRect">
            <a:avLst>
              <a:gd name="adj" fmla="val 649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40381" y="2084832"/>
            <a:ext cx="16905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563EB"/>
                </a:solidFill>
                <a:latin typeface="Pretendard"/>
              </a:rPr>
              <a:t>BACKEND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641549" y="2450592"/>
            <a:ext cx="1288237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 descr="fastap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0219" y="2615184"/>
            <a:ext cx="310896" cy="31089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31821" y="2980944"/>
            <a:ext cx="15076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222222"/>
                </a:solidFill>
                <a:latin typeface="Pretendard Medium"/>
              </a:rPr>
              <a:t>FastAPI</a:t>
            </a:r>
          </a:p>
        </p:txBody>
      </p:sp>
      <p:pic>
        <p:nvPicPr>
          <p:cNvPr id="23" name="Picture 22" descr="pyth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30219" y="3200400"/>
            <a:ext cx="310896" cy="31089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531821" y="3566160"/>
            <a:ext cx="15076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222222"/>
                </a:solidFill>
                <a:latin typeface="Pretendard Medium"/>
              </a:rPr>
              <a:t>Python 3.13</a:t>
            </a:r>
          </a:p>
        </p:txBody>
      </p:sp>
      <p:pic>
        <p:nvPicPr>
          <p:cNvPr id="25" name="Picture 24" descr="sqlalchem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30219" y="3785615"/>
            <a:ext cx="310896" cy="31089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531821" y="4151376"/>
            <a:ext cx="15076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222222"/>
                </a:solidFill>
                <a:latin typeface="Pretendard Medium"/>
              </a:rPr>
              <a:t>SQLAlchemy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13834" y="1865376"/>
            <a:ext cx="1690573" cy="3767328"/>
          </a:xfrm>
          <a:prstGeom prst="roundRect">
            <a:avLst>
              <a:gd name="adj" fmla="val 649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13834" y="2084832"/>
            <a:ext cx="16905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563EB"/>
                </a:solidFill>
                <a:latin typeface="Pretendard"/>
              </a:rPr>
              <a:t>DATABASE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515002" y="2450592"/>
            <a:ext cx="1288237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29" descr="supabas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3673" y="2615184"/>
            <a:ext cx="310896" cy="31089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405274" y="2980944"/>
            <a:ext cx="15076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222222"/>
                </a:solidFill>
                <a:latin typeface="Pretendard Medium"/>
              </a:rPr>
              <a:t>Supabase</a:t>
            </a:r>
          </a:p>
        </p:txBody>
      </p:sp>
      <p:pic>
        <p:nvPicPr>
          <p:cNvPr id="32" name="Picture 31" descr="postgresq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03673" y="3200400"/>
            <a:ext cx="310896" cy="31089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405274" y="3566160"/>
            <a:ext cx="15076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222222"/>
                </a:solidFill>
                <a:latin typeface="Pretendard Medium"/>
              </a:rPr>
              <a:t>PostgreSQL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03673" y="3785615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F6F8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563EB"/>
                </a:solidFill>
                <a:latin typeface="Pretendard"/>
              </a:rPr>
              <a:t>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05274" y="4151376"/>
            <a:ext cx="15076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222222"/>
                </a:solidFill>
                <a:latin typeface="Pretendard Medium"/>
              </a:rPr>
              <a:t>pgvector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87287" y="1865376"/>
            <a:ext cx="1690573" cy="3767328"/>
          </a:xfrm>
          <a:prstGeom prst="roundRect">
            <a:avLst>
              <a:gd name="adj" fmla="val 649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87287" y="2084832"/>
            <a:ext cx="16905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56F0"/>
                </a:solidFill>
                <a:latin typeface="Pretendard"/>
              </a:rPr>
              <a:t>AI · ML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388455" y="2450592"/>
            <a:ext cx="1288237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9" name="Picture 38" descr="openai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77126" y="2615184"/>
            <a:ext cx="310896" cy="31089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278727" y="2980944"/>
            <a:ext cx="15076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222222"/>
                </a:solidFill>
                <a:latin typeface="Pretendard Medium"/>
              </a:rPr>
              <a:t>OpenAI API</a:t>
            </a:r>
          </a:p>
        </p:txBody>
      </p:sp>
      <p:pic>
        <p:nvPicPr>
          <p:cNvPr id="41" name="Picture 40" descr="langchai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77126" y="3200400"/>
            <a:ext cx="310896" cy="31089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278727" y="3566160"/>
            <a:ext cx="15076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222222"/>
                </a:solidFill>
                <a:latin typeface="Pretendard Medium"/>
              </a:rPr>
              <a:t>LangChain</a:t>
            </a:r>
          </a:p>
        </p:txBody>
      </p:sp>
      <p:pic>
        <p:nvPicPr>
          <p:cNvPr id="43" name="Picture 42" descr="scikitlear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77126" y="3785615"/>
            <a:ext cx="310896" cy="31089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278727" y="4151376"/>
            <a:ext cx="15076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222222"/>
                </a:solidFill>
                <a:latin typeface="Pretendard Medium"/>
              </a:rPr>
              <a:t>scikit-learn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77126" y="4370831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F6F8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563EB"/>
                </a:solidFill>
                <a:latin typeface="Pretendard"/>
              </a:rPr>
              <a:t>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78727" y="4736592"/>
            <a:ext cx="15076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222222"/>
                </a:solidFill>
                <a:latin typeface="Pretendard Medium"/>
              </a:rPr>
              <a:t>CatBoost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77126" y="4956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F6F8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563EB"/>
                </a:solidFill>
                <a:latin typeface="Pretendard"/>
              </a:rPr>
              <a:t>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78727" y="5321808"/>
            <a:ext cx="15076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222222"/>
                </a:solidFill>
                <a:latin typeface="Pretendard Medium"/>
              </a:rPr>
              <a:t>DeepAgents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60740" y="1865376"/>
            <a:ext cx="1690573" cy="3767328"/>
          </a:xfrm>
          <a:prstGeom prst="roundRect">
            <a:avLst>
              <a:gd name="adj" fmla="val 649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60740" y="2084832"/>
            <a:ext cx="16905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56F0"/>
                </a:solidFill>
                <a:latin typeface="Pretendard"/>
              </a:rPr>
              <a:t>OCR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261908" y="2450592"/>
            <a:ext cx="1288238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8750579" y="2615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F6F8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563EB"/>
                </a:solidFill>
                <a:latin typeface="Pretendard"/>
              </a:rPr>
              <a:t>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52180" y="2980944"/>
            <a:ext cx="15076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222222"/>
                </a:solidFill>
                <a:latin typeface="Pretendard Medium"/>
              </a:rPr>
              <a:t>PaddleOCR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750579" y="32004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F6F8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563EB"/>
                </a:solidFill>
                <a:latin typeface="Pretendard"/>
              </a:rPr>
              <a:t>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52180" y="3566160"/>
            <a:ext cx="15076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222222"/>
                </a:solidFill>
                <a:latin typeface="Pretendard Medium"/>
              </a:rPr>
              <a:t>RunPod GPU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934194" y="1865376"/>
            <a:ext cx="1690573" cy="3767328"/>
          </a:xfrm>
          <a:prstGeom prst="roundRect">
            <a:avLst>
              <a:gd name="adj" fmla="val 649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934194" y="2084832"/>
            <a:ext cx="16905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563EB"/>
                </a:solidFill>
                <a:latin typeface="Pretendard"/>
              </a:rPr>
              <a:t>INFRA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0135362" y="2450592"/>
            <a:ext cx="1288237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9" name="Picture 58" descr="docker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24032" y="2615184"/>
            <a:ext cx="310896" cy="310896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0025634" y="2980944"/>
            <a:ext cx="15076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222222"/>
                </a:solidFill>
                <a:latin typeface="Pretendard Medium"/>
              </a:rPr>
              <a:t>Docker</a:t>
            </a:r>
          </a:p>
        </p:txBody>
      </p:sp>
      <p:pic>
        <p:nvPicPr>
          <p:cNvPr id="61" name="Picture 60" descr="githubactions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24032" y="3200400"/>
            <a:ext cx="310896" cy="310896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0025634" y="3566160"/>
            <a:ext cx="15076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222222"/>
                </a:solidFill>
                <a:latin typeface="Pretendard Medium"/>
              </a:rPr>
              <a:t>GitHub Actions</a:t>
            </a:r>
          </a:p>
        </p:txBody>
      </p:sp>
      <p:pic>
        <p:nvPicPr>
          <p:cNvPr id="63" name="Picture 62" descr="amazonwebservices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24032" y="3785615"/>
            <a:ext cx="310896" cy="310896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0025634" y="4151376"/>
            <a:ext cx="15076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222222"/>
                </a:solidFill>
                <a:latin typeface="Pretendard Medium"/>
              </a:rPr>
              <a:t>AWS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66928" y="5705856"/>
            <a:ext cx="11057839" cy="347472"/>
          </a:xfrm>
          <a:prstGeom prst="roundRect">
            <a:avLst>
              <a:gd name="adj" fmla="val 31578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66928" y="5705856"/>
            <a:ext cx="68580" cy="34747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77824" y="5769864"/>
            <a:ext cx="1050919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7437D"/>
                </a:solidFill>
                <a:latin typeface="Pretendard SemiBold"/>
              </a:rPr>
              <a:t>LLM gpt-5.6-luna · STT gpt-4o-transcribe · OCR PaddleOCR (RunPod GPU) · provider adapter로 교체 가능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02 설계와 구현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입구는 하나, 오래 걸리는 AI 작업은 따로 뗐다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deploy/backend/deploy.sh · backend/app/services/agent_worker.py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39" y="1865376"/>
            <a:ext cx="2377440" cy="457200"/>
          </a:xfrm>
          <a:prstGeom prst="roundRect">
            <a:avLst>
              <a:gd name="adj" fmla="val 24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9842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E8E93"/>
                </a:solidFill>
                <a:latin typeface="Pretendard"/>
              </a:rPr>
              <a:t>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5847" y="1956816"/>
            <a:ext cx="1856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사용자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37360" y="2414016"/>
            <a:ext cx="5029200" cy="658368"/>
          </a:xfrm>
          <a:prstGeom prst="roundRect">
            <a:avLst>
              <a:gd name="adj" fmla="val 1666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6334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563EB"/>
                </a:solidFill>
                <a:latin typeface="Pretendard"/>
              </a:rPr>
              <a:t>EDGE</a:t>
            </a:r>
          </a:p>
        </p:txBody>
      </p:sp>
      <p:pic>
        <p:nvPicPr>
          <p:cNvPr id="14" name="Picture 13" descr="amazonwebserv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967" y="2587752"/>
            <a:ext cx="310896" cy="310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523744" y="2523744"/>
            <a:ext cx="401421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CloudFront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1500">
                <a:solidFill>
                  <a:srgbClr val="45515E"/>
                </a:solidFill>
                <a:latin typeface="Pretendard"/>
              </a:rPr>
              <a:t>단일 HTTPS 진입점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51960" y="2322576"/>
            <a:ext cx="0" cy="73152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086600" y="2414016"/>
            <a:ext cx="4535424" cy="658368"/>
          </a:xfrm>
          <a:prstGeom prst="roundRect">
            <a:avLst>
              <a:gd name="adj" fmla="val 1666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Picture 17" descr="amazons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2596896"/>
            <a:ext cx="292608" cy="2926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81544" y="2523744"/>
            <a:ext cx="362102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S3 (Private)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React SPA 정적 호스팅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03136" y="2743200"/>
            <a:ext cx="246888" cy="0"/>
          </a:xfrm>
          <a:prstGeom prst="line">
            <a:avLst/>
          </a:prstGeom>
          <a:ln w="19050">
            <a:solidFill>
              <a:srgbClr val="BFDBFE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737360" y="3163824"/>
            <a:ext cx="5029200" cy="658368"/>
          </a:xfrm>
          <a:prstGeom prst="roundRect">
            <a:avLst>
              <a:gd name="adj" fmla="val 1666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33832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563EB"/>
                </a:solidFill>
                <a:latin typeface="Pretendard"/>
              </a:rPr>
              <a:t>APP</a:t>
            </a:r>
          </a:p>
        </p:txBody>
      </p:sp>
      <p:pic>
        <p:nvPicPr>
          <p:cNvPr id="23" name="Picture 22" descr="amazone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9967" y="3337560"/>
            <a:ext cx="310896" cy="31089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523744" y="3273552"/>
            <a:ext cx="401421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EC2 · Nginx · FastAPI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1500">
                <a:solidFill>
                  <a:srgbClr val="45515E"/>
                </a:solidFill>
                <a:latin typeface="Pretendard"/>
              </a:rPr>
              <a:t>API 서버 · SSE 진행 상황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251960" y="3072384"/>
            <a:ext cx="0" cy="73152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086600" y="3163824"/>
            <a:ext cx="4535424" cy="658368"/>
          </a:xfrm>
          <a:prstGeom prst="roundRect">
            <a:avLst>
              <a:gd name="adj" fmla="val 1666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81544" y="3273552"/>
            <a:ext cx="362102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OCR · STT 동기 호출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RunPod PaddleOCR · gpt-4o-transcribe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03136" y="3493008"/>
            <a:ext cx="246888" cy="0"/>
          </a:xfrm>
          <a:prstGeom prst="line">
            <a:avLst/>
          </a:prstGeom>
          <a:ln w="19050">
            <a:solidFill>
              <a:srgbClr val="BFDBFE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737360" y="3913632"/>
            <a:ext cx="5029200" cy="1042415"/>
          </a:xfrm>
          <a:prstGeom prst="roundRect">
            <a:avLst>
              <a:gd name="adj" fmla="val 10526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43251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56F0"/>
                </a:solidFill>
                <a:latin typeface="Pretendard"/>
              </a:rPr>
              <a:t>DATA</a:t>
            </a:r>
          </a:p>
        </p:txBody>
      </p:sp>
      <p:pic>
        <p:nvPicPr>
          <p:cNvPr id="31" name="Picture 30" descr="sup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9967" y="4279392"/>
            <a:ext cx="310896" cy="31089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523744" y="4023360"/>
            <a:ext cx="4014216" cy="1042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Supabase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1500">
                <a:solidFill>
                  <a:srgbClr val="45515E"/>
                </a:solidFill>
                <a:latin typeface="Pretendard"/>
              </a:rPr>
              <a:t>PostgreSQL · pgvector · Auth · Storage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0"/>
              </a:spcAft>
            </a:pPr>
            <a:r>
              <a:rPr sz="1500">
                <a:solidFill>
                  <a:srgbClr val="45515E"/>
                </a:solidFill>
                <a:latin typeface="Pretendard"/>
              </a:rPr>
              <a:t>agent_run 작업 큐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251960" y="3822191"/>
            <a:ext cx="0" cy="73153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737360" y="5047488"/>
            <a:ext cx="5029200" cy="658368"/>
          </a:xfrm>
          <a:prstGeom prst="roundRect">
            <a:avLst>
              <a:gd name="adj" fmla="val 1666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526694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B82F6"/>
                </a:solidFill>
                <a:latin typeface="Pretendard"/>
              </a:rPr>
              <a:t>ASYNC</a:t>
            </a:r>
          </a:p>
        </p:txBody>
      </p:sp>
      <p:pic>
        <p:nvPicPr>
          <p:cNvPr id="36" name="Picture 35" descr="dock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29967" y="5221224"/>
            <a:ext cx="310896" cy="31089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523744" y="5157216"/>
            <a:ext cx="401421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Agent Worker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1500">
                <a:solidFill>
                  <a:srgbClr val="45515E"/>
                </a:solidFill>
                <a:latin typeface="Pretendard"/>
              </a:rPr>
              <a:t>큐 폴링 · 별도 Docker 컨테이너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251960" y="4956048"/>
            <a:ext cx="0" cy="73152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086600" y="5047488"/>
            <a:ext cx="4535424" cy="658368"/>
          </a:xfrm>
          <a:prstGeom prst="roundRect">
            <a:avLst>
              <a:gd name="adj" fmla="val 1666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0" name="Picture 39" descr="opena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0920" y="5230368"/>
            <a:ext cx="292608" cy="29260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781544" y="5157216"/>
            <a:ext cx="362102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OpenAI gpt-5.6-luna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보고서 · 미팅분석 생성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803136" y="5376672"/>
            <a:ext cx="246888" cy="0"/>
          </a:xfrm>
          <a:prstGeom prst="line">
            <a:avLst/>
          </a:prstGeom>
          <a:ln w="19050">
            <a:solidFill>
              <a:srgbClr val="BFDBFE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566928" y="5779008"/>
            <a:ext cx="11057839" cy="384048"/>
          </a:xfrm>
          <a:prstGeom prst="roundRect">
            <a:avLst>
              <a:gd name="adj" fmla="val 28571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" y="5779008"/>
            <a:ext cx="68580" cy="38404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4" y="5852160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7437D"/>
                </a:solidFill>
                <a:latin typeface="Pretendard SemiBold"/>
              </a:rPr>
              <a:t>배포    GitHub Actions → OIDC → SSM 원격 실행    ·    무중단 blue / green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02 설계와 구현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다섯 에이전트가 판단 · 초안 · 제안을 나눠 맡는다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backend/app/agents/ (develop, 2026-09-17)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11057839" cy="658368"/>
          </a:xfrm>
          <a:prstGeom prst="roundRect">
            <a:avLst>
              <a:gd name="adj" fmla="val 1666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65376"/>
            <a:ext cx="68580" cy="65836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039112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미팅분석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75887" y="204825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563EB"/>
                </a:solidFill>
                <a:latin typeface="Pretendard SemiBold"/>
              </a:rPr>
              <a:t>판단 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7528" y="2057400"/>
            <a:ext cx="593719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미팅 원문에서 딜별 귀속과 성사 확률을 만든다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651760"/>
            <a:ext cx="11057839" cy="658368"/>
          </a:xfrm>
          <a:prstGeom prst="roundRect">
            <a:avLst>
              <a:gd name="adj" fmla="val 1666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2651760"/>
            <a:ext cx="68580" cy="65836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825496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영업 · 계약관리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75887" y="283464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563EB"/>
                </a:solidFill>
                <a:latin typeface="Pretendard SemiBold"/>
              </a:rPr>
              <a:t>상태 허브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7528" y="2843784"/>
            <a:ext cx="593719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위험 신호와 이력을 보고 다음 미팅을 제안한다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38144"/>
            <a:ext cx="11057839" cy="658368"/>
          </a:xfrm>
          <a:prstGeom prst="roundRect">
            <a:avLst>
              <a:gd name="adj" fmla="val 1666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3438144"/>
            <a:ext cx="68580" cy="658368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611879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보고서 작성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75887" y="3621024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563EB"/>
                </a:solidFill>
                <a:latin typeface="Pretendard SemiBold"/>
              </a:rPr>
              <a:t>실행 지원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7528" y="3630168"/>
            <a:ext cx="593719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원문과 하위 확정 보고서로 초안을 쓴다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224528"/>
            <a:ext cx="11057839" cy="658368"/>
          </a:xfrm>
          <a:prstGeom prst="roundRect">
            <a:avLst>
              <a:gd name="adj" fmla="val 1666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224528"/>
            <a:ext cx="68580" cy="658368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4398264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일정관리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75887" y="440740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563EB"/>
                </a:solidFill>
                <a:latin typeface="Pretendard SemiBold"/>
              </a:rPr>
              <a:t>실행 지원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67528" y="4416552"/>
            <a:ext cx="593719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저장된 추천이 아직 유효한지 다시 판단한다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010912"/>
            <a:ext cx="11057839" cy="658368"/>
          </a:xfrm>
          <a:prstGeom prst="roundRect">
            <a:avLst>
              <a:gd name="adj" fmla="val 1666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5010912"/>
            <a:ext cx="68580" cy="658368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184648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자료요약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75887" y="519379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563EB"/>
                </a:solidFill>
                <a:latin typeface="Pretendard SemiBold"/>
              </a:rPr>
              <a:t>실행 지원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67528" y="5202936"/>
            <a:ext cx="593719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문서를 구조화 요약하고 RAG 청크로 적재한다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02 설계와 구현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판단과 제안을 만드는 두 에이전트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backend/app/agents/ (develop, 2026-09-17)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5300319" cy="3977639"/>
          </a:xfrm>
          <a:prstGeom prst="roundRect">
            <a:avLst>
              <a:gd name="adj" fmla="val 2758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65376"/>
            <a:ext cx="68580" cy="3977639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94560"/>
            <a:ext cx="4660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미팅분석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706624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563EB"/>
                </a:solidFill>
                <a:latin typeface="Pretendard SemiBold"/>
              </a:rPr>
              <a:t>판단 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5526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입력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29584"/>
            <a:ext cx="46602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미팅 원문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5993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출력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34256"/>
            <a:ext cx="46602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딜별 귀속 · 13개 특성 · 성사 확률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6460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사람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38928"/>
            <a:ext cx="46602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확정할 때 저장된다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4447" y="1865376"/>
            <a:ext cx="5300319" cy="3977639"/>
          </a:xfrm>
          <a:prstGeom prst="roundRect">
            <a:avLst>
              <a:gd name="adj" fmla="val 2758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24447" y="1865376"/>
            <a:ext cx="68580" cy="3977639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1919" y="2194560"/>
            <a:ext cx="4660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영업 · 계약관리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1919" y="2706624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563EB"/>
                </a:solidFill>
                <a:latin typeface="Pretendard SemiBold"/>
              </a:rPr>
              <a:t>상태 허브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1919" y="325526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입력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1919" y="3529584"/>
            <a:ext cx="46602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위험 신호 7종 · 이력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1919" y="405993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출력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1919" y="4334256"/>
            <a:ext cx="46602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다음 미팅 제안 · 근거 브리핑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1919" y="486460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사람 확인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1919" y="5138928"/>
            <a:ext cx="46602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캘린더 승인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02 설계와 구현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실행을 돕는 세 에이전트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backend/app/agents/ (develop, 2026-09-17)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3466490" cy="3977639"/>
          </a:xfrm>
          <a:prstGeom prst="roundRect">
            <a:avLst>
              <a:gd name="adj" fmla="val 3165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65376"/>
            <a:ext cx="68580" cy="3977639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94560"/>
            <a:ext cx="28264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보고서 작성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706624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563EB"/>
                </a:solidFill>
                <a:latin typeface="Pretendard SemiBold"/>
              </a:rPr>
              <a:t>실행 지원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5526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입력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29584"/>
            <a:ext cx="282641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원문 · 하위 확정 보고서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5993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출력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34256"/>
            <a:ext cx="282641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작성 → 검토 → 수정 초안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6460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사람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38928"/>
            <a:ext cx="282641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확정 · 팀장 검토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62602" y="1865376"/>
            <a:ext cx="3466490" cy="3977639"/>
          </a:xfrm>
          <a:prstGeom prst="roundRect">
            <a:avLst>
              <a:gd name="adj" fmla="val 3165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62602" y="1865376"/>
            <a:ext cx="68580" cy="3977639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10074" y="2194560"/>
            <a:ext cx="28264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일정관리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10074" y="2706624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563EB"/>
                </a:solidFill>
                <a:latin typeface="Pretendard SemiBold"/>
              </a:rPr>
              <a:t>실행 지원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10074" y="325526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입력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0074" y="3529584"/>
            <a:ext cx="282641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저장된 추천 · 딜 상태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0074" y="405993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출력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10074" y="4334256"/>
            <a:ext cx="282641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유효 / 재생성 / 무시 판단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10074" y="486460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사람 확인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10074" y="5138928"/>
            <a:ext cx="282641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승인 · 거절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58276" y="1865376"/>
            <a:ext cx="3466490" cy="3977639"/>
          </a:xfrm>
          <a:prstGeom prst="roundRect">
            <a:avLst>
              <a:gd name="adj" fmla="val 3165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58276" y="1865376"/>
            <a:ext cx="68580" cy="3977639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5748" y="2194560"/>
            <a:ext cx="28264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자료요약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05748" y="2706624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563EB"/>
                </a:solidFill>
                <a:latin typeface="Pretendard SemiBold"/>
              </a:rPr>
              <a:t>실행 지원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5748" y="325526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입력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5748" y="3529584"/>
            <a:ext cx="282641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PDF · DOCX · 이미지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5748" y="405993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출력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5748" y="4334256"/>
            <a:ext cx="282641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구조화 요약 · RAG 청크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5748" y="486460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사람 확인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5748" y="5138928"/>
            <a:ext cx="282641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원문 대조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02 설계와 구현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ML · OCR · Agent는 서로 다른 일을 한다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backend/app/agents · OCR 고도화 전후 최종 결과보고서(2026-09-17)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11057839" cy="1261872"/>
          </a:xfrm>
          <a:prstGeom prst="roundRect">
            <a:avLst>
              <a:gd name="adj" fmla="val 8695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65376"/>
            <a:ext cx="68580" cy="126187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176272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7437D"/>
                </a:solidFill>
                <a:latin typeface="Pretendard"/>
              </a:rPr>
              <a:t>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560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45515E"/>
                </a:solidFill>
                <a:latin typeface="Pretendard"/>
              </a:rPr>
              <a:t>딜 승산 예측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35808" y="2084832"/>
            <a:ext cx="1914067" cy="822959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222222"/>
                </a:solidFill>
                <a:latin typeface="Pretendard SemiBold"/>
              </a:rPr>
              <a:t>미팅 원문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95595" y="2496312"/>
            <a:ext cx="219456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260771" y="2084832"/>
            <a:ext cx="1914067" cy="822959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222222"/>
                </a:solidFill>
                <a:latin typeface="Pretendard SemiBold"/>
              </a:rPr>
              <a:t>딜 13개 특성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220559" y="2496312"/>
            <a:ext cx="219456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85735" y="2084832"/>
            <a:ext cx="1914067" cy="822959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222222"/>
                </a:solidFill>
                <a:latin typeface="Pretendard SemiBold"/>
              </a:rPr>
              <a:t>Stacking_LR 모델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445523" y="2496312"/>
            <a:ext cx="219456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710699" y="2084832"/>
            <a:ext cx="1914067" cy="822959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222222"/>
                </a:solidFill>
                <a:latin typeface="Pretendard SemiBold"/>
              </a:rPr>
              <a:t>성사 확률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328415"/>
            <a:ext cx="11057839" cy="1261872"/>
          </a:xfrm>
          <a:prstGeom prst="roundRect">
            <a:avLst>
              <a:gd name="adj" fmla="val 8695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328415"/>
            <a:ext cx="68580" cy="126187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639311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7437D"/>
                </a:solidFill>
                <a:latin typeface="Pretendard"/>
              </a:rPr>
              <a:t>OCR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02335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45515E"/>
                </a:solidFill>
                <a:latin typeface="Pretendard"/>
              </a:rPr>
              <a:t>문서 텍스트 추출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35808" y="3547872"/>
            <a:ext cx="1914067" cy="822959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222222"/>
                </a:solidFill>
                <a:latin typeface="Pretendard SemiBold"/>
              </a:rPr>
              <a:t>문서 · 이미지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995595" y="3959352"/>
            <a:ext cx="219456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260771" y="3547872"/>
            <a:ext cx="1914067" cy="822959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222222"/>
                </a:solidFill>
                <a:latin typeface="Pretendard SemiBold"/>
              </a:rPr>
              <a:t>RunPod PDF OCR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220559" y="3959352"/>
            <a:ext cx="219456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485735" y="3547872"/>
            <a:ext cx="1914067" cy="822959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222222"/>
                </a:solidFill>
                <a:latin typeface="Pretendard SemiBold"/>
              </a:rPr>
              <a:t>한글 누락 시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222222"/>
                </a:solidFill>
                <a:latin typeface="Pretendard SemiBold"/>
              </a:rPr>
              <a:t>PNG 재시도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45523" y="3959352"/>
            <a:ext cx="219456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710699" y="3547872"/>
            <a:ext cx="1914067" cy="822959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222222"/>
                </a:solidFill>
                <a:latin typeface="Pretendard SemiBold"/>
              </a:rPr>
              <a:t>필드 추출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222222"/>
                </a:solidFill>
                <a:latin typeface="Pretendard SemiBold"/>
              </a:rPr>
              <a:t>고객 · 계약 등록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791456"/>
            <a:ext cx="11057839" cy="1261872"/>
          </a:xfrm>
          <a:prstGeom prst="roundRect">
            <a:avLst>
              <a:gd name="adj" fmla="val 8695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4791456"/>
            <a:ext cx="68580" cy="126187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102352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7437D"/>
                </a:solidFill>
                <a:latin typeface="Pretendard"/>
              </a:rPr>
              <a:t>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5486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45515E"/>
                </a:solidFill>
                <a:latin typeface="Pretendard"/>
              </a:rPr>
              <a:t>초안과 제안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35808" y="5010912"/>
            <a:ext cx="1914067" cy="822959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222222"/>
                </a:solidFill>
                <a:latin typeface="Pretendard SemiBold"/>
              </a:rPr>
              <a:t>업무 트리거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995595" y="5422392"/>
            <a:ext cx="219456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260771" y="5010912"/>
            <a:ext cx="1914067" cy="822959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222222"/>
                </a:solidFill>
                <a:latin typeface="Pretendard SemiBold"/>
              </a:rPr>
              <a:t>agent_run 큐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220559" y="5422392"/>
            <a:ext cx="219456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485735" y="5010912"/>
            <a:ext cx="1914067" cy="822959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222222"/>
                </a:solidFill>
                <a:latin typeface="Pretendard SemiBold"/>
              </a:rPr>
              <a:t>에이전트 초안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445523" y="5422392"/>
            <a:ext cx="219456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710699" y="5010912"/>
            <a:ext cx="1914067" cy="822959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222222"/>
                </a:solidFill>
                <a:latin typeface="Pretendard SemiBold"/>
              </a:rPr>
              <a:t>사람이 확정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02 설계와 구현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트리거와 작업 큐로 잇고, 사람이 닫는다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backend/app/services/agent_runs.py · agent_worker.py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2572435" cy="3657600"/>
          </a:xfrm>
          <a:prstGeom prst="roundRect">
            <a:avLst>
              <a:gd name="adj" fmla="val 4265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21152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업무 트리거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04672" y="2560320"/>
            <a:ext cx="2096947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804672" y="2825496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724912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자료 업로드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" y="3392424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291840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미팅 보고서 생성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" y="3959352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858768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보고서 확정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" y="4526280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4425696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일정 등록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" y="5093208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4992624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딜 단계 이동 외 3건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175939" y="3694176"/>
            <a:ext cx="182880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395395" y="1865376"/>
            <a:ext cx="2572435" cy="3657600"/>
          </a:xfrm>
          <a:prstGeom prst="roundRect">
            <a:avLst>
              <a:gd name="adj" fmla="val 4265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33139" y="2103120"/>
            <a:ext cx="21152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작업 큐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633139" y="2560320"/>
            <a:ext cx="2096948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633139" y="2825496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16019" y="2724912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agent_run 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33139" y="3392424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16019" y="3291840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PostgreSQL 기반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33139" y="3959352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16019" y="3858768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부모 · 자식 실행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33139" y="4526280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16019" y="4425696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재시도 최대 2회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33139" y="5093208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16019" y="4992624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lease 90초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004407" y="3694176"/>
            <a:ext cx="182880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223863" y="1865376"/>
            <a:ext cx="2572435" cy="3657600"/>
          </a:xfrm>
          <a:prstGeom prst="roundRect">
            <a:avLst>
              <a:gd name="adj" fmla="val 4265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23863" y="1865376"/>
            <a:ext cx="68580" cy="365760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61607" y="2103120"/>
            <a:ext cx="21152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7437D"/>
                </a:solidFill>
                <a:latin typeface="Pretendard"/>
              </a:rPr>
              <a:t>에이전트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461607" y="2560320"/>
            <a:ext cx="2096948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6461607" y="2825496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44487" y="2724912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SemiBold"/>
              </a:rPr>
              <a:t>미팅 내용분석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61607" y="3392424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44487" y="3291840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SemiBold"/>
              </a:rPr>
              <a:t>보고서 작성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61607" y="3959352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44487" y="3858768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SemiBold"/>
              </a:rPr>
              <a:t>딜 특성 + ML 예측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61607" y="4526280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44487" y="4425696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SemiBold"/>
              </a:rPr>
              <a:t>계약관리 → 일정관리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61607" y="5093208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44487" y="4992624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SemiBold"/>
              </a:rPr>
              <a:t>브리핑 · 자료요약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832875" y="3694176"/>
            <a:ext cx="182880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9052331" y="1865376"/>
            <a:ext cx="2572435" cy="3657600"/>
          </a:xfrm>
          <a:prstGeom prst="roundRect">
            <a:avLst>
              <a:gd name="adj" fmla="val 4265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90075" y="2103120"/>
            <a:ext cx="21152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사람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290075" y="2560320"/>
            <a:ext cx="2096948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9290075" y="2825496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72955" y="2724912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보고서 확정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90075" y="3392424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72955" y="3291840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추천 승인 · 일정 등록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290075" y="3959352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72955" y="3858768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팀장 검토 · 반려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66928" y="5669280"/>
            <a:ext cx="11057839" cy="566928"/>
          </a:xfrm>
          <a:prstGeom prst="roundRect">
            <a:avLst>
              <a:gd name="adj" fmla="val 1935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6928" y="5669280"/>
            <a:ext cx="68580" cy="56692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96112" y="5798439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사람의 확정이 다시 트리거가 되어 처음으로 돌아간다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02 설계와 구현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전역 LLM Supervisor는 없다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backend/app/services/agent_runs.py · agent_worker.py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3466490" cy="3200400"/>
          </a:xfrm>
          <a:prstGeom prst="roundRect">
            <a:avLst>
              <a:gd name="adj" fmla="val 3428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49424"/>
            <a:ext cx="28264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무엇으로 잇는가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16936"/>
            <a:ext cx="282641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agent_run 큐</a:t>
            </a:r>
          </a:p>
          <a:p>
            <a:pPr algn="l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코드 dispatch</a:t>
            </a:r>
          </a:p>
          <a:p>
            <a:pPr algn="l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API 트리거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2602" y="1865376"/>
            <a:ext cx="3466490" cy="3200400"/>
          </a:xfrm>
          <a:prstGeom prst="roundRect">
            <a:avLst>
              <a:gd name="adj" fmla="val 3428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0074" y="2249424"/>
            <a:ext cx="28264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큐 규칙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0074" y="2916936"/>
            <a:ext cx="282641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부모 · 자식 실행 구조</a:t>
            </a:r>
          </a:p>
          <a:p>
            <a:pPr algn="l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재시도 최대 2회</a:t>
            </a:r>
          </a:p>
          <a:p>
            <a:pPr algn="l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lease 90초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1865376"/>
            <a:ext cx="3466490" cy="3200400"/>
          </a:xfrm>
          <a:prstGeom prst="roundRect">
            <a:avLst>
              <a:gd name="adj" fmla="val 3428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8276" y="1865376"/>
            <a:ext cx="68580" cy="320040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5748" y="2249424"/>
            <a:ext cx="28264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DeepAgents 범위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5748" y="2916936"/>
            <a:ext cx="282641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보고서 작성 내부에서만</a:t>
            </a:r>
          </a:p>
          <a:p>
            <a:pPr algn="l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사용한다</a:t>
            </a:r>
          </a:p>
          <a:p>
            <a:pPr algn="l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전체 조율에는 쓰지 않는다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340096"/>
            <a:ext cx="11057839" cy="566928"/>
          </a:xfrm>
          <a:prstGeom prst="roundRect">
            <a:avLst>
              <a:gd name="adj" fmla="val 1935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5340096"/>
            <a:ext cx="68580" cy="56692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5469255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연결은 큐와 코드로 — 판단은 에이전트가, 확정은 사람이 한다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ull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141732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1">
                <a:solidFill>
                  <a:srgbClr val="1456F0"/>
                </a:solidFill>
                <a:latin typeface="Pretendard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310128"/>
            <a:ext cx="137160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61188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Pretendard"/>
              </a:rPr>
              <a:t>검증과 확장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6177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C4CFDD"/>
                </a:solidFill>
                <a:latin typeface="Pretendard Medium"/>
              </a:rPr>
              <a:t>제대로 동작하는지 어떻게 확인했는가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 SemiBol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에이전트마다 다른 방법으로 검증했다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docs/eval · output/evals · OCR 고도화 전후 최종 결과보고서(2026-09-17)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11057839" cy="713232"/>
          </a:xfrm>
          <a:prstGeom prst="roundRect">
            <a:avLst>
              <a:gd name="adj" fmla="val 15384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65376"/>
            <a:ext cx="68580" cy="71323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066544"/>
            <a:ext cx="4023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미팅분석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8928" y="2084832"/>
            <a:ext cx="616579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합성 골든셋 정답표 대조 + 딜 승산 ML 30회 반복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706624"/>
            <a:ext cx="11057839" cy="713232"/>
          </a:xfrm>
          <a:prstGeom prst="roundRect">
            <a:avLst>
              <a:gd name="adj" fmla="val 15384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706624"/>
            <a:ext cx="68580" cy="71323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07792"/>
            <a:ext cx="4023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보고서 작성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2926080"/>
            <a:ext cx="616579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합성 53건 LLM Judge 절대 평가 + 개선 전후 쌍대 비교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547872"/>
            <a:ext cx="11057839" cy="713232"/>
          </a:xfrm>
          <a:prstGeom prst="roundRect">
            <a:avLst>
              <a:gd name="adj" fmla="val 15384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547872"/>
            <a:ext cx="68580" cy="71323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749039"/>
            <a:ext cx="4023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자료요약 · RAG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38928" y="3767328"/>
            <a:ext cx="616579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합성 문서 7개 · QRA 자동 골든셋 10건 LLM Judge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389120"/>
            <a:ext cx="11057839" cy="713232"/>
          </a:xfrm>
          <a:prstGeom prst="roundRect">
            <a:avLst>
              <a:gd name="adj" fmla="val 15384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389120"/>
            <a:ext cx="68580" cy="71323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590288"/>
            <a:ext cx="4023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OCR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8928" y="4608576"/>
            <a:ext cx="616579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문서 200건 선정 필드 정답값 대조 · 1차와 최종 재시험 비교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230368"/>
            <a:ext cx="11057839" cy="713232"/>
          </a:xfrm>
          <a:prstGeom prst="roundRect">
            <a:avLst>
              <a:gd name="adj" fmla="val 15384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431536"/>
            <a:ext cx="4023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8E8E93"/>
                </a:solidFill>
                <a:latin typeface="Pretendard"/>
              </a:rPr>
              <a:t>영업 · 계약관리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5449824"/>
            <a:ext cx="616579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"/>
              </a:rPr>
              <a:t>[평가 방법 입력 예정]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딜 귀속 84.7%, 특성 추출 74.8%가 다음 과제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미팅 내용분석 구조 보고서 (2026-08-31 골든셋 · 과거 코드 기준)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2558719" cy="1627632"/>
          </a:xfrm>
          <a:prstGeom prst="roundRect">
            <a:avLst>
              <a:gd name="adj" fmla="val 674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103120"/>
            <a:ext cx="193692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222222"/>
                </a:solidFill>
                <a:latin typeface="Pretendard"/>
              </a:rPr>
              <a:t>84.7%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816352"/>
            <a:ext cx="19369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근거 · 딜 일치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145536"/>
            <a:ext cx="1936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94 / 111 구간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9967" y="1865376"/>
            <a:ext cx="2558719" cy="1627632"/>
          </a:xfrm>
          <a:prstGeom prst="roundRect">
            <a:avLst>
              <a:gd name="adj" fmla="val 674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10863" y="2103120"/>
            <a:ext cx="193692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222222"/>
                </a:solidFill>
                <a:latin typeface="Pretendard"/>
              </a:rPr>
              <a:t>74.8%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0863" y="2816352"/>
            <a:ext cx="19369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딜 특성 필드 정확도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0863" y="3145536"/>
            <a:ext cx="1936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350 / 468 필드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1865376"/>
            <a:ext cx="2558719" cy="1627632"/>
          </a:xfrm>
          <a:prstGeom prst="roundRect">
            <a:avLst>
              <a:gd name="adj" fmla="val 674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3903" y="2103120"/>
            <a:ext cx="193692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222222"/>
                </a:solidFill>
                <a:latin typeface="Pretendard"/>
              </a:rPr>
              <a:t>82.6%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3903" y="2816352"/>
            <a:ext cx="19369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필수 사실 보존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3903" y="3145536"/>
            <a:ext cx="1936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38 / 46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66047" y="1865376"/>
            <a:ext cx="2558719" cy="1627632"/>
          </a:xfrm>
          <a:prstGeom prst="roundRect">
            <a:avLst>
              <a:gd name="adj" fmla="val 6741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66047" y="1865376"/>
            <a:ext cx="68580" cy="162763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6943" y="2103120"/>
            <a:ext cx="193692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456F0"/>
                </a:solidFill>
                <a:latin typeface="Pretendard"/>
              </a:rPr>
              <a:t>0 / 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6943" y="2816352"/>
            <a:ext cx="19369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13개 특성 전부 정답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6943" y="3145536"/>
            <a:ext cx="1936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가장 큰 과제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90187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3749039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평가 방법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4270248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4187952"/>
            <a:ext cx="10820095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합성 미팅 12회 · 딜 36개로 만든 골든셋 (2026-08-31)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64024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4681728"/>
            <a:ext cx="10820095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AI가 의미를 검수한 결과이며 사람 판정이 아니다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266944"/>
            <a:ext cx="11057839" cy="566928"/>
          </a:xfrm>
          <a:prstGeom prst="roundRect">
            <a:avLst>
              <a:gd name="adj" fmla="val 1935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5266944"/>
            <a:ext cx="68580" cy="56692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5396103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13개 특성을 한 건도 빠짐없이 맞춘 사례는 36건 중 0건 — 가장 먼저 개선할 지점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딜 승산 모델은 Stacking으로 AUC 0.778까지 올랐다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머신러닝 · 딥러닝 학습결과서 (30회 평균)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34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06524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65376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단계별 성능 — 공개 영문 B2B 448건 · 30회 반복 평균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84048" y="2286000"/>
          <a:ext cx="731520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339327" y="1865376"/>
            <a:ext cx="3285439" cy="1691640"/>
          </a:xfrm>
          <a:prstGeom prst="roundRect">
            <a:avLst>
              <a:gd name="adj" fmla="val 648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31936" y="2048256"/>
            <a:ext cx="270022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456F0"/>
                </a:solidFill>
                <a:latin typeface="Pretendard"/>
              </a:rPr>
              <a:t>+0.037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1936" y="2761488"/>
            <a:ext cx="270022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ROC-AUC 상승폭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1936" y="3090672"/>
            <a:ext cx="27002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0.7409 → 0.7783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39327" y="3712464"/>
            <a:ext cx="3285439" cy="1783080"/>
          </a:xfrm>
          <a:prstGeom prst="roundRect">
            <a:avLst>
              <a:gd name="adj" fmla="val 6153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31936" y="3895344"/>
            <a:ext cx="270022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3B82F6"/>
                </a:solidFill>
                <a:latin typeface="Pretendard"/>
              </a:rPr>
              <a:t>0.1880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1936" y="4608576"/>
            <a:ext cx="270022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Brier 점수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31936" y="4937760"/>
            <a:ext cx="27002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0.2097 → 0.1880 (낮을수록 좋음)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미팅분석 수치를 읽을 때 유의할 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미팅 내용분석 구조 보고서 · 머신러닝 · 딥러닝 학습결과서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3466490" cy="3291840"/>
          </a:xfrm>
          <a:prstGeom prst="roundRect">
            <a:avLst>
              <a:gd name="adj" fmla="val 3333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231136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합성 데이터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871216"/>
            <a:ext cx="2862986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합성 미팅 12회 · 딜 36개</a:t>
            </a:r>
          </a:p>
          <a:p>
            <a:pPr algn="l">
              <a:lnSpc>
                <a:spcPct val="15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2026-08-31 골든셋</a:t>
            </a:r>
          </a:p>
          <a:p>
            <a:pPr algn="l">
              <a:lnSpc>
                <a:spcPct val="15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과거 코드 기준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2602" y="1865376"/>
            <a:ext cx="3466490" cy="3291840"/>
          </a:xfrm>
          <a:prstGeom prst="roundRect">
            <a:avLst>
              <a:gd name="adj" fmla="val 3333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3498" y="2231136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사람 판정 아님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2871216"/>
            <a:ext cx="2862986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AI가 의미를 검수했다</a:t>
            </a:r>
          </a:p>
          <a:p>
            <a:pPr algn="l">
              <a:lnSpc>
                <a:spcPct val="15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사람 평가자가</a:t>
            </a:r>
          </a:p>
          <a:p>
            <a:pPr algn="l">
              <a:lnSpc>
                <a:spcPct val="15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채점한 결과가 아니다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1865376"/>
            <a:ext cx="3466490" cy="3291840"/>
          </a:xfrm>
          <a:prstGeom prst="roundRect">
            <a:avLst>
              <a:gd name="adj" fmla="val 3333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9172" y="2231136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영문 공개 데이터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9172" y="2871216"/>
            <a:ext cx="2862986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딜 승산 ML은</a:t>
            </a:r>
          </a:p>
          <a:p>
            <a:pPr algn="l">
              <a:lnSpc>
                <a:spcPct val="15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공개 영문 B2B 448건 기준</a:t>
            </a:r>
          </a:p>
          <a:p>
            <a:pPr algn="l">
              <a:lnSpc>
                <a:spcPct val="15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한국어 실제 성능은 별도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394960"/>
            <a:ext cx="11057839" cy="566928"/>
          </a:xfrm>
          <a:prstGeom prst="roundRect">
            <a:avLst>
              <a:gd name="adj" fmla="val 1935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5394960"/>
            <a:ext cx="68580" cy="56692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5524119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실제 한국어 영업 데이터에서의 성능은 아직 측정하지 않았다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구조를 바꾸자 53건 모두 생성, 토큰은 54% 감소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docs/eval/01_보고서작성에이전트 (Judge gpt-5.6-luna, 2026-09-08)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2558719" cy="1627632"/>
          </a:xfrm>
          <a:prstGeom prst="roundRect">
            <a:avLst>
              <a:gd name="adj" fmla="val 674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103120"/>
            <a:ext cx="1936927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47 → 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694431"/>
            <a:ext cx="19369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유효 답안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023615"/>
            <a:ext cx="1936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53건 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9967" y="1865376"/>
            <a:ext cx="2558719" cy="1627632"/>
          </a:xfrm>
          <a:prstGeom prst="roundRect">
            <a:avLst>
              <a:gd name="adj" fmla="val 674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10863" y="2103120"/>
            <a:ext cx="193692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222222"/>
                </a:solidFill>
                <a:latin typeface="Pretendard"/>
              </a:rPr>
              <a:t>18 →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0863" y="2816352"/>
            <a:ext cx="19369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외부 재시도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0863" y="3145536"/>
            <a:ext cx="1936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생성 실패 6 → 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1865376"/>
            <a:ext cx="2558719" cy="1627632"/>
          </a:xfrm>
          <a:prstGeom prst="roundRect">
            <a:avLst>
              <a:gd name="adj" fmla="val 6741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007" y="1865376"/>
            <a:ext cx="68580" cy="162763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3903" y="2103120"/>
            <a:ext cx="193692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456F0"/>
                </a:solidFill>
                <a:latin typeface="Pretendard"/>
              </a:rPr>
              <a:t>−54.4%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3903" y="2816352"/>
            <a:ext cx="19369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생성 토큰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3903" y="3145536"/>
            <a:ext cx="1936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1,001만 → 457만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66047" y="1865376"/>
            <a:ext cx="2558719" cy="1627632"/>
          </a:xfrm>
          <a:prstGeom prst="roundRect">
            <a:avLst>
              <a:gd name="adj" fmla="val 674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6943" y="2103120"/>
            <a:ext cx="1936927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29 / 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6943" y="2694431"/>
            <a:ext cx="19369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쌍대 우세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6943" y="3023615"/>
            <a:ext cx="1936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개선 전 우세 1건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90187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3749039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평가 방법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4270248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4187952"/>
            <a:ext cx="10820095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루브릭 5개로 절대 채점하고, 순서를 익명 교차해 쌍대 비교했다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64024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4681728"/>
            <a:ext cx="10820095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인용은 기계로 검증하고, 기간 보고서는 하위 확정본을 참조했다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266944"/>
            <a:ext cx="11057839" cy="566928"/>
          </a:xfrm>
          <a:prstGeom prst="roundRect">
            <a:avLst>
              <a:gd name="adj" fmla="val 1935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5266944"/>
            <a:ext cx="68580" cy="56692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5396103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실패하던 6건이 사라지고, 같은 결과를 절반 이하의 토큰으로 만든다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주간 · 월간 보고서 점수가 가장 크게 올랐다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docs/eval/01_보고서작성에이전트 (Judge gpt-5.6-luna, 2026-09-08)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37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06524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65376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보고서 유형별 LLM Judge 점수 — 100점 만점 · 공통 43건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84048" y="2286000"/>
          <a:ext cx="731520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339327" y="1865376"/>
            <a:ext cx="3285439" cy="1691640"/>
          </a:xfrm>
          <a:prstGeom prst="roundRect">
            <a:avLst>
              <a:gd name="adj" fmla="val 648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31936" y="2048256"/>
            <a:ext cx="270022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456F0"/>
                </a:solidFill>
                <a:latin typeface="Pretendard"/>
              </a:rPr>
              <a:t>+14.6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1936" y="2761488"/>
            <a:ext cx="270022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주간 보고서 상승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1936" y="3090672"/>
            <a:ext cx="27002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72.50 → 87.08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39327" y="3712464"/>
            <a:ext cx="3285439" cy="1783080"/>
          </a:xfrm>
          <a:prstGeom prst="roundRect">
            <a:avLst>
              <a:gd name="adj" fmla="val 6153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31936" y="3895344"/>
            <a:ext cx="270022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8E8E93"/>
                </a:solidFill>
                <a:latin typeface="Pretendard"/>
              </a:rPr>
              <a:t>−1.2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1936" y="4608576"/>
            <a:ext cx="270022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미팅 보고서 하락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31936" y="4937760"/>
            <a:ext cx="27002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97.74 → 96.57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보고서 수치를 읽을 때 유의할 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docs/eval/01_보고서작성에이전트 (2026-09-08)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3466490" cy="3291840"/>
          </a:xfrm>
          <a:prstGeom prst="roundRect">
            <a:avLst>
              <a:gd name="adj" fmla="val 3333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231136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표본이 작다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871216"/>
            <a:ext cx="2862986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시나리오 1개</a:t>
            </a:r>
          </a:p>
          <a:p>
            <a:pPr algn="l">
              <a:lnSpc>
                <a:spcPct val="15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월간 보고서는 1건뿐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2602" y="1865376"/>
            <a:ext cx="3466490" cy="3291840"/>
          </a:xfrm>
          <a:prstGeom prst="roundRect">
            <a:avLst>
              <a:gd name="adj" fmla="val 3333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3498" y="2231136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같은 모델이 채점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2871216"/>
            <a:ext cx="2862986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생성 모델과 Judge 모델이</a:t>
            </a:r>
          </a:p>
          <a:p>
            <a:pPr algn="l">
              <a:lnSpc>
                <a:spcPct val="15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동일하다 (gpt-5.6-luna)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1865376"/>
            <a:ext cx="3466490" cy="3291840"/>
          </a:xfrm>
          <a:prstGeom prst="roundRect">
            <a:avLst>
              <a:gd name="adj" fmla="val 3333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9172" y="2231136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떨어진 지표도 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9172" y="2871216"/>
            <a:ext cx="2862986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미팅 보고서 점수 하락</a:t>
            </a:r>
          </a:p>
          <a:p>
            <a:pPr algn="l">
              <a:lnSpc>
                <a:spcPct val="15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사실 정확성 3.84 → 3.74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394960"/>
            <a:ext cx="11057839" cy="566928"/>
          </a:xfrm>
          <a:prstGeom prst="roundRect">
            <a:avLst>
              <a:gd name="adj" fmla="val 1935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5394960"/>
            <a:ext cx="68580" cy="56692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5524119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개선은 기간 보고서에 집중되었고, 미팅 보고서의 사실 정확성은 오히려 떨어졌다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[영업 · 계약관리 평가 결론 입력 예정]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65376"/>
            <a:ext cx="2558719" cy="1554480"/>
          </a:xfrm>
          <a:prstGeom prst="roundRect">
            <a:avLst>
              <a:gd name="adj" fmla="val 7647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[지표 입력 예정]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9967" y="1865376"/>
            <a:ext cx="2558719" cy="1554480"/>
          </a:xfrm>
          <a:prstGeom prst="roundRect">
            <a:avLst>
              <a:gd name="adj" fmla="val 7647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[지표 입력 예정]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865376"/>
            <a:ext cx="2558719" cy="1554480"/>
          </a:xfrm>
          <a:prstGeom prst="roundRect">
            <a:avLst>
              <a:gd name="adj" fmla="val 7647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[지표 입력 예정]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66047" y="1865376"/>
            <a:ext cx="2558719" cy="1554480"/>
          </a:xfrm>
          <a:prstGeom prst="roundRect">
            <a:avLst>
              <a:gd name="adj" fmla="val 7647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[지표 입력 예정]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648456"/>
            <a:ext cx="7315200" cy="2404872"/>
          </a:xfrm>
          <a:prstGeom prst="roundRect">
            <a:avLst>
              <a:gd name="adj" fmla="val 4942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[차트 또는 평가 도식 입력 예정]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3648456"/>
            <a:ext cx="3468319" cy="2404872"/>
          </a:xfrm>
          <a:prstGeom prst="roundRect">
            <a:avLst>
              <a:gd name="adj" fmla="val 4942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[평가 데이터 · 방법 · 한계 입력 예정]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일정 추천은 보고서에 적힌 날짜에서 출발한다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backend/app/agents/contract_management.py · schedule_management.py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06524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65376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현재 동작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212848"/>
            <a:ext cx="2572435" cy="1572768"/>
          </a:xfrm>
          <a:prstGeom prst="roundRect">
            <a:avLst>
              <a:gd name="adj" fmla="val 697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340864"/>
            <a:ext cx="8229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60A5FA"/>
                </a:solidFill>
                <a:latin typeface="Pretendar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798064"/>
            <a:ext cx="202379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보고서 확정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145536"/>
            <a:ext cx="20237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확정된 미팅 보고서가</a:t>
            </a:r>
          </a:p>
          <a:p>
            <a:pPr algn="l">
              <a:lnSpc>
                <a:spcPct val="140000"/>
              </a:lnSpc>
              <a:spcBef>
                <a:spcPts val="10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트리거가 된다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66795" y="2999232"/>
            <a:ext cx="201168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95395" y="2212848"/>
            <a:ext cx="2572435" cy="1572768"/>
          </a:xfrm>
          <a:prstGeom prst="roundRect">
            <a:avLst>
              <a:gd name="adj" fmla="val 697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69715" y="2340864"/>
            <a:ext cx="8229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60A5FA"/>
                </a:solidFill>
                <a:latin typeface="Pretendard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69715" y="2798064"/>
            <a:ext cx="202379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합의 날짜 추출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69715" y="3145536"/>
            <a:ext cx="20237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보고서에 적힌 다음 만남</a:t>
            </a:r>
          </a:p>
          <a:p>
            <a:pPr algn="l">
              <a:lnSpc>
                <a:spcPct val="140000"/>
              </a:lnSpc>
              <a:spcBef>
                <a:spcPts val="10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날짜를 그대로 쓴다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95263" y="2999232"/>
            <a:ext cx="201168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23863" y="2212848"/>
            <a:ext cx="2572435" cy="1572768"/>
          </a:xfrm>
          <a:prstGeom prst="roundRect">
            <a:avLst>
              <a:gd name="adj" fmla="val 697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8183" y="2340864"/>
            <a:ext cx="8229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60A5FA"/>
                </a:solidFill>
                <a:latin typeface="Pretendar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8183" y="2798064"/>
            <a:ext cx="202379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없으면 이력 판단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8183" y="3145536"/>
            <a:ext cx="20237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미팅 간격 · 요일과 딜</a:t>
            </a:r>
          </a:p>
          <a:p>
            <a:pPr algn="l">
              <a:lnSpc>
                <a:spcPct val="140000"/>
              </a:lnSpc>
              <a:spcBef>
                <a:spcPts val="10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맥락으로 날짜를 고른다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823731" y="2999232"/>
            <a:ext cx="201168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052331" y="2212848"/>
            <a:ext cx="2572435" cy="1572768"/>
          </a:xfrm>
          <a:prstGeom prst="roundRect">
            <a:avLst>
              <a:gd name="adj" fmla="val 6976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52331" y="2212848"/>
            <a:ext cx="68580" cy="157276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651" y="2340864"/>
            <a:ext cx="8229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456F0"/>
                </a:solidFill>
                <a:latin typeface="Pretendard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651" y="2798064"/>
            <a:ext cx="202379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사람이 캘린더 승인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651" y="3145536"/>
            <a:ext cx="20237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담당자가 승인하거나</a:t>
            </a:r>
          </a:p>
          <a:p>
            <a:pPr algn="l">
              <a:lnSpc>
                <a:spcPct val="140000"/>
              </a:lnSpc>
              <a:spcBef>
                <a:spcPts val="10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거절한다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4027931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3986783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승인한 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352544"/>
            <a:ext cx="5346039" cy="13716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4572000"/>
            <a:ext cx="474253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일정관리 에이전트의 재판단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7824" y="5093207"/>
            <a:ext cx="82296" cy="82296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15568" y="5010912"/>
            <a:ext cx="448650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유효 / 재생성 / 무시 중 하나로 판단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" y="5440679"/>
            <a:ext cx="82296" cy="82296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15568" y="5358383"/>
            <a:ext cx="448650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날짜는 직접 만들지 않고 계약관리에 요청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78727" y="4352544"/>
            <a:ext cx="5346039" cy="13716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9623" y="4572000"/>
            <a:ext cx="474253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지금 하지 않는 것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9623" y="5093207"/>
            <a:ext cx="82296" cy="82296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27367" y="5010912"/>
            <a:ext cx="448650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외부 캘린더 연동은 없다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9623" y="5440679"/>
            <a:ext cx="82296" cy="82296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27367" y="5358383"/>
            <a:ext cx="448650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반복 일정 패턴을 자동 규칙화하지 않는다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581558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E8E93"/>
                </a:solidFill>
                <a:latin typeface="Pretendard"/>
              </a:rPr>
              <a:t>규칙 기반 자율 스케줄링이 아니라, 보고서에 적힌 날짜를 우선 쓰는 단순한 방식이다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문서요약 자동 평가 종합 점수는 0.846이다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docs/document-summary-evaluation.md · output/evals/document-summary-rageval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41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06524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65376"/>
            <a:ext cx="7863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지표별 점수 (0–1 · 높을수록 좋음)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29768" y="2286000"/>
          <a:ext cx="786384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887967" y="1865376"/>
            <a:ext cx="2736799" cy="1691640"/>
          </a:xfrm>
          <a:prstGeom prst="roundRect">
            <a:avLst>
              <a:gd name="adj" fmla="val 648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0576" y="2048256"/>
            <a:ext cx="215158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456F0"/>
                </a:solidFill>
                <a:latin typeface="Pretendard"/>
              </a:rPr>
              <a:t>0.846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0576" y="2761488"/>
            <a:ext cx="215158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overall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0576" y="3090672"/>
            <a:ext cx="21515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자동 골든셋 10건 종합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87967" y="3712464"/>
            <a:ext cx="2736799" cy="1783080"/>
          </a:xfrm>
          <a:prstGeom prst="roundRect">
            <a:avLst>
              <a:gd name="adj" fmla="val 6153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0576" y="3895344"/>
            <a:ext cx="215158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3B82F6"/>
                </a:solidFill>
                <a:latin typeface="Pretendard"/>
              </a:rPr>
              <a:t>0.828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0576" y="4608576"/>
            <a:ext cx="215158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completeness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0576" y="4937760"/>
            <a:ext cx="21515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가장 낮은 지표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합성 문서에서 골든셋을 만들어 자동 채점했다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docs/document-summary-evaluation.md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42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06524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65376"/>
            <a:ext cx="6035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평가 흐름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340864"/>
            <a:ext cx="6035040" cy="822960"/>
          </a:xfrm>
          <a:prstGeom prst="roundRect">
            <a:avLst>
              <a:gd name="adj" fmla="val 13333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569464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56F0"/>
                </a:solidFill>
                <a:latin typeface="Pretendar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587752"/>
            <a:ext cx="4754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Medium"/>
              </a:rPr>
              <a:t>합성 문서 7개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84448" y="3191256"/>
            <a:ext cx="0" cy="164592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66928" y="3383280"/>
            <a:ext cx="6035040" cy="822960"/>
          </a:xfrm>
          <a:prstGeom prst="roundRect">
            <a:avLst>
              <a:gd name="adj" fmla="val 13333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36118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56F0"/>
                </a:solidFill>
                <a:latin typeface="Pretendar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630168"/>
            <a:ext cx="4754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Medium"/>
              </a:rPr>
              <a:t>QRA 자동 골든셋 10건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584448" y="4233672"/>
            <a:ext cx="0" cy="164592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66928" y="4425696"/>
            <a:ext cx="6035040" cy="822960"/>
          </a:xfrm>
          <a:prstGeom prst="roundRect">
            <a:avLst>
              <a:gd name="adj" fmla="val 13333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4425696"/>
            <a:ext cx="68580" cy="82296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654296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56F0"/>
                </a:solidFill>
                <a:latin typeface="Pretendard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672583"/>
            <a:ext cx="4754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Medium"/>
              </a:rPr>
              <a:t>요약 6 · 검색 4 LLM Judge 채점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50607" y="1906524"/>
            <a:ext cx="68580" cy="164592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33488" y="1865376"/>
            <a:ext cx="44741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8E8E93"/>
                </a:solidFill>
                <a:latin typeface="Pretendard SemiBold"/>
              </a:rPr>
              <a:t>읽을 때 주의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50607" y="2340864"/>
            <a:ext cx="4474159" cy="3108960"/>
          </a:xfrm>
          <a:prstGeom prst="roundRect">
            <a:avLst>
              <a:gd name="adj" fmla="val 3529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61504" y="2807208"/>
            <a:ext cx="82296" cy="82296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99248" y="2724912"/>
            <a:ext cx="361462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요약 6건은 0.91–0.98 구간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61504" y="3630168"/>
            <a:ext cx="82296" cy="82296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99248" y="3547872"/>
            <a:ext cx="361462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사람 검수는 pending 상태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61504" y="4453128"/>
            <a:ext cx="82296" cy="82296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99248" y="4370832"/>
            <a:ext cx="361462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모두 합성 문서 기준 결과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조건부 PNG 재시도로 핵심 문서 일치율 98.8%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OCR 고도화 전후 최종 결과보고서 (2026-09-17 RunPod 재시험)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43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2558719" cy="1627632"/>
          </a:xfrm>
          <a:prstGeom prst="roundRect">
            <a:avLst>
              <a:gd name="adj" fmla="val 6741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65376"/>
            <a:ext cx="68580" cy="162763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103120"/>
            <a:ext cx="193692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456F0"/>
                </a:solidFill>
                <a:latin typeface="Pretendard"/>
              </a:rPr>
              <a:t>98.8%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816352"/>
            <a:ext cx="19369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핵심 구조화 문서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145536"/>
            <a:ext cx="1936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1,136 / 1,150 · +33.4%p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99967" y="1865376"/>
            <a:ext cx="2558719" cy="1627632"/>
          </a:xfrm>
          <a:prstGeom prst="roundRect">
            <a:avLst>
              <a:gd name="adj" fmla="val 674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10863" y="2103120"/>
            <a:ext cx="193692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222222"/>
                </a:solidFill>
                <a:latin typeface="Pretendard"/>
              </a:rPr>
              <a:t>98.5%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0863" y="2816352"/>
            <a:ext cx="19369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계약서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0863" y="3145536"/>
            <a:ext cx="1936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197 / 200 · +73.5%p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1865376"/>
            <a:ext cx="2558719" cy="1627632"/>
          </a:xfrm>
          <a:prstGeom prst="roundRect">
            <a:avLst>
              <a:gd name="adj" fmla="val 674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3903" y="2103120"/>
            <a:ext cx="193692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222222"/>
                </a:solidFill>
                <a:latin typeface="Pretendard"/>
              </a:rPr>
              <a:t>98.5%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3903" y="2816352"/>
            <a:ext cx="19369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발주서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3903" y="3145536"/>
            <a:ext cx="1936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739 / 750 · +31.6%p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66047" y="1865376"/>
            <a:ext cx="2558719" cy="1627632"/>
          </a:xfrm>
          <a:prstGeom prst="roundRect">
            <a:avLst>
              <a:gd name="adj" fmla="val 674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6943" y="2103120"/>
            <a:ext cx="193692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222222"/>
                </a:solidFill>
                <a:latin typeface="Pretendard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6943" y="2816352"/>
            <a:ext cx="19369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견적서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6943" y="3145536"/>
            <a:ext cx="1936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200 / 200 · 1차부터 유지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808476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376732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문서 유형별 선정 필드 일치율 (%)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384048" y="4151376"/>
          <a:ext cx="11423599" cy="190195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스캔 PDF만 골라 이미지 OCR로 다시 읽는다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OCR 고도화 전후 최종 결과보고서 (2026-09-17)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44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06524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65376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고도화 3단계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249424"/>
            <a:ext cx="3466490" cy="1783080"/>
          </a:xfrm>
          <a:prstGeom prst="roundRect">
            <a:avLst>
              <a:gd name="adj" fmla="val 6153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487168"/>
            <a:ext cx="286298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1차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962656"/>
            <a:ext cx="286298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원본 PDF를 RunPod</a:t>
            </a:r>
          </a:p>
          <a:p>
            <a:pPr algn="l">
              <a:lnSpc>
                <a:spcPct val="145000"/>
              </a:lnSpc>
              <a:spcBef>
                <a:spcPts val="10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PDF OCR로 처리한다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79138" y="3090672"/>
            <a:ext cx="237744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62602" y="2249424"/>
            <a:ext cx="3466490" cy="1783080"/>
          </a:xfrm>
          <a:prstGeom prst="roundRect">
            <a:avLst>
              <a:gd name="adj" fmla="val 6153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62602" y="2249424"/>
            <a:ext cx="68580" cy="17830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73498" y="2487168"/>
            <a:ext cx="286298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조건부 재시도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3498" y="2962656"/>
            <a:ext cx="286298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한글 필수값 누락 또는 작업</a:t>
            </a:r>
          </a:p>
          <a:p>
            <a:pPr algn="l">
              <a:lnSpc>
                <a:spcPct val="145000"/>
              </a:lnSpc>
              <a:spcBef>
                <a:spcPts val="10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실패일 때만 모든 페이지를</a:t>
            </a:r>
          </a:p>
          <a:p>
            <a:pPr algn="l">
              <a:lnSpc>
                <a:spcPct val="145000"/>
              </a:lnSpc>
              <a:spcBef>
                <a:spcPts val="10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PNG로 변환해 다시 읽는다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74812" y="3090672"/>
            <a:ext cx="237744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158276" y="2249424"/>
            <a:ext cx="3466490" cy="1783080"/>
          </a:xfrm>
          <a:prstGeom prst="roundRect">
            <a:avLst>
              <a:gd name="adj" fmla="val 6153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69172" y="2487168"/>
            <a:ext cx="286298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결과 선택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9172" y="2962656"/>
            <a:ext cx="286298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발주서 공급자 주소는 PDF</a:t>
            </a:r>
          </a:p>
          <a:p>
            <a:pPr algn="l">
              <a:lnSpc>
                <a:spcPct val="145000"/>
              </a:lnSpc>
              <a:spcBef>
                <a:spcPts val="10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결과를 남기고, 나머지 필드는</a:t>
            </a:r>
          </a:p>
          <a:p>
            <a:pPr algn="l">
              <a:lnSpc>
                <a:spcPct val="145000"/>
              </a:lnSpc>
              <a:spcBef>
                <a:spcPts val="10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PNG 결과를 쓴다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133087"/>
            <a:ext cx="5346039" cy="1920240"/>
          </a:xfrm>
          <a:prstGeom prst="roundRect">
            <a:avLst>
              <a:gd name="adj" fmla="val 5714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4352544"/>
            <a:ext cx="474253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별도 관리 대상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7824" y="4873751"/>
            <a:ext cx="82296" cy="82296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5568" y="4791455"/>
            <a:ext cx="448650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명함 OCR 필드 일치 127 / 134 = 94.8%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7824" y="5276088"/>
            <a:ext cx="82296" cy="82296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" y="5193792"/>
            <a:ext cx="448650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사업자등록증은 정답지가 없어 비교 제외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7824" y="5678423"/>
            <a:ext cx="82296" cy="82296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5568" y="5596127"/>
            <a:ext cx="448650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엑셀 등록은 OCR이 아닌 파일 파싱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78727" y="4133087"/>
            <a:ext cx="5346039" cy="1920240"/>
          </a:xfrm>
          <a:prstGeom prst="roundRect">
            <a:avLst>
              <a:gd name="adj" fmla="val 5714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9623" y="4352544"/>
            <a:ext cx="474253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읽을 때 주의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9623" y="4873751"/>
            <a:ext cx="82296" cy="82296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27367" y="4791455"/>
            <a:ext cx="448650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전사 정확도 · CER / WER 미포함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9623" y="5276088"/>
            <a:ext cx="82296" cy="82296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27367" y="5193792"/>
            <a:ext cx="448650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손글씨 오류율 45%는 별도 과제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9623" y="5678423"/>
            <a:ext cx="82296" cy="82296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27367" y="5596127"/>
            <a:ext cx="448650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사양 값 자동 등록은 사람 검수 필요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요약은 고르게 높지만 검색 답변은 편차가 크다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output/evals/document-summary-rageval/llm_judge_results.json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45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06524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65376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케이스별 overall 점수 (0–1) · 요약 6건 · 검색 4건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84048" y="2286000"/>
          <a:ext cx="11423599" cy="3108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66928" y="5486400"/>
            <a:ext cx="11057839" cy="566928"/>
          </a:xfrm>
          <a:prstGeom prst="roundRect">
            <a:avLst>
              <a:gd name="adj" fmla="val 1935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5486400"/>
            <a:ext cx="68580" cy="56692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5615559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검색1 한 건이 0.25 — 최신 자료 대신 옛 계약서를 참조했다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RAG 답변 4건 중 1건은 옛 계약서 날짜를 답했다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output/evals/document-summary-rageval/llm_judge_results.json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46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6400800" cy="3474720"/>
          </a:xfrm>
          <a:prstGeom prst="roundRect">
            <a:avLst>
              <a:gd name="adj" fmla="val 3157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65376"/>
            <a:ext cx="68580" cy="347472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212848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7437D"/>
                </a:solidFill>
                <a:latin typeface="Pretendard"/>
              </a:rPr>
              <a:t>검색1 — overall 0.25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834640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질문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2798064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Medium"/>
              </a:rPr>
              <a:t>현재 기준 설치 예정일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529584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기대한 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8608" y="349300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Medium"/>
              </a:rPr>
              <a:t>2026-10-08 (추가 자료)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224528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실제 답변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78608" y="4187952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Medium"/>
              </a:rPr>
              <a:t>2026-09-24 (기존 계약서)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837176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456F0"/>
                </a:solidFill>
                <a:latin typeface="Pretendard SemiBold"/>
              </a:rPr>
              <a:t>→ 최신 자료 대신 옛 계약서를 참조했다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16368" y="1906524"/>
            <a:ext cx="68580" cy="164592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99248" y="1865376"/>
            <a:ext cx="410839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8E8E93"/>
                </a:solidFill>
                <a:latin typeface="Pretendard SemiBold"/>
              </a:rPr>
              <a:t>읽을 때 주의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16368" y="2340864"/>
            <a:ext cx="4108399" cy="2999232"/>
          </a:xfrm>
          <a:prstGeom prst="roundRect">
            <a:avLst>
              <a:gd name="adj" fmla="val 3658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27264" y="2715768"/>
            <a:ext cx="82296" cy="82296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65008" y="2633472"/>
            <a:ext cx="3248863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평가 스크립트의 검색은 단어 겹침 방식이다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27264" y="3611879"/>
            <a:ext cx="82296" cy="82296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65008" y="3529584"/>
            <a:ext cx="3248863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운영은 키워드 + pgvector를 RRF로 병합하는 하이브리드 검색이다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27264" y="4507992"/>
            <a:ext cx="82296" cy="82296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65008" y="4425696"/>
            <a:ext cx="3248863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보고서 RAG · 브리핑 근거는 별도 품질 평가가 없다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[실패와 개선 사례 1 결론 입력 예정]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65376"/>
            <a:ext cx="255871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63EB"/>
                </a:solidFill>
                <a:latin typeface="Pretendard"/>
              </a:rPr>
              <a:t>처음 접근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322576"/>
            <a:ext cx="2558719" cy="3730752"/>
          </a:xfrm>
          <a:prstGeom prst="roundRect">
            <a:avLst>
              <a:gd name="adj" fmla="val 4645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[입력 예정]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99967" y="1865376"/>
            <a:ext cx="255871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63EB"/>
                </a:solidFill>
                <a:latin typeface="Pretendard"/>
              </a:rPr>
              <a:t>무엇이 문제였나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9967" y="2322576"/>
            <a:ext cx="2558719" cy="3730752"/>
          </a:xfrm>
          <a:prstGeom prst="roundRect">
            <a:avLst>
              <a:gd name="adj" fmla="val 4645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[입력 예정]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1865376"/>
            <a:ext cx="255871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63EB"/>
                </a:solidFill>
                <a:latin typeface="Pretendard"/>
              </a:rPr>
              <a:t>어떻게 바꿨나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2322576"/>
            <a:ext cx="2558719" cy="3730752"/>
          </a:xfrm>
          <a:prstGeom prst="roundRect">
            <a:avLst>
              <a:gd name="adj" fmla="val 4645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[입력 예정]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66047" y="1865376"/>
            <a:ext cx="255871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63EB"/>
                </a:solidFill>
                <a:latin typeface="Pretendard"/>
              </a:rPr>
              <a:t>결과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6047" y="2322576"/>
            <a:ext cx="2558719" cy="3730752"/>
          </a:xfrm>
          <a:prstGeom prst="roundRect">
            <a:avLst>
              <a:gd name="adj" fmla="val 4645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[입력 예정]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[실패와 개선 사례 2 결론 입력 예정]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65376"/>
            <a:ext cx="255871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63EB"/>
                </a:solidFill>
                <a:latin typeface="Pretendard"/>
              </a:rPr>
              <a:t>처음 접근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322576"/>
            <a:ext cx="2558719" cy="3730752"/>
          </a:xfrm>
          <a:prstGeom prst="roundRect">
            <a:avLst>
              <a:gd name="adj" fmla="val 4645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[입력 예정]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99967" y="1865376"/>
            <a:ext cx="255871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63EB"/>
                </a:solidFill>
                <a:latin typeface="Pretendard"/>
              </a:rPr>
              <a:t>무엇이 문제였나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9967" y="2322576"/>
            <a:ext cx="2558719" cy="3730752"/>
          </a:xfrm>
          <a:prstGeom prst="roundRect">
            <a:avLst>
              <a:gd name="adj" fmla="val 4645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[입력 예정]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1865376"/>
            <a:ext cx="255871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63EB"/>
                </a:solidFill>
                <a:latin typeface="Pretendard"/>
              </a:rPr>
              <a:t>어떻게 바꿨나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2322576"/>
            <a:ext cx="2558719" cy="3730752"/>
          </a:xfrm>
          <a:prstGeom prst="roundRect">
            <a:avLst>
              <a:gd name="adj" fmla="val 4645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[입력 예정]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66047" y="1865376"/>
            <a:ext cx="255871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63EB"/>
                </a:solidFill>
                <a:latin typeface="Pretendard"/>
              </a:rPr>
              <a:t>결과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6047" y="2322576"/>
            <a:ext cx="2558719" cy="3730752"/>
          </a:xfrm>
          <a:prstGeom prst="roundRect">
            <a:avLst>
              <a:gd name="adj" fmla="val 4645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[입력 예정]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[보완점 결론 입력 예정]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65376"/>
            <a:ext cx="346649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63EB"/>
                </a:solidFill>
                <a:latin typeface="Pretendard"/>
              </a:rPr>
              <a:t>한계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322576"/>
            <a:ext cx="3466490" cy="2834640"/>
          </a:xfrm>
          <a:prstGeom prst="roundRect">
            <a:avLst>
              <a:gd name="adj" fmla="val 4193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[영역 · 내용 · 영향 입력 예정]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2602" y="1865376"/>
            <a:ext cx="346649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63EB"/>
                </a:solidFill>
                <a:latin typeface="Pretendard"/>
              </a:rPr>
              <a:t>한계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2602" y="2322576"/>
            <a:ext cx="3466490" cy="2834640"/>
          </a:xfrm>
          <a:prstGeom prst="roundRect">
            <a:avLst>
              <a:gd name="adj" fmla="val 4193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[영역 · 내용 · 영향 입력 예정]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8276" y="1865376"/>
            <a:ext cx="346649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63EB"/>
                </a:solidFill>
                <a:latin typeface="Pretendard"/>
              </a:rPr>
              <a:t>한계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8276" y="2322576"/>
            <a:ext cx="3466490" cy="2834640"/>
          </a:xfrm>
          <a:prstGeom prst="roundRect">
            <a:avLst>
              <a:gd name="adj" fmla="val 4193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[영역 · 내용 · 영향 입력 예정]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321808"/>
            <a:ext cx="11057839" cy="731520"/>
          </a:xfrm>
          <a:prstGeom prst="roundRect">
            <a:avLst>
              <a:gd name="adj" fmla="val 16250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[한 줄 정리 입력 예정]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다음 단계는 네 가지다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50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906524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65376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향후 계획 — 현재 구현된 기능이 아니다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249424"/>
            <a:ext cx="5346039" cy="1783080"/>
          </a:xfrm>
          <a:prstGeom prst="roundRect">
            <a:avLst>
              <a:gd name="adj" fmla="val 6153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249424"/>
            <a:ext cx="68580" cy="17830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487168"/>
            <a:ext cx="914400" cy="675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456F0"/>
                </a:solidFill>
                <a:latin typeface="Pretendar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38528" y="2523744"/>
            <a:ext cx="36452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22222"/>
                </a:solidFill>
                <a:latin typeface="Pretendard"/>
              </a:rPr>
              <a:t>일정 에이전트 고도화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38528" y="3017520"/>
            <a:ext cx="364525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축적된 일정 데이터로</a:t>
            </a:r>
          </a:p>
          <a:p>
            <a:pPr algn="l">
              <a:lnSpc>
                <a:spcPct val="145000"/>
              </a:lnSpc>
              <a:spcBef>
                <a:spcPts val="10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반복 업무 패턴을 규칙화해</a:t>
            </a:r>
          </a:p>
          <a:p>
            <a:pPr algn="l">
              <a:lnSpc>
                <a:spcPct val="145000"/>
              </a:lnSpc>
              <a:spcBef>
                <a:spcPts val="10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Rule-based 추천으로 확장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727" y="2249424"/>
            <a:ext cx="5346039" cy="1783080"/>
          </a:xfrm>
          <a:prstGeom prst="roundRect">
            <a:avLst>
              <a:gd name="adj" fmla="val 6153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7911" y="2487168"/>
            <a:ext cx="914400" cy="675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60A5FA"/>
                </a:solidFill>
                <a:latin typeface="Pretendar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50327" y="2523744"/>
            <a:ext cx="36452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22222"/>
                </a:solidFill>
                <a:latin typeface="Pretendard"/>
              </a:rPr>
              <a:t>ML 모델 성능 고도화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0327" y="3017520"/>
            <a:ext cx="364525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데이터와 모델 개선을 통한</a:t>
            </a:r>
          </a:p>
          <a:p>
            <a:pPr algn="l">
              <a:lnSpc>
                <a:spcPct val="145000"/>
              </a:lnSpc>
              <a:spcBef>
                <a:spcPts val="10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예측 성능 향상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270248"/>
            <a:ext cx="5346039" cy="1783080"/>
          </a:xfrm>
          <a:prstGeom prst="roundRect">
            <a:avLst>
              <a:gd name="adj" fmla="val 6153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507992"/>
            <a:ext cx="914400" cy="675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60A5FA"/>
                </a:solidFill>
                <a:latin typeface="Pretendar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38528" y="4544568"/>
            <a:ext cx="36452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22222"/>
                </a:solidFill>
                <a:latin typeface="Pretendard"/>
              </a:rPr>
              <a:t>팀장 화면 개선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38528" y="5038344"/>
            <a:ext cx="364525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더 쉽고 빠른 업무 현황 확인을</a:t>
            </a:r>
          </a:p>
          <a:p>
            <a:pPr algn="l">
              <a:lnSpc>
                <a:spcPct val="145000"/>
              </a:lnSpc>
              <a:spcBef>
                <a:spcPts val="10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위한 UI/UX 개선</a:t>
            </a:r>
          </a:p>
          <a:p>
            <a:pPr algn="l">
              <a:lnSpc>
                <a:spcPct val="145000"/>
              </a:lnSpc>
              <a:spcBef>
                <a:spcPts val="10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가독성 · 현황 파악 · 접근성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8727" y="4270248"/>
            <a:ext cx="5346039" cy="1783080"/>
          </a:xfrm>
          <a:prstGeom prst="roundRect">
            <a:avLst>
              <a:gd name="adj" fmla="val 6153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7911" y="4507992"/>
            <a:ext cx="914400" cy="675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60A5FA"/>
                </a:solidFill>
                <a:latin typeface="Pretendard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50327" y="4544568"/>
            <a:ext cx="36452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22222"/>
                </a:solidFill>
                <a:latin typeface="Pretendard"/>
              </a:rPr>
              <a:t>매출 분석 기능 확장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50327" y="5038344"/>
            <a:ext cx="364525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계약금 중심 관리에서</a:t>
            </a:r>
          </a:p>
          <a:p>
            <a:pPr algn="l">
              <a:lnSpc>
                <a:spcPct val="145000"/>
              </a:lnSpc>
              <a:spcBef>
                <a:spcPts val="10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매출 현황 · 추이 분석으로 확장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담당자의 머릿속을 조직의 기록으로 남긴다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SalesLuv 데이터 구조(develop, 2026-09-17) · 인수인계 질문 11개 영역 (1 /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3466490" cy="1691640"/>
          </a:xfrm>
          <a:prstGeom prst="roundRect">
            <a:avLst>
              <a:gd name="adj" fmla="val 648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249424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고객 관계 맥락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798064"/>
            <a:ext cx="286298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회사 · 담당자 · 부서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2602" y="1865376"/>
            <a:ext cx="3466490" cy="1691640"/>
          </a:xfrm>
          <a:prstGeom prst="roundRect">
            <a:avLst>
              <a:gd name="adj" fmla="val 648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3498" y="2249424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접점 히스토리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2798064"/>
            <a:ext cx="286298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일정 · 활동 · 보고서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1865376"/>
            <a:ext cx="3466490" cy="1691640"/>
          </a:xfrm>
          <a:prstGeom prst="roundRect">
            <a:avLst>
              <a:gd name="adj" fmla="val 648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9172" y="2249424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고객의 실제 발언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9172" y="2798064"/>
            <a:ext cx="286298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원문 · STT · 첨부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831335"/>
            <a:ext cx="3466490" cy="1691640"/>
          </a:xfrm>
          <a:prstGeom prst="roundRect">
            <a:avLst>
              <a:gd name="adj" fmla="val 648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215383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발언의 대상 · 범위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4764023"/>
            <a:ext cx="286298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공통 · 딜별 + 근거 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2602" y="3831335"/>
            <a:ext cx="3466490" cy="1691640"/>
          </a:xfrm>
          <a:prstGeom prst="roundRect">
            <a:avLst>
              <a:gd name="adj" fmla="val 648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73498" y="4215383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구매 판단 신호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3498" y="4764023"/>
            <a:ext cx="286298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권한 · 경쟁사 등 13개 특성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58276" y="3831335"/>
            <a:ext cx="3466490" cy="1691640"/>
          </a:xfrm>
          <a:prstGeom prst="roundRect">
            <a:avLst>
              <a:gd name="adj" fmla="val 648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69172" y="4215383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딜 진행 맥락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69172" y="4764023"/>
            <a:ext cx="286298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단계 · 금액 · 계약 · 납기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기록이 남으면 사람이 바뀌어도 맥락은 남는다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SalesLuv 데이터 구조(develop, 2026-09-17) · 인수인계 질문 11개 영역 (2 /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3466490" cy="1691640"/>
          </a:xfrm>
          <a:prstGeom prst="roundRect">
            <a:avLst>
              <a:gd name="adj" fmla="val 648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249424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과거 맥락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798064"/>
            <a:ext cx="286298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이전 확정 보고서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2602" y="1865376"/>
            <a:ext cx="3466490" cy="1691640"/>
          </a:xfrm>
          <a:prstGeom prst="roundRect">
            <a:avLst>
              <a:gd name="adj" fmla="val 648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3498" y="2249424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이슈 · 불만 맥락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2798064"/>
            <a:ext cx="286298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불만 · 긴급도 · 처리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1865376"/>
            <a:ext cx="3466490" cy="1691640"/>
          </a:xfrm>
          <a:prstGeom prst="roundRect">
            <a:avLst>
              <a:gd name="adj" fmla="val 648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9172" y="2249424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위험과 다음 행동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9172" y="2798064"/>
            <a:ext cx="286298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만료 · 지연 · 추천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831335"/>
            <a:ext cx="3466490" cy="1691640"/>
          </a:xfrm>
          <a:prstGeom prst="roundRect">
            <a:avLst>
              <a:gd name="adj" fmla="val 648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215383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문서 지식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4764023"/>
            <a:ext cx="286298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원문 추출 · 요약 · RAG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2602" y="3831335"/>
            <a:ext cx="3466490" cy="1691640"/>
          </a:xfrm>
          <a:prstGeom prst="roundRect">
            <a:avLst>
              <a:gd name="adj" fmla="val 648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73498" y="4215383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판단의 책임 · 이력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3498" y="4764023"/>
            <a:ext cx="286298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작성자 · revision · 승인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58276" y="3831335"/>
            <a:ext cx="3466490" cy="1691640"/>
          </a:xfrm>
          <a:prstGeom prst="roundRect">
            <a:avLst>
              <a:gd name="adj" fmla="val 6486"/>
            </a:avLst>
          </a:prstGeom>
          <a:solidFill>
            <a:srgbClr val="181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69172" y="4251959"/>
            <a:ext cx="286298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Pretendard"/>
              </a:rPr>
              <a:t>AI는 구조화 · 요약 · 제안까지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</a:pPr>
            <a:r>
              <a:rPr sz="1800" b="1">
                <a:solidFill>
                  <a:srgbClr val="60A5FA"/>
                </a:solidFill>
                <a:latin typeface="Pretendard"/>
              </a:rPr>
              <a:t>확정은 사람의 승인으로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ull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2651760"/>
            <a:ext cx="1105783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>
                <a:solidFill>
                  <a:srgbClr val="FFFFFF"/>
                </a:solidFill>
                <a:latin typeface="Pretendard"/>
              </a:rPr>
              <a:t>Q &amp; A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1447" y="4069080"/>
            <a:ext cx="1828800" cy="685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389120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C4CFDD"/>
                </a:solidFill>
                <a:latin typeface="Pretendard Medium"/>
              </a:rPr>
              <a:t>감사합니다 · 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 SemiBold"/>
              </a:rPr>
              <a:t>53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부록 · 검증 자료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모든 데이터는 딜을 중심으로 연결된다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backend/app/models/ (develop, 2026-09-17)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54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81428" y="3328416"/>
            <a:ext cx="0" cy="1261872"/>
          </a:xfrm>
          <a:prstGeom prst="line">
            <a:avLst/>
          </a:prstGeom>
          <a:ln w="1905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907524" y="3328416"/>
            <a:ext cx="0" cy="1261872"/>
          </a:xfrm>
          <a:prstGeom prst="line">
            <a:avLst/>
          </a:prstGeom>
          <a:ln w="1905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281428" y="3959352"/>
            <a:ext cx="2259939" cy="0"/>
          </a:xfrm>
          <a:prstGeom prst="line">
            <a:avLst/>
          </a:prstGeom>
          <a:ln w="1905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50327" y="3959352"/>
            <a:ext cx="2257197" cy="0"/>
          </a:xfrm>
          <a:prstGeom prst="line">
            <a:avLst/>
          </a:prstGeom>
          <a:ln w="1905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94476" y="3328416"/>
            <a:ext cx="0" cy="173736"/>
          </a:xfrm>
          <a:prstGeom prst="line">
            <a:avLst/>
          </a:prstGeom>
          <a:ln w="1905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94476" y="4416552"/>
            <a:ext cx="0" cy="173736"/>
          </a:xfrm>
          <a:prstGeom prst="line">
            <a:avLst/>
          </a:prstGeom>
          <a:ln w="1905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41367" y="3502152"/>
            <a:ext cx="3108960" cy="914400"/>
          </a:xfrm>
          <a:prstGeom prst="roundRect">
            <a:avLst>
              <a:gd name="adj" fmla="val 12000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Pretendard"/>
              </a:rPr>
              <a:t>sales_deal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BFDBFE"/>
                </a:solidFill>
                <a:latin typeface="Pretendard"/>
              </a:rPr>
              <a:t>영업 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1865376"/>
            <a:ext cx="3429000" cy="1463040"/>
          </a:xfrm>
          <a:prstGeom prst="roundRect">
            <a:avLst>
              <a:gd name="adj" fmla="val 750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066544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563EB"/>
                </a:solidFill>
                <a:latin typeface="Pretendard"/>
              </a:rPr>
              <a:t>조직 · 권한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505456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team · member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9976" y="1865376"/>
            <a:ext cx="3429000" cy="1463040"/>
          </a:xfrm>
          <a:prstGeom prst="roundRect">
            <a:avLst>
              <a:gd name="adj" fmla="val 750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36008" y="2066544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563EB"/>
                </a:solidFill>
                <a:latin typeface="Pretendard"/>
              </a:rPr>
              <a:t>고객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8" y="2505456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customer_company</a:t>
            </a:r>
          </a:p>
          <a:p>
            <a:pPr algn="l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customer_contact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3" y="1865376"/>
            <a:ext cx="3429000" cy="1463040"/>
          </a:xfrm>
          <a:prstGeom prst="roundRect">
            <a:avLst>
              <a:gd name="adj" fmla="val 750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49055" y="2066544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563EB"/>
                </a:solidFill>
                <a:latin typeface="Pretendard"/>
              </a:rPr>
              <a:t>영업 실행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5" y="2505456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sales_pipeline(+stage)</a:t>
            </a:r>
          </a:p>
          <a:p>
            <a:pPr algn="l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product · sales_deal_item</a:t>
            </a:r>
          </a:p>
          <a:p>
            <a:pPr algn="l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purchase_order(+item)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590288"/>
            <a:ext cx="3429000" cy="1463040"/>
          </a:xfrm>
          <a:prstGeom prst="roundRect">
            <a:avLst>
              <a:gd name="adj" fmla="val 750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791455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563EB"/>
                </a:solidFill>
                <a:latin typeface="Pretendard"/>
              </a:rPr>
              <a:t>활동 ·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230368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activity · report</a:t>
            </a:r>
          </a:p>
          <a:p>
            <a:pPr algn="l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report_deal · report_submission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79976" y="4590288"/>
            <a:ext cx="3429000" cy="1463040"/>
          </a:xfrm>
          <a:prstGeom prst="roundRect">
            <a:avLst>
              <a:gd name="adj" fmla="val 750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36008" y="4791455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563EB"/>
                </a:solidFill>
                <a:latin typeface="Pretendard"/>
              </a:rPr>
              <a:t>AI 실행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6008" y="5230368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agent_run</a:t>
            </a:r>
          </a:p>
          <a:p>
            <a:pPr algn="l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contract_next_meeting_suggestion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93023" y="4590288"/>
            <a:ext cx="3429000" cy="1463040"/>
          </a:xfrm>
          <a:prstGeom prst="roundRect">
            <a:avLst>
              <a:gd name="adj" fmla="val 750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49055" y="4791455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563EB"/>
                </a:solidFill>
                <a:latin typeface="Pretendard"/>
              </a:rPr>
              <a:t>문서 · C/S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49055" y="5230368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document · file</a:t>
            </a:r>
          </a:p>
          <a:p>
            <a:pPr algn="l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document_chunk · support_request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부록 · 검증 자료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7주 동안 기획에서 배포 검증까지 진행했다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프로젝트 WBS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55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78396" y="3657600"/>
            <a:ext cx="9634902" cy="0"/>
          </a:xfrm>
          <a:prstGeom prst="line">
            <a:avLst/>
          </a:prstGeom>
          <a:ln w="254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2926080"/>
            <a:ext cx="142293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1주</a:t>
            </a:r>
          </a:p>
        </p:txBody>
      </p:sp>
      <p:sp>
        <p:nvSpPr>
          <p:cNvPr id="11" name="Oval 10"/>
          <p:cNvSpPr/>
          <p:nvPr/>
        </p:nvSpPr>
        <p:spPr>
          <a:xfrm>
            <a:off x="1177812" y="3557016"/>
            <a:ext cx="201168" cy="201168"/>
          </a:xfrm>
          <a:prstGeom prst="ellipse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retendard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005072"/>
            <a:ext cx="142293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요구사항 분석</a:t>
            </a:r>
          </a:p>
          <a:p>
            <a:pPr algn="ctr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기획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72745" y="2926080"/>
            <a:ext cx="142293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2주</a:t>
            </a:r>
          </a:p>
        </p:txBody>
      </p:sp>
      <p:sp>
        <p:nvSpPr>
          <p:cNvPr id="14" name="Oval 13"/>
          <p:cNvSpPr/>
          <p:nvPr/>
        </p:nvSpPr>
        <p:spPr>
          <a:xfrm>
            <a:off x="2783629" y="3557016"/>
            <a:ext cx="201168" cy="201168"/>
          </a:xfrm>
          <a:prstGeom prst="ellipse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retendard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72745" y="4005072"/>
            <a:ext cx="142293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DB 기반 구축</a:t>
            </a:r>
          </a:p>
          <a:p>
            <a:pPr algn="ctr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화면 설계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8562" y="2926080"/>
            <a:ext cx="142293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3주</a:t>
            </a:r>
          </a:p>
        </p:txBody>
      </p:sp>
      <p:sp>
        <p:nvSpPr>
          <p:cNvPr id="17" name="Oval 16"/>
          <p:cNvSpPr/>
          <p:nvPr/>
        </p:nvSpPr>
        <p:spPr>
          <a:xfrm>
            <a:off x="4389446" y="3557016"/>
            <a:ext cx="201168" cy="201168"/>
          </a:xfrm>
          <a:prstGeom prst="ellipse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retendard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8562" y="4005072"/>
            <a:ext cx="142293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FE · BE 개발</a:t>
            </a:r>
          </a:p>
          <a:p>
            <a:pPr algn="ctr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중간 발표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84379" y="2926080"/>
            <a:ext cx="142293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4주</a:t>
            </a:r>
          </a:p>
        </p:txBody>
      </p:sp>
      <p:sp>
        <p:nvSpPr>
          <p:cNvPr id="20" name="Oval 19"/>
          <p:cNvSpPr/>
          <p:nvPr/>
        </p:nvSpPr>
        <p:spPr>
          <a:xfrm>
            <a:off x="5995263" y="3557016"/>
            <a:ext cx="201168" cy="201168"/>
          </a:xfrm>
          <a:prstGeom prst="ellipse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retendard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84379" y="4005072"/>
            <a:ext cx="142293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데이터 전처리</a:t>
            </a:r>
          </a:p>
          <a:p>
            <a:pPr algn="ctr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AI 모델링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0196" y="2926080"/>
            <a:ext cx="142293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5주</a:t>
            </a:r>
          </a:p>
        </p:txBody>
      </p:sp>
      <p:sp>
        <p:nvSpPr>
          <p:cNvPr id="23" name="Oval 22"/>
          <p:cNvSpPr/>
          <p:nvPr/>
        </p:nvSpPr>
        <p:spPr>
          <a:xfrm>
            <a:off x="7601080" y="3557016"/>
            <a:ext cx="201168" cy="201168"/>
          </a:xfrm>
          <a:prstGeom prst="ellipse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retendard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0196" y="4005072"/>
            <a:ext cx="142293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모델 평가</a:t>
            </a:r>
          </a:p>
          <a:p>
            <a:pPr algn="ctr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기능 통합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6013" y="2926080"/>
            <a:ext cx="142293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6주</a:t>
            </a:r>
          </a:p>
        </p:txBody>
      </p:sp>
      <p:sp>
        <p:nvSpPr>
          <p:cNvPr id="26" name="Oval 25"/>
          <p:cNvSpPr/>
          <p:nvPr/>
        </p:nvSpPr>
        <p:spPr>
          <a:xfrm>
            <a:off x="9206897" y="3557016"/>
            <a:ext cx="201168" cy="201168"/>
          </a:xfrm>
          <a:prstGeom prst="ellipse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retendard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6013" y="4005072"/>
            <a:ext cx="142293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통합 테스트</a:t>
            </a:r>
          </a:p>
          <a:p>
            <a:pPr algn="ctr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배포 검증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01830" y="2926080"/>
            <a:ext cx="142293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7주</a:t>
            </a:r>
          </a:p>
        </p:txBody>
      </p:sp>
      <p:sp>
        <p:nvSpPr>
          <p:cNvPr id="29" name="Oval 28"/>
          <p:cNvSpPr/>
          <p:nvPr/>
        </p:nvSpPr>
        <p:spPr>
          <a:xfrm>
            <a:off x="10812714" y="3557016"/>
            <a:ext cx="201168" cy="201168"/>
          </a:xfrm>
          <a:prstGeom prst="ellipse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retendard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01830" y="4005072"/>
            <a:ext cx="142293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산출물 검수</a:t>
            </a:r>
          </a:p>
          <a:p>
            <a:pPr algn="ctr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최종 발표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부록 · 검증 자료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딜 승산 모델 단계별 성능 상세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머신러닝 · 딥러닝 학습결과서 (공개 영문 B2B 448건 · 30회 반복 평균)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56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65376"/>
          <a:ext cx="1105783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405786"/>
                <a:gridCol w="2405786"/>
                <a:gridCol w="2405786"/>
              </a:tblGrid>
              <a:tr h="73152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단계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Accuracy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ROC-AUC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Brier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222222"/>
                          </a:solidFill>
                          <a:latin typeface="Pretendard SemiBold"/>
                        </a:rPr>
                        <a:t>RF 기준선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0.6958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0.7409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0.2097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222222"/>
                          </a:solidFill>
                          <a:latin typeface="Pretendard SemiBold"/>
                        </a:rPr>
                        <a:t>RF 튜닝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0.7338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0.7756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–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Stacking_LR (최종)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0.7360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0.7783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0.1880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4974336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E8E93"/>
                </a:solidFill>
                <a:latin typeface="Pretendard"/>
              </a:rPr>
              <a:t>Brier는 낮을수록 좋다 · RF 튜닝 단계의 Brier 값은 보고서에 기록되지 않았다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부록 · 검증 자료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보고서 유형별 LLM Judge 점수 상세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docs/eval/01_보고서작성에이전트 (Judge gpt-5.6-luna, 2026-09-08)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57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65376"/>
          <a:ext cx="11057838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3242462"/>
                <a:gridCol w="3243376"/>
              </a:tblGrid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보고서 유형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개선 전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개선 후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222222"/>
                          </a:solidFill>
                          <a:latin typeface="Pretendard SemiBold"/>
                        </a:rPr>
                        <a:t>미팅 보고서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97.74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96.57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222222"/>
                          </a:solidFill>
                          <a:latin typeface="Pretendard SemiBold"/>
                        </a:rPr>
                        <a:t>일일 업무보고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86.88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95.16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222222"/>
                          </a:solidFill>
                          <a:latin typeface="Pretendard SemiBold"/>
                        </a:rPr>
                        <a:t>주간 업무보고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72.50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87.08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222222"/>
                          </a:solidFill>
                          <a:latin typeface="Pretendard SemiBold"/>
                        </a:rPr>
                        <a:t>월간 업무보고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66.25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76.25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5596128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E8E93"/>
                </a:solidFill>
                <a:latin typeface="Pretendard"/>
              </a:rPr>
              <a:t>100점 만점 · 공통 43건 · 생성 모델과 Judge 모델이 동일하며 시나리오는 1개, 월간 보고서는 1건이다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부록 · 검증 자료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OCR 고도화 전후 문서별 상세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OCR 고도화 전후 최종 결과보고서 (2026-09-17 RunPod 재시험)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58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65376"/>
          <a:ext cx="11057839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3017520"/>
                <a:gridCol w="3017520"/>
                <a:gridCol w="2371039"/>
              </a:tblGrid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대상 (각 50건)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1차 테스트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최종 테스트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변화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>
                          <a:solidFill>
                            <a:srgbClr val="222222"/>
                          </a:solidFill>
                          <a:latin typeface="Pretendard SemiBold"/>
                        </a:rPr>
                        <a:t>견적서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>
                          <a:solidFill>
                            <a:srgbClr val="45515E"/>
                          </a:solidFill>
                          <a:latin typeface="Pretendard"/>
                        </a:rPr>
                        <a:t>200 / 200 = 100.0%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>
                          <a:solidFill>
                            <a:srgbClr val="1456F0"/>
                          </a:solidFill>
                          <a:latin typeface="Pretendard SemiBold"/>
                        </a:rPr>
                        <a:t>200 / 200 = 100.0%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>
                          <a:solidFill>
                            <a:srgbClr val="45515E"/>
                          </a:solidFill>
                          <a:latin typeface="Pretendard"/>
                        </a:rPr>
                        <a:t>0.0%p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>
                          <a:solidFill>
                            <a:srgbClr val="222222"/>
                          </a:solidFill>
                          <a:latin typeface="Pretendard SemiBold"/>
                        </a:rPr>
                        <a:t>계약서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>
                          <a:solidFill>
                            <a:srgbClr val="45515E"/>
                          </a:solidFill>
                          <a:latin typeface="Pretendard"/>
                        </a:rPr>
                        <a:t>50 / 200 = 25.0%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>
                          <a:solidFill>
                            <a:srgbClr val="1456F0"/>
                          </a:solidFill>
                          <a:latin typeface="Pretendard SemiBold"/>
                        </a:rPr>
                        <a:t>197 / 200 = 98.5%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>
                          <a:solidFill>
                            <a:srgbClr val="45515E"/>
                          </a:solidFill>
                          <a:latin typeface="Pretendard"/>
                        </a:rPr>
                        <a:t>+73.5%p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>
                          <a:solidFill>
                            <a:srgbClr val="222222"/>
                          </a:solidFill>
                          <a:latin typeface="Pretendard SemiBold"/>
                        </a:rPr>
                        <a:t>발주서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>
                          <a:solidFill>
                            <a:srgbClr val="45515E"/>
                          </a:solidFill>
                          <a:latin typeface="Pretendard"/>
                        </a:rPr>
                        <a:t>502 / 750 = 66.9%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>
                          <a:solidFill>
                            <a:srgbClr val="1456F0"/>
                          </a:solidFill>
                          <a:latin typeface="Pretendard SemiBold"/>
                        </a:rPr>
                        <a:t>739 / 750 = 98.5%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>
                          <a:solidFill>
                            <a:srgbClr val="45515E"/>
                          </a:solidFill>
                          <a:latin typeface="Pretendard"/>
                        </a:rPr>
                        <a:t>+31.6%p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>
                          <a:solidFill>
                            <a:srgbClr val="222222"/>
                          </a:solidFill>
                          <a:latin typeface="Pretendard SemiBold"/>
                        </a:rPr>
                        <a:t>상품설명서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>
                          <a:solidFill>
                            <a:srgbClr val="45515E"/>
                          </a:solidFill>
                          <a:latin typeface="Pretendard"/>
                        </a:rPr>
                        <a:t>42 / 50 = 84.0%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>
                          <a:solidFill>
                            <a:srgbClr val="1456F0"/>
                          </a:solidFill>
                          <a:latin typeface="Pretendard SemiBold"/>
                        </a:rPr>
                        <a:t>43 / 50 = 86.0%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>
                          <a:solidFill>
                            <a:srgbClr val="45515E"/>
                          </a:solidFill>
                          <a:latin typeface="Pretendard"/>
                        </a:rPr>
                        <a:t>+2.0%p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5157216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핵심 구조화 문서(견적서 · 계약서 · 발주서) 합산 — 752 / 1,150 = 65.4% → 1,136 / 1,150 = 98.8% (+33.4%p)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504688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8E8E93"/>
                </a:solidFill>
                <a:latin typeface="Pretendard"/>
              </a:rPr>
              <a:t>정규화한 정답값이 OCR 본문에 포함되면 일치로 판정 · 웜 스타트 처리 시간은 명함 2.24초 · PDF 1.23초 (각 5회, 별도 측정)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부록 · 검증 자료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본문에 쓰인 근거 자료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59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221991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39696"/>
            <a:ext cx="501685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프로젝트 기획서 (2026-08)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825496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743200"/>
            <a:ext cx="501685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Grand View Research (2026)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429000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346704"/>
            <a:ext cx="501685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KISDI 2026 · 원자료 Gartner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032504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950208"/>
            <a:ext cx="501685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환율 2026-09-15 기준 1,347.8원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636008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553712"/>
            <a:ext cx="501685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각 사 공식 제품 페이지 (2026-09-15 확인)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239512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5157216"/>
            <a:ext cx="501685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SalesLuv 구현 코드 (develop, 2026-09-17)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70167" y="2221991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7911" y="2139696"/>
            <a:ext cx="501685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미팅 내용분석 구조 보고서 (2026-08-31 골든셋)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70167" y="2825496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07911" y="2743200"/>
            <a:ext cx="501685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머신러닝 · 딥러닝 학습결과서 (30회 평균)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70167" y="3429000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07911" y="3346704"/>
            <a:ext cx="501685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docs/eval/01_보고서작성에이전트 (2026-09-08)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70167" y="4032504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7911" y="3950208"/>
            <a:ext cx="501685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docs/document-summary-evaluation.md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70167" y="4636008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07911" y="4553712"/>
            <a:ext cx="501685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output/evals/document-summary-rageval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70167" y="5239512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07911" y="5157216"/>
            <a:ext cx="501685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OCR 고도화 전후 최종 결과보고서 (2026-09-17)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5687568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E8E93"/>
                </a:solidFill>
                <a:latin typeface="Pretendard"/>
              </a:rPr>
              <a:t>평가용 데이터는 모두 합성 데이터이며 실제 고객 · 영업 데이터를 사용하지 않았다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30건 평균 89.8%, 근거 오류는 0건이었다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SalesLuv 미팅 브리핑 평가 (salesluv-briefing-eval-v1 · 합성 이력 · 실제 고객 데이터 미사용)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3503066" cy="1627632"/>
          </a:xfrm>
          <a:prstGeom prst="roundRect">
            <a:avLst>
              <a:gd name="adj" fmla="val 6741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65376"/>
            <a:ext cx="68580" cy="162763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103120"/>
            <a:ext cx="288127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456F0"/>
                </a:solidFill>
                <a:latin typeface="Pretendard"/>
              </a:rPr>
              <a:t>89.8%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816352"/>
            <a:ext cx="288127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전체 30건 평균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145536"/>
            <a:ext cx="2881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미팅 누적 깊이별 5개 시점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4314" y="1865376"/>
            <a:ext cx="3503066" cy="1627632"/>
          </a:xfrm>
          <a:prstGeom prst="roundRect">
            <a:avLst>
              <a:gd name="adj" fmla="val 674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5210" y="2103120"/>
            <a:ext cx="288127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222222"/>
                </a:solidFill>
                <a:latin typeface="Pretendard"/>
              </a:rPr>
              <a:t>96.3%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5210" y="2816352"/>
            <a:ext cx="288127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미팅 1~5회 시점 평균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5210" y="3145536"/>
            <a:ext cx="2881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쌓일수록 점수는 내려간다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1700" y="1865376"/>
            <a:ext cx="3503066" cy="1627632"/>
          </a:xfrm>
          <a:prstGeom prst="roundRect">
            <a:avLst>
              <a:gd name="adj" fmla="val 674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2596" y="2103120"/>
            <a:ext cx="288127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222222"/>
                </a:solidFill>
                <a:latin typeface="Pretendard"/>
              </a:rPr>
              <a:t>0건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2816352"/>
            <a:ext cx="288127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없는 근거 인용 · 발언 왜곡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2596" y="3145536"/>
            <a:ext cx="2881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근거 없어 버려진 하이라이트도 0건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717035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675887"/>
            <a:ext cx="6583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평가 방법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041648"/>
            <a:ext cx="6583680" cy="448056"/>
          </a:xfrm>
          <a:prstGeom prst="roundRect">
            <a:avLst>
              <a:gd name="adj" fmla="val 18367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4133087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0A5FA"/>
                </a:solidFill>
                <a:latin typeface="Pretendard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8176" y="4133087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22222"/>
                </a:solidFill>
                <a:latin typeface="Pretendard"/>
              </a:rPr>
              <a:t>합성 이력 구축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21608" y="4155948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45515E"/>
                </a:solidFill>
                <a:latin typeface="Pretendard"/>
              </a:rPr>
              <a:t>고객사 6곳 · 1~30회 5개 시점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562856"/>
            <a:ext cx="6583680" cy="448056"/>
          </a:xfrm>
          <a:prstGeom prst="roundRect">
            <a:avLst>
              <a:gd name="adj" fmla="val 18367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465429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0A5FA"/>
                </a:solidFill>
                <a:latin typeface="Pretendard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08176" y="4654296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22222"/>
                </a:solidFill>
                <a:latin typeface="Pretendard"/>
              </a:rPr>
              <a:t>시점별 정답 계산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21608" y="4677156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45515E"/>
                </a:solidFill>
                <a:latin typeface="Pretendard"/>
              </a:rPr>
              <a:t>주제 타임라인에서 그 시점의 정답만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084064"/>
            <a:ext cx="6583680" cy="448056"/>
          </a:xfrm>
          <a:prstGeom prst="roundRect">
            <a:avLst>
              <a:gd name="adj" fmla="val 18367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5175503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0A5FA"/>
                </a:solidFill>
                <a:latin typeface="Pretendard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08176" y="5175503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22222"/>
                </a:solidFill>
                <a:latin typeface="Pretendard"/>
              </a:rPr>
              <a:t>도구 실제 실행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21608" y="5198364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45515E"/>
                </a:solidFill>
                <a:latin typeface="Pretendard"/>
              </a:rPr>
              <a:t>DB 없이 실행 · RAG 호출까지 측정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605272"/>
            <a:ext cx="6583680" cy="448056"/>
          </a:xfrm>
          <a:prstGeom prst="roundRect">
            <a:avLst>
              <a:gd name="adj" fmla="val 18367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6928" y="5605272"/>
            <a:ext cx="68580" cy="448056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9536" y="56967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56F0"/>
                </a:solidFill>
                <a:latin typeface="Pretendard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08176" y="5696712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22222"/>
                </a:solidFill>
                <a:latin typeface="Pretendard"/>
              </a:rPr>
              <a:t>LLM 판정 + 코드 채점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21608" y="571957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45515E"/>
                </a:solidFill>
                <a:latin typeface="Pretendard"/>
              </a:rPr>
              <a:t>판정만 LLM · 점수 산술은 코드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53528" y="3717035"/>
            <a:ext cx="68580" cy="164592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36408" y="3675887"/>
            <a:ext cx="37883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8E8E93"/>
                </a:solidFill>
                <a:latin typeface="Pretendard SemiBold"/>
              </a:rPr>
              <a:t>평가 데이터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53528" y="4041648"/>
            <a:ext cx="3971239" cy="2011680"/>
          </a:xfrm>
          <a:prstGeom prst="roundRect">
            <a:avLst>
              <a:gd name="adj" fmla="val 5454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46136" y="4297680"/>
            <a:ext cx="96473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563EB"/>
                </a:solidFill>
                <a:latin typeface="Pretendard"/>
              </a:rPr>
              <a:t>30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10870" y="4347972"/>
            <a:ext cx="24212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45515E"/>
                </a:solidFill>
                <a:latin typeface="Pretendard"/>
              </a:rPr>
              <a:t>평가 케이스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46136" y="4681728"/>
            <a:ext cx="96473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563EB"/>
                </a:solidFill>
                <a:latin typeface="Pretendard"/>
              </a:rPr>
              <a:t>180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10870" y="4732020"/>
            <a:ext cx="24212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45515E"/>
                </a:solidFill>
                <a:latin typeface="Pretendard"/>
              </a:rPr>
              <a:t>확정 보고서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46136" y="5065776"/>
            <a:ext cx="96473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563EB"/>
                </a:solidFill>
                <a:latin typeface="Pretendard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10870" y="5116068"/>
            <a:ext cx="24212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45515E"/>
                </a:solidFill>
                <a:latin typeface="Pretendard"/>
              </a:rPr>
              <a:t>고객사 이력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46136" y="5449824"/>
            <a:ext cx="96473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563EB"/>
                </a:solidFill>
                <a:latin typeface="Pretendard"/>
              </a:rPr>
              <a:t>1.7만 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10870" y="5500116"/>
            <a:ext cx="24212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45515E"/>
                </a:solidFill>
                <a:latin typeface="Pretendard"/>
              </a:rPr>
              <a:t>30회차 누적 입력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품질과 토큰 두 기준으로 B 구조를 골랐다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SalesLuv 보고서작성 에이전트 평가 (salesluv-report-eval-v1 · 4주 가상 영업 시나리오 · 실제 고객 데이터 미사용)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3503066" cy="1627632"/>
          </a:xfrm>
          <a:prstGeom prst="roundRect">
            <a:avLst>
              <a:gd name="adj" fmla="val 674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103120"/>
            <a:ext cx="288127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222222"/>
                </a:solidFill>
                <a:latin typeface="Pretendard"/>
              </a:rPr>
              <a:t>95.4점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816352"/>
            <a:ext cx="288127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B 구조 종합 점수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145536"/>
            <a:ext cx="2881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A 93.1 · C 94.0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4314" y="1865376"/>
            <a:ext cx="3503066" cy="1627632"/>
          </a:xfrm>
          <a:prstGeom prst="roundRect">
            <a:avLst>
              <a:gd name="adj" fmla="val 6741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4314" y="1865376"/>
            <a:ext cx="68580" cy="162763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5210" y="2103120"/>
            <a:ext cx="288127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456F0"/>
                </a:solidFill>
                <a:latin typeface="Pretendard"/>
              </a:rPr>
              <a:t>46%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5210" y="2816352"/>
            <a:ext cx="288127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A 대비 토큰 사용량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5210" y="3145536"/>
            <a:ext cx="2881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10.01M → 4.57M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1700" y="1865376"/>
            <a:ext cx="3503066" cy="1627632"/>
          </a:xfrm>
          <a:prstGeom prst="roundRect">
            <a:avLst>
              <a:gd name="adj" fmla="val 674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2596" y="2103120"/>
            <a:ext cx="288127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222222"/>
                </a:solidFill>
                <a:latin typeface="Pretendard"/>
              </a:rPr>
              <a:t>76.3점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2816352"/>
            <a:ext cx="288127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B 월간 — 가장 낮은 유형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2596" y="3145536"/>
            <a:ext cx="2881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미팅 96.8 · 일일 95.6 · 주간 87.8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717035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675887"/>
            <a:ext cx="6583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평가 방법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041648"/>
            <a:ext cx="6583680" cy="448056"/>
          </a:xfrm>
          <a:prstGeom prst="roundRect">
            <a:avLst>
              <a:gd name="adj" fmla="val 18367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4133087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0A5FA"/>
                </a:solidFill>
                <a:latin typeface="Pretendard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8176" y="4133087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22222"/>
                </a:solidFill>
                <a:latin typeface="Pretendard"/>
              </a:rPr>
              <a:t>정답지 먼저 확정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21608" y="4155948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45515E"/>
                </a:solidFill>
                <a:latin typeface="Pretendard"/>
              </a:rPr>
              <a:t>LLM 생성 → 사람 검수 · 보정 후 고정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562856"/>
            <a:ext cx="6583680" cy="448056"/>
          </a:xfrm>
          <a:prstGeom prst="roundRect">
            <a:avLst>
              <a:gd name="adj" fmla="val 18367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465429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0A5FA"/>
                </a:solidFill>
                <a:latin typeface="Pretendard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08176" y="4654296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22222"/>
                </a:solidFill>
                <a:latin typeface="Pretendard"/>
              </a:rPr>
              <a:t>정답과 입력 분리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21608" y="4677156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45515E"/>
                </a:solidFill>
                <a:latin typeface="Pretendard"/>
              </a:rPr>
              <a:t>input.json ↔ golden.json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084064"/>
            <a:ext cx="6583680" cy="448056"/>
          </a:xfrm>
          <a:prstGeom prst="roundRect">
            <a:avLst>
              <a:gd name="adj" fmla="val 18367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5175503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0A5FA"/>
                </a:solidFill>
                <a:latin typeface="Pretendard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08176" y="5175503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22222"/>
                </a:solidFill>
                <a:latin typeface="Pretendard"/>
              </a:rPr>
              <a:t>사실 단위 판정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21608" y="5198364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45515E"/>
                </a:solidFill>
                <a:latin typeface="Pretendard"/>
              </a:rPr>
              <a:t>충족 · 누락 · 왜곡 + 오류 출처 · 중대 오류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605272"/>
            <a:ext cx="6583680" cy="448056"/>
          </a:xfrm>
          <a:prstGeom prst="roundRect">
            <a:avLst>
              <a:gd name="adj" fmla="val 18367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6928" y="5605272"/>
            <a:ext cx="68580" cy="448056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9536" y="56967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56F0"/>
                </a:solidFill>
                <a:latin typeface="Pretendard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08176" y="5696712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22222"/>
                </a:solidFill>
                <a:latin typeface="Pretendard"/>
              </a:rPr>
              <a:t>코드로 재검사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21608" y="571957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45515E"/>
                </a:solidFill>
                <a:latin typeface="Pretendard"/>
              </a:rPr>
              <a:t>구조명 숨겨 위치 교차 · 인용 재검증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53528" y="3717035"/>
            <a:ext cx="68580" cy="164592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36408" y="3675887"/>
            <a:ext cx="37883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8E8E93"/>
                </a:solidFill>
                <a:latin typeface="Pretendard SemiBold"/>
              </a:rPr>
              <a:t>평가 데이터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53528" y="4041648"/>
            <a:ext cx="3971239" cy="2011680"/>
          </a:xfrm>
          <a:prstGeom prst="roundRect">
            <a:avLst>
              <a:gd name="adj" fmla="val 5454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46136" y="4297680"/>
            <a:ext cx="47174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563EB"/>
                </a:solidFill>
                <a:latin typeface="Pretendard"/>
              </a:rPr>
              <a:t>53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7877" y="4347972"/>
            <a:ext cx="29142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45515E"/>
                </a:solidFill>
                <a:latin typeface="Pretendard"/>
              </a:rPr>
              <a:t>평가 케이스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46136" y="4681728"/>
            <a:ext cx="47174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563EB"/>
                </a:solidFill>
                <a:latin typeface="Pretendard"/>
              </a:rPr>
              <a:t>36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7877" y="4732020"/>
            <a:ext cx="29142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45515E"/>
                </a:solidFill>
                <a:latin typeface="Pretendard"/>
              </a:rPr>
              <a:t>미팅 보고서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46136" y="5065776"/>
            <a:ext cx="47174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563EB"/>
                </a:solidFill>
                <a:latin typeface="Pretendard"/>
              </a:rPr>
              <a:t>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7877" y="5116068"/>
            <a:ext cx="29142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45515E"/>
                </a:solidFill>
                <a:latin typeface="Pretendard"/>
              </a:rPr>
              <a:t>일일 12 · 주간 4 · 월간 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46136" y="5449824"/>
            <a:ext cx="47174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563EB"/>
                </a:solidFill>
                <a:latin typeface="Pretendard"/>
              </a:rPr>
              <a:t>27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7877" y="5500116"/>
            <a:ext cx="29142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45515E"/>
                </a:solidFill>
                <a:latin typeface="Pretendard"/>
              </a:rPr>
              <a:t>가상 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46136" y="5779008"/>
            <a:ext cx="338602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C 구조는 입력 한도 초과로 월간 실패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정확도가 아니라 Brier와 FP로 Stacking_LR을 골랐다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SalesLuv 딜 승산 예측 모델 평가 (Salvirt B2B Sales Dataset · 공개 영문 데이터 · 30회 반복 분할)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3503066" cy="1627632"/>
          </a:xfrm>
          <a:prstGeom prst="roundRect">
            <a:avLst>
              <a:gd name="adj" fmla="val 6741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65376"/>
            <a:ext cx="68580" cy="162763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103120"/>
            <a:ext cx="288127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456F0"/>
                </a:solidFill>
                <a:latin typeface="Pretendard"/>
              </a:rPr>
              <a:t>0.1880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816352"/>
            <a:ext cx="288127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Stacking_LR Brier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145536"/>
            <a:ext cx="2881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7개 후보 중 1위 · 낮을수록 좋음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4314" y="1865376"/>
            <a:ext cx="3503066" cy="1627632"/>
          </a:xfrm>
          <a:prstGeom prst="roundRect">
            <a:avLst>
              <a:gd name="adj" fmla="val 674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5210" y="2103120"/>
            <a:ext cx="288127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222222"/>
                </a:solidFill>
                <a:latin typeface="Pretendard"/>
              </a:rPr>
              <a:t>16.15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5210" y="2816352"/>
            <a:ext cx="288127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FP — 7개 후보 중 2위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5210" y="3145536"/>
            <a:ext cx="2881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최저는 LogisticRegression 16.09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1700" y="1865376"/>
            <a:ext cx="3503066" cy="1627632"/>
          </a:xfrm>
          <a:prstGeom prst="roundRect">
            <a:avLst>
              <a:gd name="adj" fmla="val 674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2596" y="2103120"/>
            <a:ext cx="2881274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+4.01%p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2694431"/>
            <a:ext cx="288127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Accuracy 기준선 대비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2596" y="3023615"/>
            <a:ext cx="2881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69.58% → 73.60%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717035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675887"/>
            <a:ext cx="6583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평가 방법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041648"/>
            <a:ext cx="6583680" cy="448056"/>
          </a:xfrm>
          <a:prstGeom prst="roundRect">
            <a:avLst>
              <a:gd name="adj" fmla="val 18367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4133087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0A5FA"/>
                </a:solidFill>
                <a:latin typeface="Pretendard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8176" y="4133087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22222"/>
                </a:solidFill>
                <a:latin typeface="Pretendard"/>
              </a:rPr>
              <a:t>항목 13개 선별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21608" y="4155948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45515E"/>
                </a:solidFill>
                <a:latin typeface="Pretendard"/>
              </a:rPr>
              <a:t>보고서에서 일관되게 뽑히는 항목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562856"/>
            <a:ext cx="6583680" cy="448056"/>
          </a:xfrm>
          <a:prstGeom prst="roundRect">
            <a:avLst>
              <a:gd name="adj" fmla="val 18367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465429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0A5FA"/>
                </a:solidFill>
                <a:latin typeface="Pretendard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08176" y="4654296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22222"/>
                </a:solidFill>
                <a:latin typeface="Pretendard"/>
              </a:rPr>
              <a:t>누수 차단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21608" y="4677156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45515E"/>
                </a:solidFill>
                <a:latin typeface="Pretendard"/>
              </a:rPr>
              <a:t>198개 입력 묶음 → Train 158 / Test 40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084064"/>
            <a:ext cx="6583680" cy="448056"/>
          </a:xfrm>
          <a:prstGeom prst="roundRect">
            <a:avLst>
              <a:gd name="adj" fmla="val 18367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5175503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0A5FA"/>
                </a:solidFill>
                <a:latin typeface="Pretendard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08176" y="5175503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22222"/>
                </a:solidFill>
                <a:latin typeface="Pretendard"/>
              </a:rPr>
              <a:t>결측 마스킹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21608" y="5198364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45515E"/>
                </a:solidFill>
                <a:latin typeface="Pretendard"/>
              </a:rPr>
              <a:t>행마다 Unknown 4개 · 448건 × 10세트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605272"/>
            <a:ext cx="6583680" cy="448056"/>
          </a:xfrm>
          <a:prstGeom prst="roundRect">
            <a:avLst>
              <a:gd name="adj" fmla="val 18367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6928" y="5605272"/>
            <a:ext cx="68580" cy="448056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9536" y="56967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56F0"/>
                </a:solidFill>
                <a:latin typeface="Pretendard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08176" y="5696712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22222"/>
                </a:solidFill>
                <a:latin typeface="Pretendard"/>
              </a:rPr>
              <a:t>Brier · FP로 선택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21608" y="571957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45515E"/>
                </a:solidFill>
                <a:latin typeface="Pretendard"/>
              </a:rPr>
              <a:t>Train 안에서만 설정 · Test 제외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53528" y="3717035"/>
            <a:ext cx="68580" cy="164592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36408" y="3675887"/>
            <a:ext cx="37883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8E8E93"/>
                </a:solidFill>
                <a:latin typeface="Pretendard SemiBold"/>
              </a:rPr>
              <a:t>평가 데이터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53528" y="4041648"/>
            <a:ext cx="3971239" cy="2011680"/>
          </a:xfrm>
          <a:prstGeom prst="roundRect">
            <a:avLst>
              <a:gd name="adj" fmla="val 5454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46136" y="4297680"/>
            <a:ext cx="88064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563EB"/>
                </a:solidFill>
                <a:latin typeface="Pretendard"/>
              </a:rPr>
              <a:t>448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26782" y="4347972"/>
            <a:ext cx="25053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45515E"/>
                </a:solidFill>
                <a:latin typeface="Pretendard"/>
              </a:rPr>
              <a:t>원본 딜 · Won 227 · Lost 221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46136" y="4681728"/>
            <a:ext cx="88064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563EB"/>
                </a:solidFill>
                <a:latin typeface="Pretendard"/>
              </a:rPr>
              <a:t>13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26782" y="4732020"/>
            <a:ext cx="25053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45515E"/>
                </a:solidFill>
                <a:latin typeface="Pretendard"/>
              </a:rPr>
              <a:t>입력 항목 (22개 중 선별)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46136" y="5065776"/>
            <a:ext cx="88064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563EB"/>
                </a:solidFill>
                <a:latin typeface="Pretendard"/>
              </a:rPr>
              <a:t>4,480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26782" y="5116068"/>
            <a:ext cx="25053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45515E"/>
                </a:solidFill>
                <a:latin typeface="Pretendard"/>
              </a:rPr>
              <a:t>마스킹 후 학습 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46136" y="5449824"/>
            <a:ext cx="88064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563EB"/>
                </a:solidFill>
                <a:latin typeface="Pretendard"/>
              </a:rPr>
              <a:t>30회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26782" y="5500116"/>
            <a:ext cx="25053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45515E"/>
                </a:solidFill>
                <a:latin typeface="Pretendard"/>
              </a:rPr>
              <a:t>반복 분할 평가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