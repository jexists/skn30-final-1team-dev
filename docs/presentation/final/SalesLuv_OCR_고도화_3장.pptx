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원본 PDF OCR만으로는 핵심 필드가 누락됐다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 RunPod 재시험)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65.4%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핵심 구조화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1차 테스트 · 752 / 1,150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25.0%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계약서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1차 테스트 · 50 / 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66.9%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발주서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1차 테스트 · 502 / 750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84.0%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상품설명서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1차 테스트 · 42 / 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675887"/>
            <a:ext cx="3466490" cy="1517904"/>
          </a:xfrm>
          <a:prstGeom prst="roundRect">
            <a:avLst>
              <a:gd name="adj" fmla="val 72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950207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한글 필수값 누락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425696"/>
            <a:ext cx="286298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상호 · 대표이사 · 상대 상호가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PDF 경로에서 누락됐다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2602" y="3675887"/>
            <a:ext cx="3466490" cy="1517904"/>
          </a:xfrm>
          <a:prstGeom prst="roundRect">
            <a:avLst>
              <a:gd name="adj" fmla="val 72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3498" y="3950207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표 영역 손실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3498" y="4425696"/>
            <a:ext cx="286298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공급자 · 지급조건 · 표 영역이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PDF 경로에서 손실됐다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8276" y="3675887"/>
            <a:ext cx="3466490" cy="1517904"/>
          </a:xfrm>
          <a:prstGeom prst="roundRect">
            <a:avLst>
              <a:gd name="adj" fmla="val 72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9172" y="3950207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PDF 작업 실패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9172" y="4425696"/>
            <a:ext cx="286298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상품설명서 일부는 PDF OCR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작업 자체가 실패했다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4009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34009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46925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스캔 PDF의 텍스트 · 표 영역을 복구할 경로가 필요했다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누락된 문서만 PNG로 다시 읽고, 취약 필드는 남겼다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(2026-09-17) · 재시도 시 모든 페이지를 최대 긴 변 2,200px으로 렌더링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고도화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49424"/>
            <a:ext cx="3466490" cy="2340864"/>
          </a:xfrm>
          <a:prstGeom prst="roundRect">
            <a:avLst>
              <a:gd name="adj" fmla="val 468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284469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1차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80944"/>
            <a:ext cx="2844698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원본 PDF를 RunPod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PDF OCR로 처리한다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3986783"/>
            <a:ext cx="2844698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기준 성능과 누락 필드 확인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79138" y="3419856"/>
            <a:ext cx="237744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62602" y="2249424"/>
            <a:ext cx="3466490" cy="2340864"/>
          </a:xfrm>
          <a:prstGeom prst="roundRect">
            <a:avLst>
              <a:gd name="adj" fmla="val 468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2602" y="2249424"/>
            <a:ext cx="68580" cy="234086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6650" y="2505456"/>
            <a:ext cx="27715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조건부 재시도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6650" y="2980944"/>
            <a:ext cx="277154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한글 필수값 누락 또는 PDF OCR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작업 실패일 때만 모든 페이지를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PNG로 변환해 다시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46650" y="3986783"/>
            <a:ext cx="2771546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스캔 PDF의 텍스트 · 표 영역 복구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4812" y="3419856"/>
            <a:ext cx="237744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58276" y="2249424"/>
            <a:ext cx="3466490" cy="2340864"/>
          </a:xfrm>
          <a:prstGeom prst="roundRect">
            <a:avLst>
              <a:gd name="adj" fmla="val 468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9172" y="2505456"/>
            <a:ext cx="284469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결과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9172" y="2980944"/>
            <a:ext cx="2844698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발주서 공급자 주소는 PDF 결과,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나머지 선정 필드는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PNG 결과를 쓴다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9172" y="3986783"/>
            <a:ext cx="2844698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PNG 경로의 주소 하락 방지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74116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70001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문서별 최종 경로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37760"/>
            <a:ext cx="2558719" cy="987552"/>
          </a:xfrm>
          <a:prstGeom prst="roundRect">
            <a:avLst>
              <a:gd name="adj" fmla="val 1111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65776"/>
            <a:ext cx="204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견적서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58384"/>
            <a:ext cx="204665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원본 PDF OCR 유지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99967" y="4937760"/>
            <a:ext cx="2558719" cy="987552"/>
          </a:xfrm>
          <a:prstGeom prst="roundRect">
            <a:avLst>
              <a:gd name="adj" fmla="val 1111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5999" y="5065776"/>
            <a:ext cx="204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계약서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5999" y="5358384"/>
            <a:ext cx="204665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한글 누락 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모든 페이지 PNG OCR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937760"/>
            <a:ext cx="2558719" cy="987552"/>
          </a:xfrm>
          <a:prstGeom prst="roundRect">
            <a:avLst>
              <a:gd name="adj" fmla="val 1111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9039" y="5065776"/>
            <a:ext cx="204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발주서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9039" y="5358384"/>
            <a:ext cx="204665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PNG OCR + 공급자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주소만 PDF 결과 보존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66047" y="4937760"/>
            <a:ext cx="2558719" cy="987552"/>
          </a:xfrm>
          <a:prstGeom prst="roundRect">
            <a:avLst>
              <a:gd name="adj" fmla="val 1111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2079" y="5065776"/>
            <a:ext cx="204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상품설명서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2079" y="5358384"/>
            <a:ext cx="204665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PDF 작업 실패 문서만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PNG OCR 재시도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핵심 구조화 문서 일치율 65.4% → 98.8%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 RunPod 재시험)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664208"/>
          </a:xfrm>
          <a:prstGeom prst="roundRect">
            <a:avLst>
              <a:gd name="adj" fmla="val 6593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66420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103120"/>
            <a:ext cx="512064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6F0"/>
                </a:solidFill>
                <a:latin typeface="Pretendard"/>
              </a:rPr>
              <a:t>65.4% → 98.8%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694431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핵심 구조화 문서 선정 필드 일치율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23615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1,136 / 1,150 · 견적서 · 계약서 · 발주서 150건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639" y="21031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+33.4%p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4639" y="287121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1차 대비 개선 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75887"/>
            <a:ext cx="255871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03903"/>
            <a:ext cx="204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견적서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1"/>
            <a:ext cx="2046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100.0% → 100.0%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43983"/>
            <a:ext cx="2046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0.0%p · 200 / 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9967" y="3675887"/>
            <a:ext cx="2558719" cy="1024128"/>
          </a:xfrm>
          <a:prstGeom prst="roundRect">
            <a:avLst>
              <a:gd name="adj" fmla="val 1071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99967" y="3675887"/>
            <a:ext cx="68580" cy="10241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9151" y="3803903"/>
            <a:ext cx="197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계약서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9151" y="4096511"/>
            <a:ext cx="19735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25.0% → 98.5%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9151" y="4443983"/>
            <a:ext cx="19735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+73.5%p · 197 / 200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675887"/>
            <a:ext cx="2558719" cy="1024128"/>
          </a:xfrm>
          <a:prstGeom prst="roundRect">
            <a:avLst>
              <a:gd name="adj" fmla="val 1071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675887"/>
            <a:ext cx="68580" cy="10241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2191" y="3803903"/>
            <a:ext cx="197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발주서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191" y="4096511"/>
            <a:ext cx="19735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66.9% → 98.5%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191" y="4443983"/>
            <a:ext cx="19735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+31.6%p · 739 / 750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6047" y="3675887"/>
            <a:ext cx="255871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2079" y="3803903"/>
            <a:ext cx="204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상품설명서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2079" y="4096511"/>
            <a:ext cx="2046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84.0% → 86.0%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2079" y="4443983"/>
            <a:ext cx="2046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+2.0%p · 43 / 50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84632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84632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97547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스캔 · 한글 누락 PDF만 PNG로 다시 읽고, 취약 필드는 PDF 결과를 보존했다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559552"/>
            <a:ext cx="110578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평가 범위    선정 필드 일치율 기준 · 문자 단위 전사 정확도 · CER / WER 미포함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남은 과제    상품설명서는 +2.0%p · 사양 값 자동 등록 정확도는 사람 검수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