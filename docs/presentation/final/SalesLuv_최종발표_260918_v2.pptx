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CRM 시장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2025년</c:v>
                </c:pt>
                <c:pt idx="1">
                  <c:v>2026년</c:v>
                </c:pt>
                <c:pt idx="2">
                  <c:v>2033년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2.51</c:v>
                </c:pt>
                <c:pt idx="1">
                  <c:v>2.75</c:v>
                </c:pt>
                <c:pt idx="2">
                  <c:v>5.46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6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BFDBF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RF 기준선</c:v>
                </c:pt>
                <c:pt idx="1">
                  <c:v>RF 튜닝</c:v>
                </c:pt>
                <c:pt idx="2">
                  <c:v>Stacking_LR (최종)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0.6958</c:v>
                </c:pt>
                <c:pt idx="1">
                  <c:v>0.7338</c:v>
                </c:pt>
                <c:pt idx="2">
                  <c:v>0.736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RF 기준선</c:v>
                </c:pt>
                <c:pt idx="1">
                  <c:v>RF 튜닝</c:v>
                </c:pt>
                <c:pt idx="2">
                  <c:v>Stacking_LR (최종)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0.7409</c:v>
                </c:pt>
                <c:pt idx="1">
                  <c:v>0.7756</c:v>
                </c:pt>
                <c:pt idx="2">
                  <c:v>0.7783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4"/>
          <c:min val="0.6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Pretendard Medium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개선 전</c:v>
                </c:pt>
              </c:strCache>
            </c:strRef>
          </c:tx>
          <c:spPr>
            <a:solidFill>
              <a:srgbClr val="BFDBF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미팅</c:v>
                </c:pt>
                <c:pt idx="1">
                  <c:v>일일</c:v>
                </c:pt>
                <c:pt idx="2">
                  <c:v>주간</c:v>
                </c:pt>
                <c:pt idx="3">
                  <c:v>월간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97.74</c:v>
                </c:pt>
                <c:pt idx="1">
                  <c:v>86.88</c:v>
                </c:pt>
                <c:pt idx="2">
                  <c:v>72.5</c:v>
                </c:pt>
                <c:pt idx="3">
                  <c:v>66.25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개선 후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미팅</c:v>
                </c:pt>
                <c:pt idx="1">
                  <c:v>일일</c:v>
                </c:pt>
                <c:pt idx="2">
                  <c:v>주간</c:v>
                </c:pt>
                <c:pt idx="3">
                  <c:v>월간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96.57</c:v>
                </c:pt>
                <c:pt idx="1">
                  <c:v>95.16</c:v>
                </c:pt>
                <c:pt idx="2">
                  <c:v>87.08</c:v>
                </c:pt>
                <c:pt idx="3">
                  <c:v>76.25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8.0"/>
          <c:min val="60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Pretendard Medium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점수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overall</c:v>
                </c:pt>
                <c:pt idx="1">
                  <c:v>completeness</c:v>
                </c:pt>
                <c:pt idx="2">
                  <c:v>groundedness</c:v>
                </c:pt>
                <c:pt idx="3">
                  <c:v>hallucination</c:v>
                </c:pt>
                <c:pt idx="4">
                  <c:v>retrieval_relevance</c:v>
                </c:pt>
                <c:pt idx="5">
                  <c:v>irrelevance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0.846</c:v>
                </c:pt>
                <c:pt idx="1">
                  <c:v>0.828</c:v>
                </c:pt>
                <c:pt idx="2">
                  <c:v>0.914</c:v>
                </c:pt>
                <c:pt idx="3">
                  <c:v>0.942</c:v>
                </c:pt>
                <c:pt idx="4">
                  <c:v>0.892</c:v>
                </c:pt>
                <c:pt idx="5">
                  <c:v>0.901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처리 시간(초)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명함 이미지</c:v>
                </c:pt>
                <c:pt idx="1">
                  <c:v>PDF 문서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2.24</c:v>
                </c:pt>
                <c:pt idx="1">
                  <c:v>1.23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요약1</c:v>
                </c:pt>
                <c:pt idx="1">
                  <c:v>요약2</c:v>
                </c:pt>
                <c:pt idx="2">
                  <c:v>요약3</c:v>
                </c:pt>
                <c:pt idx="3">
                  <c:v>요약4</c:v>
                </c:pt>
                <c:pt idx="4">
                  <c:v>요약5</c:v>
                </c:pt>
                <c:pt idx="5">
                  <c:v>요약6</c:v>
                </c:pt>
                <c:pt idx="6">
                  <c:v>검색1</c:v>
                </c:pt>
                <c:pt idx="7">
                  <c:v>검색2</c:v>
                </c:pt>
                <c:pt idx="8">
                  <c:v>검색3</c:v>
                </c:pt>
                <c:pt idx="9">
                  <c:v>검색4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0.97</c:v>
                </c:pt>
                <c:pt idx="1">
                  <c:v>0.91</c:v>
                </c:pt>
                <c:pt idx="2">
                  <c:v>0.96</c:v>
                </c:pt>
                <c:pt idx="3">
                  <c:v>0.98</c:v>
                </c:pt>
                <c:pt idx="4">
                  <c:v>0.93</c:v>
                </c:pt>
                <c:pt idx="5">
                  <c:v>0.96</c:v>
                </c:pt>
                <c:pt idx="6">
                  <c:v>0.25</c:v>
                </c:pt>
                <c:pt idx="7">
                  <c:v>0.78</c:v>
                </c:pt>
                <c:pt idx="8">
                  <c:v>0.9</c:v>
                </c:pt>
                <c:pt idx="9">
                  <c:v>0.82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783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0A5FA"/>
                </a:solidFill>
                <a:latin typeface="Pretendard SemiBold"/>
              </a:rPr>
              <a:t>SKN30 1Team · CassTerra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76272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FFFFFF"/>
                </a:solidFill>
                <a:latin typeface="Pretendard"/>
              </a:rPr>
              <a:t>SalesLuv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>
                <a:solidFill>
                  <a:srgbClr val="C4CFDD"/>
                </a:solidFill>
                <a:latin typeface="Pretendard Medium"/>
              </a:rPr>
              <a:t>영업의 흐름을 연결하는 멀티에이전트 CRM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224528"/>
            <a:ext cx="1828800" cy="685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498848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Pretendard"/>
              </a:rPr>
              <a:t>CONNECT THE HISTORY.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0A5FA"/>
                </a:solidFill>
                <a:latin typeface="Pretendard"/>
              </a:rPr>
              <a:t>APPROVE THE NEXT MOVE.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42432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2026.09.18 (FRI) 15:00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C4CFDD"/>
                </a:solidFill>
                <a:latin typeface="Pretendard"/>
              </a:rPr>
              <a:t>천성배 · 정주애 · 박제섭 · 박지유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목차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문제 → 구현 → 검증, 세 파트로 설명합니다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발표 시간 15분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40864"/>
            <a:ext cx="3381146" cy="1055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BFDBFE"/>
                </a:solidFill>
                <a:latin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456432"/>
            <a:ext cx="338114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222"/>
                </a:solidFill>
                <a:latin typeface="Pretendard"/>
              </a:rPr>
              <a:t>문제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05072"/>
            <a:ext cx="338114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왜 이 문제를 골랐는가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4736592"/>
            <a:ext cx="3106826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4901183"/>
            <a:ext cx="31982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팀 · 주제 · 문제</a:t>
            </a:r>
          </a:p>
          <a:p>
            <a:pPr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시장 · 경쟁 · 해결책 · 기대효과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76674" y="2432304"/>
            <a:ext cx="0" cy="3118104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05274" y="2340864"/>
            <a:ext cx="3381146" cy="1055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BFDBFE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274" y="3456432"/>
            <a:ext cx="338114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222"/>
                </a:solidFill>
                <a:latin typeface="Pretendard"/>
              </a:rPr>
              <a:t>설계와 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5274" y="4005072"/>
            <a:ext cx="338114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무엇을 어떻게 만들었는가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05274" y="4736592"/>
            <a:ext cx="3106826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05274" y="4901183"/>
            <a:ext cx="31982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시나리오 · 시연 · 기술 스택</a:t>
            </a:r>
          </a:p>
          <a:p>
            <a:pPr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아키텍처 · 에이전트 · 흐름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15020" y="2432304"/>
            <a:ext cx="0" cy="3118104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43620" y="2340864"/>
            <a:ext cx="3381146" cy="1055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BFDBFE"/>
                </a:solidFill>
                <a:latin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620" y="3456432"/>
            <a:ext cx="338114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222"/>
                </a:solidFill>
                <a:latin typeface="Pretendard"/>
              </a:rPr>
              <a:t>검증과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3620" y="4005072"/>
            <a:ext cx="338114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제대로 동작하는지 어떻게 확인했는가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43620" y="4736592"/>
            <a:ext cx="3106827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43620" y="4901183"/>
            <a:ext cx="31982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에이전트별 평가 · 실패와 개선</a:t>
            </a:r>
          </a:p>
          <a:p>
            <a:pPr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보완점 · 향후 계획 ·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4173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10128"/>
            <a:ext cx="137160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retendard"/>
              </a:rPr>
              <a:t>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C4CFDD"/>
                </a:solidFill>
                <a:latin typeface="Pretendard Medium"/>
              </a:rPr>
              <a:t>왜 이 프로젝트가 필요한가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네 명이 기획부터 배포까지 나눠 맡았다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PM · 풀스택 · 에이전트 · 시연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40864"/>
            <a:ext cx="2545003" cy="1783080"/>
          </a:xfrm>
          <a:prstGeom prst="roundRect">
            <a:avLst>
              <a:gd name="adj" fmla="val 6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79392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천성배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73168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956048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P.M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285232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614416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자료요약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4539" y="2340864"/>
            <a:ext cx="2545003" cy="1783080"/>
          </a:xfrm>
          <a:prstGeom prst="roundRect">
            <a:avLst>
              <a:gd name="adj" fmla="val 6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4539" y="4279392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정주애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4539" y="4773168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4539" y="4956048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Full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4539" y="5285232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Infra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2151" y="2340864"/>
            <a:ext cx="2545003" cy="1783080"/>
          </a:xfrm>
          <a:prstGeom prst="roundRect">
            <a:avLst>
              <a:gd name="adj" fmla="val 6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2151" y="4279392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박제섭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2151" y="4773168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2151" y="4956048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기술리더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151" y="5285232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미팅분석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2151" y="5614416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업무보고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9763" y="2340864"/>
            <a:ext cx="2545003" cy="1783080"/>
          </a:xfrm>
          <a:prstGeom prst="roundRect">
            <a:avLst>
              <a:gd name="adj" fmla="val 6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763" y="4279392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박지유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79763" y="4773168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763" y="4956048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영업계약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763" y="5285232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일정관리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763" y="5614416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시연영상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담당자의 고객 맥락을 팀이 이어받게 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프로젝트 한 줄 정의와 세 가지 키워드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기획서(2026-08)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11057839" cy="960120"/>
          </a:xfrm>
          <a:prstGeom prst="roundRect">
            <a:avLst>
              <a:gd name="adj" fmla="val 11428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96896"/>
            <a:ext cx="103263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437D"/>
                </a:solidFill>
                <a:latin typeface="Pretendard"/>
              </a:rPr>
              <a:t>영업의 시작부터 끝까지, 한 번에 해결하는 멀티에이전트 CRM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666744"/>
            <a:ext cx="3466490" cy="4572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922776"/>
            <a:ext cx="346649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국내 B2B 영업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16552"/>
            <a:ext cx="34664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고객 · 딜 · 일정 · 보고가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흩어져 있는 조직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2602" y="3666744"/>
            <a:ext cx="3466490" cy="4572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2602" y="3922776"/>
            <a:ext cx="346649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멀티에이전트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2602" y="4416552"/>
            <a:ext cx="34664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판단 · 초안 · 제안을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다섯 에이전트로 분담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8276" y="3666744"/>
            <a:ext cx="346649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8276" y="3922776"/>
            <a:ext cx="346649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Human-in-the-loop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4416552"/>
            <a:ext cx="34664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AI는 초안까지,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확정은 사람의 승인으로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6875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CRM — 고객과 나눈 이야기를 기억하는 시스템        딜 — 하나의 거래 기회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영업 맥락은 다섯 지점에서 끊긴다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정보 분산에서 시작해 인수인계에서 무너진다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기획서(2026-08) · 영업사원 출신 PM의 현장 경험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11057839" cy="640080"/>
          </a:xfrm>
          <a:prstGeom prst="roundRect">
            <a:avLst>
              <a:gd name="adj" fmla="val 17142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59736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5146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영업정보 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2532888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고객 · 계약 · 매출이 따로 관리된다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11057839" cy="640080"/>
          </a:xfrm>
          <a:prstGeom prst="roundRect">
            <a:avLst>
              <a:gd name="adj" fmla="val 17142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227832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328269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영업흐름 단절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3300984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리드 → 계약 → 매출이 이어지지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77056"/>
            <a:ext cx="11057839" cy="640080"/>
          </a:xfrm>
          <a:prstGeom prst="roundRect">
            <a:avLst>
              <a:gd name="adj" fmla="val 17142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995928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40507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판단 공백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4069080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진행 상황과 예측이 보이지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645152"/>
            <a:ext cx="11057839" cy="640080"/>
          </a:xfrm>
          <a:prstGeom prst="roundRect">
            <a:avLst>
              <a:gd name="adj" fmla="val 17142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645152"/>
            <a:ext cx="68580" cy="6400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764024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48188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인수인계 맥락 소실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4837176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관계와 노하우가 담당자와 함께 사라진다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413248"/>
            <a:ext cx="11057839" cy="640080"/>
          </a:xfrm>
          <a:prstGeom prst="roundRect">
            <a:avLst>
              <a:gd name="adj" fmla="val 17142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532120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47088" y="558698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범용 CRM 한계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5605272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B2B 영업 현장에는 기능이 부족하다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결국 남는 문제는 암묵지다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조직에 남지 않는 지식은 담당자와 함께 사라진다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기획서(2026-08) · 영업사원 출신 PM의 현장 경험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11057839" cy="1463040"/>
          </a:xfrm>
          <a:prstGeom prst="roundRect">
            <a:avLst>
              <a:gd name="adj" fmla="val 7500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340864"/>
            <a:ext cx="68580" cy="146304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615184"/>
            <a:ext cx="102348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Pretendard"/>
              </a:rPr>
              <a:t>고객 맥락과 영업 노하우는 담당자 개인의 암묵지로만 쌓인다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2100">
                <a:solidFill>
                  <a:srgbClr val="45515E"/>
                </a:solidFill>
                <a:latin typeface="Pretendard"/>
              </a:rPr>
              <a:t>조직 자산으로 남지 않아 담당자가 바뀌면 함께 사라진다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165091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2394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이 판단의 근거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35424"/>
            <a:ext cx="3466490" cy="1554480"/>
          </a:xfrm>
          <a:prstGeom prst="roundRect">
            <a:avLst>
              <a:gd name="adj" fmla="val 705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791456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프로젝트 기획서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5266944"/>
            <a:ext cx="291785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2026-08 작성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문제 정의와 범위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2602" y="4535424"/>
            <a:ext cx="3466490" cy="1554480"/>
          </a:xfrm>
          <a:prstGeom prst="roundRect">
            <a:avLst>
              <a:gd name="adj" fmla="val 705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922" y="4791456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현장 경험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922" y="5266944"/>
            <a:ext cx="291785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영업사원 출신 PM의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실무 경험에서 출발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8276" y="4535424"/>
            <a:ext cx="3466490" cy="1554480"/>
          </a:xfrm>
          <a:prstGeom prst="roundRect">
            <a:avLst>
              <a:gd name="adj" fmla="val 7058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2596" y="4791456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8E8E93"/>
                </a:solidFill>
                <a:latin typeface="Pretendard SemiBold"/>
              </a:rPr>
              <a:t>정량 근거는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596" y="5266944"/>
            <a:ext cx="291785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설문 · 인터뷰 데이터 없이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검증할 가설로 다룬다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국내 CRM 시장은 2033년까지 두 배 이상 커진다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영업 CRM 단독 통계는 공개된 것이 없어 상위 시장으로 판단했다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Grand View Research(2026) · KISDI 2026(원자료 Gartner 2025) · 환율 2026-09-15 1,347.8원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82012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408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국내 CRM 시장 규모 (조원)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2706624"/>
          <a:ext cx="6492240" cy="2880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516367" y="2340864"/>
            <a:ext cx="4108399" cy="1572768"/>
          </a:xfrm>
          <a:prstGeom prst="roundRect">
            <a:avLst>
              <a:gd name="adj" fmla="val 69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8975" y="2523744"/>
            <a:ext cx="35231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10.3%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3236976"/>
            <a:ext cx="35231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국내 CRM 연평균 성장률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5" y="3566160"/>
            <a:ext cx="3523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2026–2033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6367" y="4032504"/>
            <a:ext cx="4108399" cy="1664208"/>
          </a:xfrm>
          <a:prstGeom prst="roundRect">
            <a:avLst>
              <a:gd name="adj" fmla="val 659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5" y="4215384"/>
            <a:ext cx="35231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B82F6"/>
                </a:solidFill>
                <a:latin typeface="Pretendard"/>
              </a:rPr>
              <a:t>17.1%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8975" y="4928616"/>
            <a:ext cx="35231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국내 SaaS 연평균 성장률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5" y="5257800"/>
            <a:ext cx="3523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2025–2029 · 2조 1,295억 → 4조 164억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73328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CRM과 SaaS는 시장 정의가 달라 합산하지 않는다 · 영업 CRM 단독 시장 통계는 공개된 것이 없다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진입 조건은 근거 · 연결 · 승인 세 가지다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AI 요약은 이미 존재한다. 남은 자리는 그 다음이다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각 사 공식 제품 페이지(2026-09-15 확인) · 팀 시장 조사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2651760"/>
          </a:xfrm>
          <a:prstGeom prst="roundRect">
            <a:avLst>
              <a:gd name="adj" fmla="val 413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42032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65170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경쟁 현실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708273"/>
            <a:ext cx="291785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 미팅 요약과 후속조치
제안은 이미 존재한다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2602" y="2340864"/>
            <a:ext cx="3466490" cy="2651760"/>
          </a:xfrm>
          <a:prstGeom prst="roundRect">
            <a:avLst>
              <a:gd name="adj" fmla="val 413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922" y="2542032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922" y="3265170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초기 ICP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922" y="3708273"/>
            <a:ext cx="291785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문서 · 견적 · 계약이
복잡한 B2B 영업팀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8276" y="2340864"/>
            <a:ext cx="3466490" cy="2651760"/>
          </a:xfrm>
          <a:prstGeom prst="roundRect">
            <a:avLst>
              <a:gd name="adj" fmla="val 4137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8276" y="2340864"/>
            <a:ext cx="68580" cy="265176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5748" y="2542032"/>
            <a:ext cx="2844698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5748" y="326517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차별화 조건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5748" y="3708273"/>
            <a:ext cx="284469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근거 검색 + 데이터 연결
+ 담당자 승인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17550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17550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30466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성장하는 시장에서 우리가 고른 자리 — 근거를 대고, 데이터를 잇고, 사람이 승인한다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기본 기능은 세 제품 모두 갖추고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고객 관리 · 딜 관리 · 실적 분석은 시장의 기본값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각 사 공식 제품 페이지(2026-09-15 확인) · 기능군 판정은 팀 조사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340864"/>
          <a:ext cx="110578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680106"/>
                <a:gridCol w="2680106"/>
                <a:gridCol w="2680106"/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제품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고객 · 거래처 관리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파이프라인 · 딜 관리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영업 실적 · 매출 분석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세일즈맵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핑거세일즈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세일즈인사이트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△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SalesLuv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586983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● 제공        △ 일부        – 공개 자료에서 확인되지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차이는 AI 유무가 아니라 승인이 순환하는 구조다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승인 결과가 다음 행동으로 이어지는 제품은 아직 없다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각 사 공식 제품 페이지(2026-09-15 확인) · 기능군 판정은 팀 조사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340864"/>
          <a:ext cx="110578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  <a:gridCol w="2876702"/>
                <a:gridCol w="2877616"/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제품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AI 기능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사용자 승인 후 업무 반영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승인 결과 → 다음 행동 순환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세일즈맵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△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핑거세일즈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세일즈인사이트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SalesLuv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586983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● 제공        △ 일부        – 공개 자료에서 확인되지 않음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SalesLuv가 더하는 것은 세 가지다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근거 기반 추천 · Human-in-the-loop · 다음 행동으로 순환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2468880"/>
          </a:xfrm>
          <a:prstGeom prst="roundRect">
            <a:avLst>
              <a:gd name="adj" fmla="val 444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340864"/>
            <a:ext cx="68580" cy="246888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28264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근거 기반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4"/>
            <a:ext cx="282641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보고서와 자료를 검색해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출처와 함께 제안한다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2602" y="2340864"/>
            <a:ext cx="3466490" cy="2468880"/>
          </a:xfrm>
          <a:prstGeom prst="roundRect">
            <a:avLst>
              <a:gd name="adj" fmla="val 444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2602" y="2340864"/>
            <a:ext cx="68580" cy="246888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0074" y="2724912"/>
            <a:ext cx="28264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Human-in-the-loop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0074" y="3346704"/>
            <a:ext cx="282641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 제안은 초안일 뿐,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담당자가 확정한다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8276" y="2340864"/>
            <a:ext cx="3466490" cy="2468880"/>
          </a:xfrm>
          <a:prstGeom prst="roundRect">
            <a:avLst>
              <a:gd name="adj" fmla="val 444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8276" y="2340864"/>
            <a:ext cx="68580" cy="2468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5748" y="2724912"/>
            <a:ext cx="28264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다음 행동으로 순환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5748" y="3346704"/>
            <a:ext cx="282641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승인 결과가 다시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다음 추천을 부른다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03834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03834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16750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경쟁 제품에도 AI는 있다. 다른 것은 승인 결과가 다음 행동으로 순환하는 구조다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기록이 초안이 되고, 승인이 다음 일정이 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네 단계가 딜 하나를 중심으로 순환한다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2558719" cy="2514600"/>
          </a:xfrm>
          <a:prstGeom prst="roundRect">
            <a:avLst>
              <a:gd name="adj" fmla="val 436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42032"/>
            <a:ext cx="2010079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35960"/>
            <a:ext cx="2010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미팅 기록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679063"/>
            <a:ext cx="2010079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· 음성 STT
이미지 OCR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62223" y="3602736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99967" y="2340864"/>
            <a:ext cx="2558719" cy="2514600"/>
          </a:xfrm>
          <a:prstGeom prst="roundRect">
            <a:avLst>
              <a:gd name="adj" fmla="val 436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4287" y="2542032"/>
            <a:ext cx="2010079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4287" y="3235960"/>
            <a:ext cx="2010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AI 초안 + 딜 승산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4287" y="3679063"/>
            <a:ext cx="2010079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딜별 귀속 · 13개 특성
성사 확률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5263" y="3602736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33007" y="2340864"/>
            <a:ext cx="2558719" cy="2514600"/>
          </a:xfrm>
          <a:prstGeom prst="roundRect">
            <a:avLst>
              <a:gd name="adj" fmla="val 4363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2340864"/>
            <a:ext cx="68580" cy="251460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0479" y="2542032"/>
            <a:ext cx="1936927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0479" y="3235960"/>
            <a:ext cx="19369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사람이 확정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0479" y="3679063"/>
            <a:ext cx="1936927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근거 대조 · 확정
팀장 검토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28303" y="3602736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66047" y="2340864"/>
            <a:ext cx="2558719" cy="2514600"/>
          </a:xfrm>
          <a:prstGeom prst="roundRect">
            <a:avLst>
              <a:gd name="adj" fmla="val 436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0367" y="2542032"/>
            <a:ext cx="2010079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0A5FA"/>
                </a:solidFill>
                <a:latin typeface="Pretendar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0367" y="3235960"/>
            <a:ext cx="2010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다음 미팅 · 브리핑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0367" y="3679063"/>
            <a:ext cx="2010079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날짜 추천
캘린더 승인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840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0840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2132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04의 승인 결과가 다시 01로 — 모든 기록은 딜(sales_deal) 하나로 연결된다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파일럿에서 네 개 지표로 검증한다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아래 수치는 측정 목표가 아니라 측정할 자리다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 9장 · 파일럿 KPI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2558719" cy="1371600"/>
          </a:xfrm>
          <a:prstGeom prst="roundRect">
            <a:avLst>
              <a:gd name="adj" fmla="val 8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77056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보고서 작성시간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79392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활성 작업시간 중앙값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967" y="2340864"/>
            <a:ext cx="2558719" cy="1371600"/>
          </a:xfrm>
          <a:prstGeom prst="roundRect">
            <a:avLst>
              <a:gd name="adj" fmla="val 8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9967" y="3877056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당일 제출률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9967" y="4279392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당일 제출 ÷ 보고 대상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340864"/>
            <a:ext cx="2558719" cy="1371600"/>
          </a:xfrm>
          <a:prstGeom prst="roundRect">
            <a:avLst>
              <a:gd name="adj" fmla="val 8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3877056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필수정보 초회 완성률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4279392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첫 제출 필수항목 충족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6047" y="2340864"/>
            <a:ext cx="2558719" cy="1371600"/>
          </a:xfrm>
          <a:prstGeom prst="roundRect">
            <a:avLst>
              <a:gd name="adj" fmla="val 8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6047" y="3877056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팀장 검토시간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6047" y="4279392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검토 작업시간 중앙값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7550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17550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30466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정량 수치는 파일럿에서 검증할 가설이며 실측값이 아니다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보고서는 아래 단계의 확정본 위에 쌓인다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같은 내용을 네 번 쓰지 않는다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6035040" cy="640080"/>
          </a:xfrm>
          <a:prstGeom prst="roundRect">
            <a:avLst>
              <a:gd name="adj" fmla="val 14285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미팅 보고서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84448" y="3008376"/>
            <a:ext cx="0" cy="146304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182112"/>
            <a:ext cx="5340096" cy="640080"/>
          </a:xfrm>
          <a:prstGeom prst="roundRect">
            <a:avLst>
              <a:gd name="adj" fmla="val 14285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일일 업무보고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4448" y="3849624"/>
            <a:ext cx="0" cy="146304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61872" y="4023360"/>
            <a:ext cx="4645152" cy="640080"/>
          </a:xfrm>
          <a:prstGeom prst="roundRect">
            <a:avLst>
              <a:gd name="adj" fmla="val 14285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주간 업무보고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84448" y="4690872"/>
            <a:ext cx="0" cy="146304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609344" y="4864608"/>
            <a:ext cx="3950207" cy="640080"/>
          </a:xfrm>
          <a:prstGeom prst="roundRect">
            <a:avLst>
              <a:gd name="adj" fmla="val 14285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월간 업무보고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769864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각 단계는 아래 단계의 확정 제출본을 원천으로 사용한다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50607" y="2382012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2340864"/>
            <a:ext cx="44741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정성 효과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607" y="2798064"/>
            <a:ext cx="4474159" cy="914400"/>
          </a:xfrm>
          <a:prstGeom prst="roundRect">
            <a:avLst>
              <a:gd name="adj" fmla="val 12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2944368"/>
            <a:ext cx="3925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17437D"/>
                </a:solidFill>
                <a:latin typeface="Pretendard SemiBold"/>
              </a:rPr>
              <a:t>자동 집계 ·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3310128"/>
            <a:ext cx="3925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흩어진 기록을 모아 숫자를 스스로 맞춘다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0607" y="3877056"/>
            <a:ext cx="4474159" cy="914400"/>
          </a:xfrm>
          <a:prstGeom prst="roundRect">
            <a:avLst>
              <a:gd name="adj" fmla="val 12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4927" y="4023360"/>
            <a:ext cx="3925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17437D"/>
                </a:solidFill>
                <a:latin typeface="Pretendard SemiBold"/>
              </a:rPr>
              <a:t>승인 기반 반영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4389120"/>
            <a:ext cx="3925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확정된 내용만 CRM · 캘린더에 반영한다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0607" y="4956048"/>
            <a:ext cx="4474159" cy="914400"/>
          </a:xfrm>
          <a:prstGeom prst="roundRect">
            <a:avLst>
              <a:gd name="adj" fmla="val 12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4927" y="5102352"/>
            <a:ext cx="3925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17437D"/>
                </a:solidFill>
                <a:latin typeface="Pretendard SemiBold"/>
              </a:rPr>
              <a:t>암묵지의 자산화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5468112"/>
            <a:ext cx="3925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개인의 노하우가 조직의 기록으로 남는다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4173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10128"/>
            <a:ext cx="137160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retendard"/>
              </a:rPr>
              <a:t>설계와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C4CFDD"/>
                </a:solidFill>
                <a:latin typeface="Pretendard Medium"/>
              </a:rPr>
              <a:t>그래서 어떻게 해결했는가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AI는 미팅을 준비하고 기록을 받아 적는다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사용자 시나리오 01 – 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42032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65170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미팅 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708273"/>
            <a:ext cx="291785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영업·계약관리 에이전트가
다음 미팅을 추천하고
사람이 캘린더에 승인한다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2602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922" y="2542032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922" y="3265170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사전 브리핑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922" y="3708273"/>
            <a:ext cx="291785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과거 보고서와 자료를
RAG로 찾아 근거와 함께
브리핑을 만든다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8276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2596" y="2542032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65170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미팅 후 입력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708273"/>
            <a:ext cx="291785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원문을 직접 쓰거나
음성 파일 STT · 이미지 OCR로
기록을 올린다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412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5412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6704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여기까지는 모두 AI가 준비한 초안 — 아직 확정된 것은 없다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확정은 사람이 하고, 그 확정이 다음을 부른다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사용자 시나리오 04 – 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340864"/>
            <a:ext cx="68580" cy="30175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42032"/>
            <a:ext cx="2844698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6517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보고서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8273"/>
            <a:ext cx="2844698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사람이 확정해야
저장된다
AI 단독 저장은 없다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602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922" y="2542032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922" y="3265170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보고서 누적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922" y="3708273"/>
            <a:ext cx="291785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확정본이 RAG에 적재되고
다음 미팅 추천
트리거가 걸린다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8276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2596" y="2542032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265170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기간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708273"/>
            <a:ext cx="291785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일일 · 주간 · 월간으로
묶여 팀장 검토로
올라간다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412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5412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6704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확정 결과가 다시 01 미팅 준비로 순환한다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한 번의 영업 사이클을 실제 화면으로 따라간다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[시연 동선 한 줄 입력 예정]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40864"/>
            <a:ext cx="6583680" cy="3703320"/>
          </a:xfrm>
          <a:prstGeom prst="roundRect">
            <a:avLst>
              <a:gd name="adj" fmla="val 3209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8E8E93"/>
                </a:solidFill>
                <a:latin typeface="Pretendard Medium"/>
              </a:rPr>
              <a:t>시연 영상 (16:9)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7808" y="2382012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2340864"/>
            <a:ext cx="4016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시연 체크포인트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816352"/>
            <a:ext cx="4016959" cy="548640"/>
          </a:xfrm>
          <a:prstGeom prst="roundRect">
            <a:avLst>
              <a:gd name="adj" fmla="val 20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27264" y="2953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953512"/>
            <a:ext cx="3239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자료실 업로드 → 요약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3474720"/>
            <a:ext cx="4016959" cy="548640"/>
          </a:xfrm>
          <a:prstGeom prst="roundRect">
            <a:avLst>
              <a:gd name="adj" fmla="val 20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361187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3611879"/>
            <a:ext cx="3239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캘린더 추천 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07808" y="4133087"/>
            <a:ext cx="4016959" cy="548640"/>
          </a:xfrm>
          <a:prstGeom prst="roundRect">
            <a:avLst>
              <a:gd name="adj" fmla="val 20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4" y="4270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4270248"/>
            <a:ext cx="3239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AI 브리핑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4791456"/>
            <a:ext cx="4016959" cy="548640"/>
          </a:xfrm>
          <a:prstGeom prst="roundRect">
            <a:avLst>
              <a:gd name="adj" fmla="val 20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27264" y="49286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928616"/>
            <a:ext cx="3239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미팅 원문 → 초안 생성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07808" y="5449824"/>
            <a:ext cx="4016959" cy="548640"/>
          </a:xfrm>
          <a:prstGeom prst="roundRect">
            <a:avLst>
              <a:gd name="adj" fmla="val 20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27264" y="55869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5586984"/>
            <a:ext cx="3239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보고서 확정 → 다음 추천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프론트 · 백엔드 · 데이터는 표준 조합으로 묶었다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화면부터 인증 · 저장까지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frontend/package.json · backend/uv.lock (2026-09-11 확인)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78608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Pretendard"/>
              </a:rPr>
              <a:t>FRONTEND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7" y="2999232"/>
            <a:ext cx="2917851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1247" y="3118104"/>
            <a:ext cx="291785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36976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44752" y="3246120"/>
            <a:ext cx="227777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React 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7" y="3721608"/>
            <a:ext cx="291785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type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40480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4752" y="3849624"/>
            <a:ext cx="227777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TypeScript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7" y="4325112"/>
            <a:ext cx="291785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v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43984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4752" y="4453128"/>
            <a:ext cx="227777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Vite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602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922" y="2578608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Pretendard"/>
              </a:rPr>
              <a:t>BACKEND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922" y="2999232"/>
            <a:ext cx="291785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36922" y="3118104"/>
            <a:ext cx="291785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6" name="Picture 25" descr="fast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1514" y="3236976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40426" y="3246120"/>
            <a:ext cx="227777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FastAPI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36922" y="3721608"/>
            <a:ext cx="291785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1514" y="3840480"/>
            <a:ext cx="310896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240426" y="3849624"/>
            <a:ext cx="227777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Python 3.13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36922" y="4325112"/>
            <a:ext cx="291785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2" name="Picture 31" descr="sqlalchem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1514" y="4443984"/>
            <a:ext cx="310896" cy="3108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240426" y="4453128"/>
            <a:ext cx="227777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SQLAlchemy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8276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2596" y="2578608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Pretendard"/>
              </a:rPr>
              <a:t>DATA · AUTH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32596" y="2999232"/>
            <a:ext cx="2917851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432596" y="3118104"/>
            <a:ext cx="291785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8" name="Picture 37" descr="sup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7188" y="3236976"/>
            <a:ext cx="310896" cy="3108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036100" y="3246120"/>
            <a:ext cx="227777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Supabase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32596" y="3721608"/>
            <a:ext cx="291785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1" name="Picture 40" descr="postgresq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7188" y="3840480"/>
            <a:ext cx="310896" cy="31089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36100" y="3849624"/>
            <a:ext cx="227777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PostgreSQL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4036" y="4361688"/>
            <a:ext cx="282641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· pgvector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4036" y="4690872"/>
            <a:ext cx="282641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· Auth · Storage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AI 생태계를 중심에 두고 스택을 맞췄다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모델은 provider adapter로 교체할 수 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backend/uv.lock · 운영 설정값(2026-09-11 확인)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5300319" cy="30175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78608"/>
            <a:ext cx="47516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Pretendard"/>
              </a:rPr>
              <a:t>AI · ML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7" y="2999232"/>
            <a:ext cx="475168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1247" y="3118104"/>
            <a:ext cx="4751679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op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36976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44752" y="3246120"/>
            <a:ext cx="4111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OpenAI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7" y="3721608"/>
            <a:ext cx="4751679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lang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40480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4752" y="3849624"/>
            <a:ext cx="4111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LangChain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7" y="4325112"/>
            <a:ext cx="4751679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scikitle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43984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4752" y="4453128"/>
            <a:ext cx="4111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965192"/>
            <a:ext cx="46602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· DeepAgents · CatBoost · RunPod OCR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2340864"/>
            <a:ext cx="5300319" cy="30175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8767" y="2578608"/>
            <a:ext cx="47516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Pretendard"/>
              </a:rPr>
              <a:t>DEVOPS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98767" y="2999232"/>
            <a:ext cx="475168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598767" y="3118104"/>
            <a:ext cx="4751679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do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3359" y="3236976"/>
            <a:ext cx="310896" cy="310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02271" y="3246120"/>
            <a:ext cx="4111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Docker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98767" y="3721608"/>
            <a:ext cx="4751679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githubact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3359" y="3840480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02271" y="3849624"/>
            <a:ext cx="4111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GitHub Actions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98767" y="4325112"/>
            <a:ext cx="4751679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3" name="Picture 32" descr="amazonwebservic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3359" y="4443984"/>
            <a:ext cx="310896" cy="3108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02271" y="4453128"/>
            <a:ext cx="4111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AWS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495544"/>
            <a:ext cx="11057839" cy="685800"/>
          </a:xfrm>
          <a:prstGeom prst="roundRect">
            <a:avLst>
              <a:gd name="adj" fmla="val 16000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495544"/>
            <a:ext cx="68580" cy="68580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650992"/>
            <a:ext cx="10417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LLM gpt-5.6-luna        STT gpt-4o-transcribe        OCR PaddleOCR (RunPod GPU)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입구는 하나, 오래 걸리는 AI 작업은 따로 뗐다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7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deploy/backend/deploy.sh · backend/app/services/agent_worker.py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39" y="1847088"/>
            <a:ext cx="2377440" cy="530352"/>
          </a:xfrm>
          <a:prstGeom prst="roundRect">
            <a:avLst>
              <a:gd name="adj" fmla="val 20689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025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E8E93"/>
                </a:solidFill>
                <a:latin typeface="Pretendard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7" y="1975104"/>
            <a:ext cx="18562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사용자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2487168"/>
            <a:ext cx="5029200" cy="731520"/>
          </a:xfrm>
          <a:prstGeom prst="roundRect">
            <a:avLst>
              <a:gd name="adj" fmla="val 15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743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EDGE</a:t>
            </a:r>
          </a:p>
        </p:txBody>
      </p:sp>
      <p:pic>
        <p:nvPicPr>
          <p:cNvPr id="14" name="Picture 13" descr="amazonweb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5" y="2688336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42032" y="2606040"/>
            <a:ext cx="39959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CloudFront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단일 HTTPS 진입점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51960" y="2377440"/>
            <a:ext cx="0" cy="9144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40880" y="2487168"/>
            <a:ext cx="4581144" cy="731520"/>
          </a:xfrm>
          <a:prstGeom prst="roundRect">
            <a:avLst>
              <a:gd name="adj" fmla="val 1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amazon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97480"/>
            <a:ext cx="310896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54112" y="2606040"/>
            <a:ext cx="3621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S3 (Private)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React SPA 정적 호스팅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03136" y="2852928"/>
            <a:ext cx="201168" cy="0"/>
          </a:xfrm>
          <a:prstGeom prst="line">
            <a:avLst/>
          </a:prstGeom>
          <a:ln w="1905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737360" y="3328416"/>
            <a:ext cx="5029200" cy="731520"/>
          </a:xfrm>
          <a:prstGeom prst="roundRect">
            <a:avLst>
              <a:gd name="adj" fmla="val 15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5844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APP</a:t>
            </a:r>
          </a:p>
        </p:txBody>
      </p:sp>
      <p:pic>
        <p:nvPicPr>
          <p:cNvPr id="23" name="Picture 22" descr="amazon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8255" y="3529584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42032" y="3447288"/>
            <a:ext cx="39959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EC2 · Nginx · FastAPI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API 서버 · SSE 진행 상황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51960" y="3218688"/>
            <a:ext cx="0" cy="9144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40880" y="3328416"/>
            <a:ext cx="4581144" cy="731520"/>
          </a:xfrm>
          <a:prstGeom prst="roundRect">
            <a:avLst>
              <a:gd name="adj" fmla="val 1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open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538728"/>
            <a:ext cx="310896" cy="310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54112" y="3447288"/>
            <a:ext cx="36210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OCR · STT 동기 호출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RunPod PaddleOCR · gpt-4o-transcribe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03136" y="3694176"/>
            <a:ext cx="201168" cy="0"/>
          </a:xfrm>
          <a:prstGeom prst="line">
            <a:avLst/>
          </a:prstGeom>
          <a:ln w="1905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737360" y="4169663"/>
            <a:ext cx="5029200" cy="1060704"/>
          </a:xfrm>
          <a:prstGeom prst="roundRect">
            <a:avLst>
              <a:gd name="adj" fmla="val 1034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5902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56F0"/>
                </a:solidFill>
                <a:latin typeface="Pretendard"/>
              </a:rPr>
              <a:t>DATA</a:t>
            </a:r>
          </a:p>
        </p:txBody>
      </p:sp>
      <p:pic>
        <p:nvPicPr>
          <p:cNvPr id="32" name="Picture 31" descr="sup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8255" y="4535424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42032" y="4288536"/>
            <a:ext cx="3995928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Supabase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PostgreSQL · pgvector · Auth · Storage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agent_run 작업 큐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51960" y="4059936"/>
            <a:ext cx="0" cy="9144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737360" y="5340096"/>
            <a:ext cx="5029200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58698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B82F6"/>
                </a:solidFill>
                <a:latin typeface="Pretendard"/>
              </a:rPr>
              <a:t>ASYNC</a:t>
            </a:r>
          </a:p>
        </p:txBody>
      </p:sp>
      <p:pic>
        <p:nvPicPr>
          <p:cNvPr id="37" name="Picture 36" descr="dock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8255" y="5532120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542032" y="5458968"/>
            <a:ext cx="399592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Agent Worker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큐 폴링 · 별도 Docker 컨테이너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251960" y="5230368"/>
            <a:ext cx="0" cy="9144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040880" y="5340096"/>
            <a:ext cx="4581144" cy="713232"/>
          </a:xfrm>
          <a:prstGeom prst="roundRect">
            <a:avLst>
              <a:gd name="adj" fmla="val 15384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1" name="Picture 40" descr="open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541264"/>
            <a:ext cx="310896" cy="31089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754112" y="5458968"/>
            <a:ext cx="36210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OpenAI gpt-5.6-luna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보고서 · 미팅분석 생성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03136" y="5696712"/>
            <a:ext cx="201168" cy="0"/>
          </a:xfrm>
          <a:prstGeom prst="line">
            <a:avLst/>
          </a:prstGeom>
          <a:ln w="1905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빠른 요청과 느린 생성을 다른 길로 보냈다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같은 서버에 묶으면 사용자가 기다린다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deploy/backend/deploy.sh · backend/app/services/agent_worker.py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340864"/>
            <a:ext cx="68580" cy="301752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동기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55264"/>
            <a:ext cx="282641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EC2가 직접 호출한다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/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OCR — RunPod PaddleOCR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STT — gpt-4o-transcribe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2602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2602" y="2340864"/>
            <a:ext cx="68580" cy="30175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0074" y="26517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비동기 경로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0074" y="3255264"/>
            <a:ext cx="282641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agent_run 큐에 쌓고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Agent Worker가 폴링한다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/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LLM — gpt-5.6-luna 호출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8276" y="2340864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8276" y="2340864"/>
            <a:ext cx="68580" cy="30175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5748" y="26517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5748" y="3255264"/>
            <a:ext cx="282641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GitHub Actions → OIDC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→ SSM 원격 실행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/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무중단 blue / green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412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5412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6704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SSE로 진행 상황을 흘려보내 사용자가 상태를 볼 수 있게 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다섯 에이전트가 판단 · 초안 · 제안을 나눠 맡는다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확정은 언제나 사람의 몫으로 남긴다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backend/app/agents/ (develop, 2026-09-17)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11057839" cy="603504"/>
          </a:xfrm>
          <a:prstGeom prst="roundRect">
            <a:avLst>
              <a:gd name="adj" fmla="val 1818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340864"/>
            <a:ext cx="68580" cy="603504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미팅분석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249631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판단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505456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원문에서 딜별 귀속과 성사 확률을 만든다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54096"/>
            <a:ext cx="11057839" cy="603504"/>
          </a:xfrm>
          <a:prstGeom prst="roundRect">
            <a:avLst>
              <a:gd name="adj" fmla="val 1818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054096"/>
            <a:ext cx="68580" cy="6035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200400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 · 계약관리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5887" y="320954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상태 허브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3218688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위험 신호와 이력을 보고 다음 미팅을 제안한다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767328"/>
            <a:ext cx="11057839" cy="603504"/>
          </a:xfrm>
          <a:prstGeom prst="roundRect">
            <a:avLst>
              <a:gd name="adj" fmla="val 1818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767328"/>
            <a:ext cx="68580" cy="603504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913632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보고서 작성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75887" y="392277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3931920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원문과 하위 확정 보고서로 초안을 쓴다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480560"/>
            <a:ext cx="11057839" cy="603504"/>
          </a:xfrm>
          <a:prstGeom prst="roundRect">
            <a:avLst>
              <a:gd name="adj" fmla="val 1818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480560"/>
            <a:ext cx="68580" cy="603504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62686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일정관리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75887" y="46360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645152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저장된 추천이 아직 유효한지 다시 판단한다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93792"/>
            <a:ext cx="11057839" cy="603504"/>
          </a:xfrm>
          <a:prstGeom prst="roundRect">
            <a:avLst>
              <a:gd name="adj" fmla="val 1818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193792"/>
            <a:ext cx="68580" cy="603504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340096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자료요약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75887" y="53492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67528" y="5358383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문서를 구조화 요약하고 RAG 청크로 적재한다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판단과 제안을 만드는 두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미팅분석 · 영업 · 계약관리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backend/app/agents/ (develop, 2026-09-17)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5300319" cy="3520440"/>
          </a:xfrm>
          <a:prstGeom prst="roundRect">
            <a:avLst>
              <a:gd name="adj" fmla="val 311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340864"/>
            <a:ext cx="68580" cy="352044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15184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미팅분석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906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판단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753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31336"/>
            <a:ext cx="46602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원문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885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44568"/>
            <a:ext cx="46602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딜별 귀속 · 13개 특성 · 성사 확률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017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46602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확정할 때 저장된다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2340864"/>
            <a:ext cx="5300319" cy="3520440"/>
          </a:xfrm>
          <a:prstGeom prst="roundRect">
            <a:avLst>
              <a:gd name="adj" fmla="val 311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4447" y="2340864"/>
            <a:ext cx="68580" cy="35204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1919" y="2615184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 · 계약관리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1919" y="30906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상태 허브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1919" y="35753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1919" y="3831336"/>
            <a:ext cx="46602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위험 신호 7종 · 이력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1919" y="42885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1919" y="4544568"/>
            <a:ext cx="46602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다음 미팅 제안 · 근거 브리핑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1919" y="50017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1919" y="5257800"/>
            <a:ext cx="46602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캘린더 승인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실행을 돕는 세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보고서 작성 · 일정관리 · 자료요약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backend/app/agents/ (develop, 2026-09-17)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3520440"/>
          </a:xfrm>
          <a:prstGeom prst="roundRect">
            <a:avLst>
              <a:gd name="adj" fmla="val 31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340864"/>
            <a:ext cx="68580" cy="352044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15184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보고서 작성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906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753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31336"/>
            <a:ext cx="28264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· 하위 확정 보고서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885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44568"/>
            <a:ext cx="28264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작성 → 검토 → 수정 초안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017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28264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확정 · 팀장 검토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2602" y="2340864"/>
            <a:ext cx="3466490" cy="3520440"/>
          </a:xfrm>
          <a:prstGeom prst="roundRect">
            <a:avLst>
              <a:gd name="adj" fmla="val 31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2602" y="2340864"/>
            <a:ext cx="68580" cy="35204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0074" y="2615184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일정관리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0074" y="30906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0074" y="35753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0074" y="3831336"/>
            <a:ext cx="28264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저장된 추천 · 딜 상태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0074" y="42885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0074" y="4544568"/>
            <a:ext cx="28264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유효 / 재생성 / 무시 판단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0074" y="50017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0074" y="5257800"/>
            <a:ext cx="28264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승인 · 거절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8276" y="2340864"/>
            <a:ext cx="3466490" cy="3520440"/>
          </a:xfrm>
          <a:prstGeom prst="roundRect">
            <a:avLst>
              <a:gd name="adj" fmla="val 31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58276" y="2340864"/>
            <a:ext cx="68580" cy="352044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5748" y="2615184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자료요약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5748" y="30906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5748" y="35753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5748" y="3831336"/>
            <a:ext cx="28264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PDF · DOCX · 이미지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5748" y="42885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5748" y="4544568"/>
            <a:ext cx="28264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구조화 요약 · RAG 청크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5748" y="50017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5748" y="5257800"/>
            <a:ext cx="28264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원문 대조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트리거와 작업 큐로 잇고, 사람이 닫는다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트리거 → agent_run 큐(PostgreSQL) → 에이전트 → 사람 → 다시 트리거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backend/app/services/agent_runs.py · agent_worker.py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5603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업무 트리거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" y="2999232"/>
            <a:ext cx="209694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04672" y="3264408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163824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자료 업로드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383133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73075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보고서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439826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29768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확정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4965192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64608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일정 등록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532120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431536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 단계 이동 외 3건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75939" y="4169664"/>
            <a:ext cx="18288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395395" y="2340864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3139" y="25603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작업 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33139" y="2999232"/>
            <a:ext cx="209694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633139" y="3264408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6019" y="3163824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agent_run 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33139" y="383133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6019" y="373075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부모 · 자식 실행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33139" y="439826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6019" y="429768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재시도 최대 2회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33139" y="4965192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6019" y="4864608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lease 90초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407" y="4169664"/>
            <a:ext cx="18288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23863" y="2340864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3863" y="2340864"/>
            <a:ext cx="68580" cy="365760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1607" y="25603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437D"/>
                </a:solidFill>
                <a:latin typeface="Pretendard"/>
              </a:rPr>
              <a:t>에이전트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61607" y="2999232"/>
            <a:ext cx="209694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461607" y="3264408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44487" y="3163824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미팅 내용분석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1607" y="383133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44487" y="373075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보고서 작성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61607" y="439826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44487" y="429768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딜 특성 + ML 예측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61607" y="4965192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44487" y="4864608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계약관리 → 일정관리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61607" y="5532120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44487" y="5431536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브리핑 · 자료요약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832875" y="4169664"/>
            <a:ext cx="18288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052331" y="2340864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90075" y="25603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사람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290075" y="2999232"/>
            <a:ext cx="209694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290075" y="3264408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72955" y="3163824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확정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90075" y="383133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72955" y="373075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추천 승인 · 일정 등록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90075" y="439826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72955" y="429768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팀장 검토 · 반려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전역 LLM Supervisor는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에이전트를 지휘하는 또 하나의 LLM을 두지 않았다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backend/app/services/agent_runs.py · agent_worker.py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2834640"/>
          </a:xfrm>
          <a:prstGeom prst="roundRect">
            <a:avLst>
              <a:gd name="adj" fmla="val 387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무엇으로 잇는가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55264"/>
            <a:ext cx="282641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agent_run 큐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코드 dispatch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API 트리거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2340864"/>
            <a:ext cx="3466490" cy="2834640"/>
          </a:xfrm>
          <a:prstGeom prst="roundRect">
            <a:avLst>
              <a:gd name="adj" fmla="val 387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0074" y="26517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큐 규칙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0074" y="3255264"/>
            <a:ext cx="282641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부모 · 자식 실행 구조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재시도 최대 2회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lease 90초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340864"/>
            <a:ext cx="3466490" cy="2834640"/>
          </a:xfrm>
          <a:prstGeom prst="roundRect">
            <a:avLst>
              <a:gd name="adj" fmla="val 3870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8276" y="2340864"/>
            <a:ext cx="68580" cy="283464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5748" y="26517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DeepAgents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5748" y="3255264"/>
            <a:ext cx="282641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작성 내부에서만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사용한다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전체 조율에는 쓰지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58383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358383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48754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연결은 큐와 코드로 — 판단은 에이전트가, 확정은 사람이 한다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4173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10128"/>
            <a:ext cx="137160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retendard"/>
              </a:rPr>
              <a:t>검증과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C4CFDD"/>
                </a:solidFill>
                <a:latin typeface="Pretendard Medium"/>
              </a:rPr>
              <a:t>제대로 동작하는지 어떻게 확인했는가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에이전트마다 다른 방법으로 검증했다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정답표 대조 · LLM Judge · 자동 골든셋 · 처리 시간 측정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 · output/evals (develop, 2026-09-17)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11057839" cy="603504"/>
          </a:xfrm>
          <a:prstGeom prst="roundRect">
            <a:avLst>
              <a:gd name="adj" fmla="val 1818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340864"/>
            <a:ext cx="68580" cy="6035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미팅분석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505456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골든셋 정답표 대조 + 딜 승산 ML 30회 반복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54096"/>
            <a:ext cx="11057839" cy="603504"/>
          </a:xfrm>
          <a:prstGeom prst="roundRect">
            <a:avLst>
              <a:gd name="adj" fmla="val 1818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054096"/>
            <a:ext cx="68580" cy="6035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200400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보고서 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218688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53건 LLM Judge 절대 평가 + 개선 전후 쌍대 비교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67328"/>
            <a:ext cx="11057839" cy="603504"/>
          </a:xfrm>
          <a:prstGeom prst="roundRect">
            <a:avLst>
              <a:gd name="adj" fmla="val 1818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767328"/>
            <a:ext cx="68580" cy="6035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913632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자료요약 ·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3931920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문서 7개 · QRA 자동 골든셋 10건 LLM Judge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480560"/>
            <a:ext cx="11057839" cy="603504"/>
          </a:xfrm>
          <a:prstGeom prst="roundRect">
            <a:avLst>
              <a:gd name="adj" fmla="val 1818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480560"/>
            <a:ext cx="68580" cy="60350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626864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4645152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유형별 정답표 대조 + RunPod 웜 스타트 처리 시간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93792"/>
            <a:ext cx="11057839" cy="603504"/>
          </a:xfrm>
          <a:prstGeom prst="roundRect">
            <a:avLst>
              <a:gd name="adj" fmla="val 18181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340096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E8E93"/>
                </a:solidFill>
                <a:latin typeface="Pretendard"/>
              </a:rPr>
              <a:t>영업 · 계약관리 / 일정관리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5358383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"/>
              </a:rPr>
              <a:t>[평가 방법 입력 예정]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딜 귀속 84.7%, 특성 추출 74.8%가 다음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합성 골든셋 정답표와 대조한 결과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미팅 내용분석 구조 보고서 (2026-08-31 골든셋 · 과거 코드 기준)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578608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84.7%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291840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근거 · 딜 일치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21024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94 / 111 구간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9967" y="2340864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863" y="2578608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74.8%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3291840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딜 특성 필드 정확도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0863" y="3621024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350 / 468 필드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40864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3903" y="2578608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82.6%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3291840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필수 사실 보존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903" y="3621024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38 / 46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6047" y="2340864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6047" y="2340864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6943" y="2578608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 / 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6943" y="3291840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13개 특성 전부 정답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6943" y="3621024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가장 큰 과제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229100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87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672583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59028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미팅 12회 · 딜 36개로 만든 골든셋 (2026-08-31)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129783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04748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AI가 의미를 검수한 결과이며 사람 판정이 아니다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5412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5412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704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13개 특성을 한 건도 빠짐없이 맞춘 사례는 36건 중 0건 — 가장 먼저 개선할 지점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딜 승산 모델은 Stacking으로 AUC 0.778까지 올랐다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공개 영문 B2B 데이터 448건 · 30회 반복 평균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머신러닝 · 딥러닝 학습결과서 (30회 평균)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82012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408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단계별 성능 (30회 평균)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2706624"/>
          <a:ext cx="731520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339327" y="2340864"/>
            <a:ext cx="3285439" cy="1572768"/>
          </a:xfrm>
          <a:prstGeom prst="roundRect">
            <a:avLst>
              <a:gd name="adj" fmla="val 69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1936" y="2523744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+0.037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6" y="3236976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ROC-AUC 상승폭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6" y="3566160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0.7409 → 0.7783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7" y="4032504"/>
            <a:ext cx="3285439" cy="1664208"/>
          </a:xfrm>
          <a:prstGeom prst="roundRect">
            <a:avLst>
              <a:gd name="adj" fmla="val 659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1936" y="4215384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B82F6"/>
                </a:solidFill>
                <a:latin typeface="Pretendard"/>
              </a:rPr>
              <a:t>0.1880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4928616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Brier 점수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57800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0.2097 → 0.1880 (낮을수록 좋음)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이 수치를 읽을 때 유의할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미팅분석 평가의 한계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미팅 내용분석 구조 보고서 · 머신러닝 · 딥러닝 학습결과서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2926080"/>
          </a:xfrm>
          <a:prstGeom prst="roundRect">
            <a:avLst>
              <a:gd name="adj" fmla="val 375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합성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82112"/>
            <a:ext cx="286298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미팅 12회 · 딜 36개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2026-08-31 골든셋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과거 코드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2340864"/>
            <a:ext cx="3466490" cy="2926080"/>
          </a:xfrm>
          <a:prstGeom prst="roundRect">
            <a:avLst>
              <a:gd name="adj" fmla="val 375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498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사람 판정 아님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182112"/>
            <a:ext cx="286298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AI가 의미를 검수했다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사람 평가자가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채점한 결과가 아니다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340864"/>
            <a:ext cx="3466490" cy="2926080"/>
          </a:xfrm>
          <a:prstGeom prst="roundRect">
            <a:avLst>
              <a:gd name="adj" fmla="val 375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9172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영문 공개 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9172" y="3182112"/>
            <a:ext cx="286298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 승산 ML은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공개 영문 B2B 448건 기준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한국어 실제 성능은 별도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44982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44982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57898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실제 한국어 영업 데이터에서의 성능은 아직 측정하지 않았다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구조를 바꾸자 53건 모두 생성, 토큰은 54% 감소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합성 53건 · LLM Judge 절대 평가와 쌍대 비교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(Judge gpt-5.6-luna, 2026-09-08)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578608"/>
            <a:ext cx="193692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47 → 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69920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유효 답안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499104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53건 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9967" y="2340864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863" y="2578608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18 →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3291840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외부 재시도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0863" y="3621024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생성 실패 6 →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40864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2340864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3903" y="2578608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−54.4%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903" y="3291840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생성 토큰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903" y="3621024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1,001만 → 457만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6047" y="2340864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6943" y="2578608"/>
            <a:ext cx="193692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29 / 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6943" y="3169920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쌍대 우세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6943" y="3499104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개선 전 우세 1건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229100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87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672583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59028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루브릭 5개로 절대 채점하고, 순서를 익명 교차해 쌍대 비교했다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129783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04748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인용은 기계로 검증하고, 기간 보고서는 하위 확정본을 참조했다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5412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5412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704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실패하던 6건이 사라지고, 같은 결과를 절반 이하의 토큰으로 만든다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주간 · 월간 보고서 점수가 가장 크게 올랐다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LLM Judge 100점 만점 · 공통 43건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(Judge gpt-5.6-luna, 2026-09-08)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82012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408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보고서 유형별 점수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2706624"/>
          <a:ext cx="731520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339327" y="2340864"/>
            <a:ext cx="3285439" cy="1572768"/>
          </a:xfrm>
          <a:prstGeom prst="roundRect">
            <a:avLst>
              <a:gd name="adj" fmla="val 69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1936" y="2523744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+14.6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6" y="3236976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주간 보고서 상승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6" y="3566160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72.50 → 87.08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7" y="4032504"/>
            <a:ext cx="3285439" cy="1664208"/>
          </a:xfrm>
          <a:prstGeom prst="roundRect">
            <a:avLst>
              <a:gd name="adj" fmla="val 659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1936" y="4215384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8E8E93"/>
                </a:solidFill>
                <a:latin typeface="Pretendard"/>
              </a:rPr>
              <a:t>−1.2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4928616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미팅 보고서 하락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57800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97.74 → 96.57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이 수치를 읽을 때 유의할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보고서 작성 평가의 한계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(2026-09-08)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2926080"/>
          </a:xfrm>
          <a:prstGeom prst="roundRect">
            <a:avLst>
              <a:gd name="adj" fmla="val 375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표본이 작다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82112"/>
            <a:ext cx="286298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시나리오 1개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월간 보고서는 1건뿐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2340864"/>
            <a:ext cx="3466490" cy="2926080"/>
          </a:xfrm>
          <a:prstGeom prst="roundRect">
            <a:avLst>
              <a:gd name="adj" fmla="val 375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498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같은 모델이 채점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182112"/>
            <a:ext cx="286298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생성 모델과 Judge 모델이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동일하다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(gpt-5.6-luna)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340864"/>
            <a:ext cx="3466490" cy="2926080"/>
          </a:xfrm>
          <a:prstGeom prst="roundRect">
            <a:avLst>
              <a:gd name="adj" fmla="val 375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9172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떨어진 지표도 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9172" y="3182112"/>
            <a:ext cx="286298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보고서 점수 하락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사실 정확성 3.84 → 3.74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44982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44982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57898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개선은 기간 보고서에 집중되었고, 미팅 보고서의 사실 정확성은 오히려 떨어졌다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[영업 · 계약관리 평가 결론 입력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[평가 방법 한 줄 입력 예정]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40864"/>
            <a:ext cx="2558719" cy="1371600"/>
          </a:xfrm>
          <a:prstGeom prst="roundRect">
            <a:avLst>
              <a:gd name="adj" fmla="val 8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9967" y="2340864"/>
            <a:ext cx="2558719" cy="1371600"/>
          </a:xfrm>
          <a:prstGeom prst="roundRect">
            <a:avLst>
              <a:gd name="adj" fmla="val 8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340864"/>
            <a:ext cx="2558719" cy="1371600"/>
          </a:xfrm>
          <a:prstGeom prst="roundRect">
            <a:avLst>
              <a:gd name="adj" fmla="val 8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6047" y="2340864"/>
            <a:ext cx="2558719" cy="1371600"/>
          </a:xfrm>
          <a:prstGeom prst="roundRect">
            <a:avLst>
              <a:gd name="adj" fmla="val 8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41064"/>
            <a:ext cx="7315200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[차트 또는 평가 도식 입력 예정]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3941064"/>
            <a:ext cx="3468319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[평가 데이터 · 방법 · 한계 입력 예정]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[일정관리 평가 결론 입력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[평가 방법 한 줄 입력 예정]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40864"/>
            <a:ext cx="3466490" cy="1371600"/>
          </a:xfrm>
          <a:prstGeom prst="roundRect">
            <a:avLst>
              <a:gd name="adj" fmla="val 8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2602" y="2340864"/>
            <a:ext cx="3466490" cy="1371600"/>
          </a:xfrm>
          <a:prstGeom prst="roundRect">
            <a:avLst>
              <a:gd name="adj" fmla="val 8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8276" y="2340864"/>
            <a:ext cx="3466490" cy="1371600"/>
          </a:xfrm>
          <a:prstGeom prst="roundRect">
            <a:avLst>
              <a:gd name="adj" fmla="val 8666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41064"/>
            <a:ext cx="5300319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Before — [개선 전 동작 입력 예정]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3941064"/>
            <a:ext cx="5300319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After — [개선 후 동작 입력 예정]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문서요약 자동 평가 종합 점수는 0.846이다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0–1 · 높을수록 좋음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docs/document-summary-evaluation.md · output/evals/document-summary-rageval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82012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408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지표별 점수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29768" y="2706624"/>
          <a:ext cx="786384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887967" y="2340864"/>
            <a:ext cx="2736799" cy="1572768"/>
          </a:xfrm>
          <a:prstGeom prst="roundRect">
            <a:avLst>
              <a:gd name="adj" fmla="val 69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576" y="2523744"/>
            <a:ext cx="21515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0.846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3236976"/>
            <a:ext cx="21515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overall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3566160"/>
            <a:ext cx="2151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자동 골든셋 10건 종합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7" y="4032504"/>
            <a:ext cx="2736799" cy="1664208"/>
          </a:xfrm>
          <a:prstGeom prst="roundRect">
            <a:avLst>
              <a:gd name="adj" fmla="val 659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4215384"/>
            <a:ext cx="21515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B82F6"/>
                </a:solidFill>
                <a:latin typeface="Pretendard"/>
              </a:rPr>
              <a:t>0.828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4928616"/>
            <a:ext cx="21515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completeness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5257800"/>
            <a:ext cx="2151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가장 낮은 지표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합성 문서에서 골든셋을 만들어 자동 채점했다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사람 검수는 아직 남아 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docs/document-summary-evaluation.md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82012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40864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흐름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98064"/>
            <a:ext cx="6035040" cy="731520"/>
          </a:xfrm>
          <a:prstGeom prst="roundRect">
            <a:avLst>
              <a:gd name="adj" fmla="val 15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98094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99232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합성 문서 7개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84448" y="3557016"/>
            <a:ext cx="0" cy="128016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8" y="3712464"/>
            <a:ext cx="6035040" cy="731520"/>
          </a:xfrm>
          <a:prstGeom prst="roundRect">
            <a:avLst>
              <a:gd name="adj" fmla="val 15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89534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913632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QRA 자동 골든셋 10건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84448" y="4471416"/>
            <a:ext cx="0" cy="128016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" y="4626864"/>
            <a:ext cx="6035040" cy="731520"/>
          </a:xfrm>
          <a:prstGeom prst="roundRect">
            <a:avLst>
              <a:gd name="adj" fmla="val 150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626864"/>
            <a:ext cx="68580" cy="7315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80974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828032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요약 6 · 검색 4 LLM Judge 채점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50607" y="2382012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3488" y="2340864"/>
            <a:ext cx="44741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읽을 때 주의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0607" y="2798064"/>
            <a:ext cx="4474159" cy="2560320"/>
          </a:xfrm>
          <a:prstGeom prst="roundRect">
            <a:avLst>
              <a:gd name="adj" fmla="val 4285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61504" y="317296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3090672"/>
            <a:ext cx="36146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요약 6건은 0.91–0.98 구간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61504" y="3831335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9248" y="3749039"/>
            <a:ext cx="36146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사람 검수는 pending 상태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61504" y="4489704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4407408"/>
            <a:ext cx="36146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모두 합성 문서 기준 결과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명함 · PDF는 필드 100%, 사업자등록증은 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유형별 정답표와 대조한 결과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자료요약 OCR 평가표 (유형별 1건 소표본)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578608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7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291840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명함 필드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21024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구조화 6 /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4314" y="2340864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5210" y="2578608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5210" y="3291840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취업규칙 PDF 35쪽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210" y="3621024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장 제목 12 / 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2340864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1700" y="2340864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2596" y="2578608"/>
            <a:ext cx="2881274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6F0"/>
                </a:solidFill>
                <a:latin typeface="Pretendard"/>
              </a:rPr>
              <a:t>12 /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169920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사업자등록증 필드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499104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80% · 3개 불일치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229100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187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틀린 필드와 대응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672583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59028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법인등록번호 · 법인명 · 개업연월일이 정답과 어긋났다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129783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047488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이 세 필드는 자동 승인에서 제외하고 사용자가 검토한다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5412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5412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704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유형별 1건씩만 확인한 결과이므로 전체 정확도가 아니다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웜 스타트에서는 2초 안에 끝난다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RunPod PaddleOCR · 각 5회 측정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RunPod OCR 워커 계약 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82012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408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평균 처리 시간 (초)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2706624"/>
          <a:ext cx="621792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ectangle 12"/>
          <p:cNvSpPr/>
          <p:nvPr/>
        </p:nvSpPr>
        <p:spPr>
          <a:xfrm>
            <a:off x="7242048" y="2382012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2340864"/>
            <a:ext cx="43827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남은 과제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2798064"/>
            <a:ext cx="4382719" cy="27432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52944" y="3200400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3118104"/>
            <a:ext cx="35231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손글씨 문자 오류율 45%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52944" y="3931920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3849624"/>
            <a:ext cx="35231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별도 과제로 분리했다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52944" y="4663440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4581144"/>
            <a:ext cx="35231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유형별 1건 소표본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요약은 고르게 높지만 검색 답변은 편차가 크다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케이스별 overall 점수 (0–1)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output/evals/document-summary-rageval/llm_judge_results.json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82012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408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요약 6건 · 검색 4건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84048" y="2660904"/>
          <a:ext cx="11423599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55412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5412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6704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검색1 한 건이 0.25 — 최신 자료 대신 옛 계약서를 참조했다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RAG 답변 4건 중 1건은 옛 계약서 날짜를 답했다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실패 사례 — 검색1 (overall 0.25)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output/evals/document-summary-rageval/llm_judge_results.json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6400800" cy="3017520"/>
          </a:xfrm>
          <a:prstGeom prst="roundRect">
            <a:avLst>
              <a:gd name="adj" fmla="val 3636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340864"/>
            <a:ext cx="68580" cy="30175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3347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37D"/>
                </a:solidFill>
                <a:latin typeface="Pretendard"/>
              </a:rPr>
              <a:t>검색1 — overall 0.25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82112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14553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현재 기준 설치 예정일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785615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기대한 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3749039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2026-10-08 (추가 자료)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8912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실제 답변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435254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2026-09-24 (기존 계약서)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901183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456F0"/>
                </a:solidFill>
                <a:latin typeface="Pretendard SemiBold"/>
              </a:rPr>
              <a:t>→ 최신 자료 대신 옛 계약서를 참조했다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2382012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2340864"/>
            <a:ext cx="41083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읽을 때 주의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16368" y="2798064"/>
            <a:ext cx="4108399" cy="30175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27264" y="317296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3090672"/>
            <a:ext cx="3248863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평가 스크립트의 검색은 단어 겹침 방식이다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27264" y="4069079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3986783"/>
            <a:ext cx="3248863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운영은 키워드 + pgvector를 RRF로 병합하는 하이브리드 검색이다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4965192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4882896"/>
            <a:ext cx="3248863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RAG · 브리핑 근거는 별도 품질 평가가 없다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[실패와 개선 사례 1 결론 입력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[사례 1 한 줄 요약 입력 예정]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40864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처음 접근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8064"/>
            <a:ext cx="2558719" cy="3108960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9967" y="2340864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무엇이 문제였나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9967" y="2798064"/>
            <a:ext cx="2558719" cy="3108960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340864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어떻게 바꿨나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798064"/>
            <a:ext cx="2558719" cy="3108960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6047" y="2340864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2798064"/>
            <a:ext cx="2558719" cy="3108960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[실패와 개선 사례 2 결론 입력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[사례 2 한 줄 요약 입력 예정]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40864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처음 접근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8064"/>
            <a:ext cx="2558719" cy="3108960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9967" y="2340864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무엇이 문제였나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9967" y="2798064"/>
            <a:ext cx="2558719" cy="3108960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340864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어떻게 바꿨나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798064"/>
            <a:ext cx="2558719" cy="3108960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6047" y="2340864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2798064"/>
            <a:ext cx="2558719" cy="3108960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[보완점 결론 입력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[부제 입력 예정]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40864"/>
            <a:ext cx="346649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한계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8064"/>
            <a:ext cx="3466490" cy="23774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[영역 · 내용 · 영향 입력 예정]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2602" y="2340864"/>
            <a:ext cx="346649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한계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602" y="2798064"/>
            <a:ext cx="3466490" cy="23774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[영역 · 내용 · 영향 입력 예정]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2340864"/>
            <a:ext cx="346649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한계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798064"/>
            <a:ext cx="3466490" cy="23774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[영역 · 내용 · 영향 입력 예정]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358383"/>
            <a:ext cx="11057839" cy="685800"/>
          </a:xfrm>
          <a:prstGeom prst="roundRect">
            <a:avLst>
              <a:gd name="adj" fmla="val 17333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[한 줄 정리 입력 예정]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[향후 계획 결론 입력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[부제 입력 예정]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40864"/>
            <a:ext cx="3466490" cy="621792"/>
          </a:xfrm>
          <a:prstGeom prst="roundRect">
            <a:avLst>
              <a:gd name="adj" fmla="val 17647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340864"/>
            <a:ext cx="68580" cy="6217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496312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단기 계획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27248"/>
            <a:ext cx="3466490" cy="2788920"/>
          </a:xfrm>
          <a:prstGeom prst="roundRect">
            <a:avLst>
              <a:gd name="adj" fmla="val 426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2340864"/>
            <a:ext cx="3466490" cy="621792"/>
          </a:xfrm>
          <a:prstGeom prst="roundRect">
            <a:avLst>
              <a:gd name="adj" fmla="val 1764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498" y="2496312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중기 계획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602" y="3127248"/>
            <a:ext cx="3466490" cy="2788920"/>
          </a:xfrm>
          <a:prstGeom prst="roundRect">
            <a:avLst>
              <a:gd name="adj" fmla="val 426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340864"/>
            <a:ext cx="3466490" cy="621792"/>
          </a:xfrm>
          <a:prstGeom prst="roundRect">
            <a:avLst>
              <a:gd name="adj" fmla="val 17647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9172" y="2496312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장기 계획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8276" y="3127248"/>
            <a:ext cx="3466490" cy="2788920"/>
          </a:xfrm>
          <a:prstGeom prst="roundRect">
            <a:avLst>
              <a:gd name="adj" fmla="val 426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담당자의 머릿속을 조직의 기록으로 남긴다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인수인계 질문 11개 영역 = 데이터 (1 / 2)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데이터 구조(develop, 2026-09-17)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고객 관계 맥락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45536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회사 · 담당자 · 부서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234086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498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접점 히스토리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145536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일정 · 활동 · 보고서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34086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9172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고객의 실제 발언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9172" y="3145536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· STT · 첨부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3250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3068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발언의 대상 ·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837176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공통 · 딜별 + 근거 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602" y="403250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3498" y="43068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구매 판단 신호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3498" y="4837176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권한 · 경쟁사 등 13개 특성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8276" y="403250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9172" y="43068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딜 진행 맥락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9172" y="4837176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단계 · 금액 · 계약 · 납기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기록이 남으면 사람이 바뀌어도 맥락은 남는다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인수인계 질문 11개 영역 = 데이터 (2 / 2)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데이터 구조(develop, 2026-09-17)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4086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과거 맥락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45536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이전 확정 보고서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234086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498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이슈 · 불만 맥락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145536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불만 · 긴급도 · 처리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34086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9172" y="261518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위험과 다음 행동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9172" y="3145536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만료 · 지연 · 추천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3250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3068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문서 지식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837176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추출 · 요약 · RAG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2602" y="403250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3498" y="43068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판단의 책임 · 이력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3498" y="4837176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작성자 · revision · 승인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8276" y="4032504"/>
            <a:ext cx="3466490" cy="1463040"/>
          </a:xfrm>
          <a:prstGeom prst="roundRect">
            <a:avLst>
              <a:gd name="adj" fmla="val 7500"/>
            </a:avLst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9172" y="4343400"/>
            <a:ext cx="28629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retendard"/>
              </a:rPr>
              <a:t>AI는 구조화 · 요약 · 제안까지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>
                <a:solidFill>
                  <a:srgbClr val="60A5FA"/>
                </a:solidFill>
                <a:latin typeface="Pretendard"/>
              </a:rPr>
              <a:t>확정은 사람의 승인으로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651760"/>
            <a:ext cx="1105783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Pretendard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447" y="4069080"/>
            <a:ext cx="1828800" cy="685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38912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C4CFDD"/>
                </a:solidFill>
                <a:latin typeface="Pretendard Medium"/>
              </a:rPr>
              <a:t>감사합니다 · 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모든 데이터는 딜을 중심으로 연결된다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7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backend/app/models/ 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1428" y="3310128"/>
            <a:ext cx="0" cy="1280160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907524" y="3310128"/>
            <a:ext cx="0" cy="1280160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1428" y="3909059"/>
            <a:ext cx="2259939" cy="0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50327" y="3909059"/>
            <a:ext cx="2257197" cy="0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4476" y="3310128"/>
            <a:ext cx="0" cy="164592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4476" y="4343400"/>
            <a:ext cx="0" cy="246888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41367" y="3474720"/>
            <a:ext cx="3108960" cy="868680"/>
          </a:xfrm>
          <a:prstGeom prst="roundRect">
            <a:avLst>
              <a:gd name="adj" fmla="val 12631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Pretendard"/>
              </a:rPr>
              <a:t>sales_deal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FDBFE"/>
                </a:solidFill>
                <a:latin typeface="Pretendard"/>
              </a:rPr>
              <a:t>영업 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18470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0299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조직 · 권한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45059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team · member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18470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20299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고객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245059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customer_company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customer_contact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8470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5" y="20299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영업 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245059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sales_pipeline(+stage)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product · sales_deal_item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purchase_order(+item)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5902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7731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활동 ·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19379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activity · report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report_deal · report_submission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9976" y="45902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47731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AI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519379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agent_run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contract_next_meeting_suggestion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3" y="45902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9055" y="47731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문서 · C/S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5" y="519379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document · file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document_chunk · support_request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7주 동안 기획에서 배포 검증까지 진행했다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주차별 주요 작업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WBS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78396" y="3895344"/>
            <a:ext cx="9634902" cy="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3209544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1주</a:t>
            </a:r>
          </a:p>
        </p:txBody>
      </p:sp>
      <p:sp>
        <p:nvSpPr>
          <p:cNvPr id="12" name="Oval 11"/>
          <p:cNvSpPr/>
          <p:nvPr/>
        </p:nvSpPr>
        <p:spPr>
          <a:xfrm>
            <a:off x="1177812" y="3794759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215383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요구사항 분석</a:t>
            </a:r>
          </a:p>
          <a:p>
            <a:pPr algn="ctr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기획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2745" y="3209544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2주</a:t>
            </a:r>
          </a:p>
        </p:txBody>
      </p:sp>
      <p:sp>
        <p:nvSpPr>
          <p:cNvPr id="15" name="Oval 14"/>
          <p:cNvSpPr/>
          <p:nvPr/>
        </p:nvSpPr>
        <p:spPr>
          <a:xfrm>
            <a:off x="2783629" y="3794759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2745" y="4215383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DB 기반 구축</a:t>
            </a:r>
          </a:p>
          <a:p>
            <a:pPr algn="ctr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화면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8562" y="3209544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3주</a:t>
            </a:r>
          </a:p>
        </p:txBody>
      </p:sp>
      <p:sp>
        <p:nvSpPr>
          <p:cNvPr id="18" name="Oval 17"/>
          <p:cNvSpPr/>
          <p:nvPr/>
        </p:nvSpPr>
        <p:spPr>
          <a:xfrm>
            <a:off x="4389446" y="3794759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8562" y="4215383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FE · BE 개발</a:t>
            </a:r>
          </a:p>
          <a:p>
            <a:pPr algn="ctr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중간 발표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4379" y="3209544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4주</a:t>
            </a:r>
          </a:p>
        </p:txBody>
      </p:sp>
      <p:sp>
        <p:nvSpPr>
          <p:cNvPr id="21" name="Oval 20"/>
          <p:cNvSpPr/>
          <p:nvPr/>
        </p:nvSpPr>
        <p:spPr>
          <a:xfrm>
            <a:off x="5995263" y="3794759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4379" y="4215383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데이터 전처리</a:t>
            </a:r>
          </a:p>
          <a:p>
            <a:pPr algn="ctr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 모델링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0196" y="3209544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5주</a:t>
            </a:r>
          </a:p>
        </p:txBody>
      </p:sp>
      <p:sp>
        <p:nvSpPr>
          <p:cNvPr id="24" name="Oval 23"/>
          <p:cNvSpPr/>
          <p:nvPr/>
        </p:nvSpPr>
        <p:spPr>
          <a:xfrm>
            <a:off x="7601080" y="3794759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0196" y="4215383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모델 평가</a:t>
            </a:r>
          </a:p>
          <a:p>
            <a:pPr algn="ctr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기능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6013" y="3209544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6주</a:t>
            </a:r>
          </a:p>
        </p:txBody>
      </p:sp>
      <p:sp>
        <p:nvSpPr>
          <p:cNvPr id="27" name="Oval 26"/>
          <p:cNvSpPr/>
          <p:nvPr/>
        </p:nvSpPr>
        <p:spPr>
          <a:xfrm>
            <a:off x="9206897" y="3794759"/>
            <a:ext cx="201168" cy="201168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6013" y="4215383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통합 테스트</a:t>
            </a:r>
          </a:p>
          <a:p>
            <a:pPr algn="ctr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배포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01830" y="3209544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7주</a:t>
            </a:r>
          </a:p>
        </p:txBody>
      </p:sp>
      <p:sp>
        <p:nvSpPr>
          <p:cNvPr id="30" name="Oval 29"/>
          <p:cNvSpPr/>
          <p:nvPr/>
        </p:nvSpPr>
        <p:spPr>
          <a:xfrm>
            <a:off x="10812714" y="3794759"/>
            <a:ext cx="201168" cy="201168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1830" y="4215383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산출물 검수</a:t>
            </a:r>
          </a:p>
          <a:p>
            <a:pPr algn="ctr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최종 발표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딜 승산 모델 단계별 성능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공개 영문 B2B 448건 · 30회 반복 평균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머신러닝 · 딥러닝 학습결과서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340864"/>
          <a:ext cx="1105783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405786"/>
                <a:gridCol w="2405786"/>
                <a:gridCol w="2405786"/>
              </a:tblGrid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단계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Accuracy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ROC-AUC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Brier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RF 기준선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0.6958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0.7409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0.2097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RF 튜닝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0.7338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0.7756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Stacking_LR (최종)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0.7360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0.7783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0.1880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03834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Brier는 낮을수록 좋다 · RF 튜닝 단계의 Brier 값은 보고서에 기록되지 않았다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보고서 유형별 LLM Judge 점수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100점 만점 · 공통 43건 · Judge gpt-5.6-luna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(2026-09-08)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340864"/>
          <a:ext cx="110578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42462"/>
                <a:gridCol w="3243376"/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보고서 유형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개선 전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개선 후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미팅 보고서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97.74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96.57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일일 업무보고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86.88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95.16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주간 업무보고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72.50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87.08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월간 업무보고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66.25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76.25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586983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생성 모델과 Judge 모델이 동일하며 시나리오는 1개, 월간 보고서는 1건이다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본문에 쓰인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5515E"/>
                </a:solidFill>
                <a:latin typeface="Pretendard Medium"/>
              </a:rPr>
              <a:t>모든 수치의 출처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139696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68879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프로젝트 기획서 (2026-08)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17520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935224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Grand View Research (2026)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566159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483863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KISDI 2026 · 원자료 Gartner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114800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32504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환율 2026-09-15 기준 1,347.8원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663440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581144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각 사 공식 제품 페이지 (2026-09-15 확인)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212079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129783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SalesLuv 구현 코드 (develop, 2026-09-17)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0167" y="2468879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7911" y="2386584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미팅 내용분석 구조 보고서 (2026-08-31 골든셋)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0167" y="3017520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7911" y="2935224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머신러닝 · 딥러닝 학습결과서 (30회 평균)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0167" y="3566159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7911" y="3483863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docs/eval/01_보고서작성에이전트 (2026-09-08)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0167" y="4114800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7911" y="4032504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docs/document-summary-evaluation.md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0167" y="4663440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7911" y="4581144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output/evals/document-summary-rageval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0167" y="5212079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7911" y="5129783"/>
            <a:ext cx="5016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자료요약 OCR 평가표 · RunPod OCR 워커 계약 문서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6875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평가용 데이터는 모두 합성 데이터이며 실제 고객 · 영업 데이터를 사용하지 않았다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