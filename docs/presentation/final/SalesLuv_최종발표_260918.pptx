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CRM 시장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2025</c:v>
                </c:pt>
                <c:pt idx="1">
                  <c:v>2026</c:v>
                </c:pt>
                <c:pt idx="2">
                  <c:v>2033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2.51</c:v>
                </c:pt>
                <c:pt idx="1">
                  <c:v>2.75</c:v>
                </c:pt>
                <c:pt idx="2">
                  <c:v>5.46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BFDBF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RF 기준선</c:v>
                </c:pt>
                <c:pt idx="1">
                  <c:v>RF 튜닝</c:v>
                </c:pt>
                <c:pt idx="2">
                  <c:v>Stacking_LR (최종)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0.6958</c:v>
                </c:pt>
                <c:pt idx="1">
                  <c:v>0.7338</c:v>
                </c:pt>
                <c:pt idx="2">
                  <c:v>0.736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RF 기준선</c:v>
                </c:pt>
                <c:pt idx="1">
                  <c:v>RF 튜닝</c:v>
                </c:pt>
                <c:pt idx="2">
                  <c:v>Stacking_LR (최종)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0.7409</c:v>
                </c:pt>
                <c:pt idx="1">
                  <c:v>0.7756</c:v>
                </c:pt>
                <c:pt idx="2">
                  <c:v>0.7783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2"/>
          <c:min val="0.6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retendard Medium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개선 전</c:v>
                </c:pt>
              </c:strCache>
            </c:strRef>
          </c:tx>
          <c:spPr>
            <a:solidFill>
              <a:srgbClr val="BFDBF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미팅</c:v>
                </c:pt>
                <c:pt idx="1">
                  <c:v>일일</c:v>
                </c:pt>
                <c:pt idx="2">
                  <c:v>주간</c:v>
                </c:pt>
                <c:pt idx="3">
                  <c:v>월간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97.74</c:v>
                </c:pt>
                <c:pt idx="1">
                  <c:v>86.88</c:v>
                </c:pt>
                <c:pt idx="2">
                  <c:v>72.5</c:v>
                </c:pt>
                <c:pt idx="3">
                  <c:v>66.25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개선 후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미팅</c:v>
                </c:pt>
                <c:pt idx="1">
                  <c:v>일일</c:v>
                </c:pt>
                <c:pt idx="2">
                  <c:v>주간</c:v>
                </c:pt>
                <c:pt idx="3">
                  <c:v>월간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96.57</c:v>
                </c:pt>
                <c:pt idx="1">
                  <c:v>95.16</c:v>
                </c:pt>
                <c:pt idx="2">
                  <c:v>87.08</c:v>
                </c:pt>
                <c:pt idx="3">
                  <c:v>76.25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60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retendard Medium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점수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overall</c:v>
                </c:pt>
                <c:pt idx="1">
                  <c:v>completeness</c:v>
                </c:pt>
                <c:pt idx="2">
                  <c:v>groundedness</c:v>
                </c:pt>
                <c:pt idx="3">
                  <c:v>hallucination</c:v>
                </c:pt>
                <c:pt idx="4">
                  <c:v>retrieval_relevance</c:v>
                </c:pt>
                <c:pt idx="5">
                  <c:v>irrelevance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0.846</c:v>
                </c:pt>
                <c:pt idx="1">
                  <c:v>0.828</c:v>
                </c:pt>
                <c:pt idx="2">
                  <c:v>0.914</c:v>
                </c:pt>
                <c:pt idx="3">
                  <c:v>0.942</c:v>
                </c:pt>
                <c:pt idx="4">
                  <c:v>0.892</c:v>
                </c:pt>
                <c:pt idx="5">
                  <c:v>0.901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평균 처리 시간(초)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명함 이미지</c:v>
                </c:pt>
                <c:pt idx="1">
                  <c:v>PDF 문서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2.24</c:v>
                </c:pt>
                <c:pt idx="1">
                  <c:v>1.23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요약1</c:v>
                </c:pt>
                <c:pt idx="1">
                  <c:v>요약2</c:v>
                </c:pt>
                <c:pt idx="2">
                  <c:v>요약3</c:v>
                </c:pt>
                <c:pt idx="3">
                  <c:v>요약4</c:v>
                </c:pt>
                <c:pt idx="4">
                  <c:v>요약5</c:v>
                </c:pt>
                <c:pt idx="5">
                  <c:v>요약6</c:v>
                </c:pt>
                <c:pt idx="6">
                  <c:v>검색1</c:v>
                </c:pt>
                <c:pt idx="7">
                  <c:v>검색2</c:v>
                </c:pt>
                <c:pt idx="8">
                  <c:v>검색3</c:v>
                </c:pt>
                <c:pt idx="9">
                  <c:v>검색4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0.97</c:v>
                </c:pt>
                <c:pt idx="1">
                  <c:v>0.91</c:v>
                </c:pt>
                <c:pt idx="2">
                  <c:v>0.96</c:v>
                </c:pt>
                <c:pt idx="3">
                  <c:v>0.98</c:v>
                </c:pt>
                <c:pt idx="4">
                  <c:v>0.93</c:v>
                </c:pt>
                <c:pt idx="5">
                  <c:v>0.96</c:v>
                </c:pt>
                <c:pt idx="6">
                  <c:v>0.25</c:v>
                </c:pt>
                <c:pt idx="7">
                  <c:v>0.78</c:v>
                </c:pt>
                <c:pt idx="8">
                  <c:v>0.9</c:v>
                </c:pt>
                <c:pt idx="9">
                  <c:v>0.82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22960" y="1824228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SKN30 1Team · CassTerra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222222"/>
                </a:solidFill>
                <a:latin typeface="Pretendard"/>
              </a:rPr>
              <a:t>SalesLuv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45515E"/>
                </a:solidFill>
                <a:latin typeface="Pretendard Medium"/>
              </a:rPr>
              <a:t>영업의 흐름을 연결하는 멀티에이전트 CRM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3794760"/>
            <a:ext cx="338328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3977639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222"/>
                </a:solidFill>
                <a:latin typeface="Pretendard SemiBold"/>
              </a:rPr>
              <a:t>2026.09.18 (FRI) 15:00</a:t>
            </a:r>
          </a:p>
          <a:p>
            <a:pPr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</a:pPr>
            <a:r>
              <a:rPr sz="1300">
                <a:solidFill>
                  <a:srgbClr val="8E8E93"/>
                </a:solidFill>
                <a:latin typeface="Pretendard"/>
              </a:rPr>
              <a:t>천성배 · 정주애 · 박제섭 · 박지유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188720"/>
            <a:ext cx="4828032" cy="4480560"/>
          </a:xfrm>
          <a:prstGeom prst="roundRect">
            <a:avLst>
              <a:gd name="adj" fmla="val 6122"/>
            </a:avLst>
          </a:prstGeom>
          <a:gradFill rotWithShape="1">
            <a:gsLst>
              <a:gs pos="0">
                <a:srgbClr val="1456F0"/>
              </a:gs>
              <a:gs pos="50000">
                <a:srgbClr val="3B82F6"/>
              </a:gs>
              <a:gs pos="100000">
                <a:srgbClr val="60A5FA"/>
              </a:gs>
            </a:gsLst>
            <a:lin scaled="0" ang="18900000"/>
          </a:gradFill>
          <a:ln>
            <a:noFill/>
          </a:ln>
          <a:effectLst>
            <a:outerShdw blurRad="190500" dist="0" dir="5400000" rotWithShape="0">
              <a:srgbClr val="2C1E74">
                <a:alpha val="1607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331720"/>
            <a:ext cx="1828800" cy="429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3200400"/>
            <a:ext cx="40965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retendard"/>
              </a:rPr>
              <a:t>CONNECT THE HISTORY.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retendard"/>
              </a:rPr>
              <a:t>APPROVE THE NEXT MOVE.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343400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BFDBFE"/>
                </a:solidFill>
                <a:latin typeface="Pretendard"/>
              </a:rPr>
              <a:t>기록을 잇고, 승인된 다음 행동으로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목차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문제 → 구현 → 검증 순서로 설명합니다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15분, 세 파트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42616"/>
            <a:ext cx="34542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BFDBFE"/>
                </a:solidFill>
                <a:latin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85616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22222"/>
                </a:solidFill>
                <a:latin typeface="Pretendard"/>
              </a:rPr>
              <a:t>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88536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563EB"/>
                </a:solidFill>
                <a:latin typeface="Pretendard Medium"/>
              </a:rPr>
              <a:t>왜 이 문제를 골랐는가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791456"/>
            <a:ext cx="3088538" cy="0"/>
          </a:xfrm>
          <a:prstGeom prst="line">
            <a:avLst/>
          </a:prstGeom>
          <a:ln w="12700">
            <a:solidFill>
              <a:srgbClr val="F2F3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4974336"/>
            <a:ext cx="317997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5515E"/>
                </a:solidFill>
                <a:latin typeface="Pretendard"/>
              </a:rPr>
              <a:t>팀 · 주제 · 문제 · 시장 · 해결책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40098" y="2414016"/>
            <a:ext cx="0" cy="3621024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68698" y="2642616"/>
            <a:ext cx="34542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BFDBFE"/>
                </a:solidFill>
                <a:latin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785616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22222"/>
                </a:solidFill>
                <a:latin typeface="Pretendard"/>
              </a:rPr>
              <a:t>설계와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8698" y="4288536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563EB"/>
                </a:solidFill>
                <a:latin typeface="Pretendard Medium"/>
              </a:rPr>
              <a:t>무엇을 어떻게 만들었는가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68698" y="4791456"/>
            <a:ext cx="3088538" cy="0"/>
          </a:xfrm>
          <a:prstGeom prst="line">
            <a:avLst/>
          </a:prstGeom>
          <a:ln w="12700">
            <a:solidFill>
              <a:srgbClr val="F2F3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68698" y="4974336"/>
            <a:ext cx="317997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5515E"/>
                </a:solidFill>
                <a:latin typeface="Pretendard"/>
              </a:rPr>
              <a:t>시나리오 · 시연 · 스택 · 아키텍처 · 에이전트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51596" y="2414016"/>
            <a:ext cx="0" cy="3621024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80196" y="2642616"/>
            <a:ext cx="345429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BFDBFE"/>
                </a:solidFill>
                <a:latin typeface="Pretendar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196" y="3785616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22222"/>
                </a:solidFill>
                <a:latin typeface="Pretendard"/>
              </a:rPr>
              <a:t>검증과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196" y="4288536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563EB"/>
                </a:solidFill>
                <a:latin typeface="Pretendard Medium"/>
              </a:rPr>
              <a:t>제대로 동작하는지 어떻게 확인했는가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80196" y="4791456"/>
            <a:ext cx="3088539" cy="0"/>
          </a:xfrm>
          <a:prstGeom prst="line">
            <a:avLst/>
          </a:prstGeom>
          <a:ln w="12700">
            <a:solidFill>
              <a:srgbClr val="F2F3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80196" y="4974336"/>
            <a:ext cx="317997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5515E"/>
                </a:solidFill>
                <a:latin typeface="Pretendard"/>
              </a:rPr>
              <a:t>Agent 평가 · 실패와 개선 · 향후 계획 ·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Pretendard SemiBold"/>
              </a:rPr>
              <a:t>PART 01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Pretendard Medium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Pretendard"/>
              </a:rP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9D3E0"/>
                </a:solidFill>
                <a:latin typeface="Pretendard Medium"/>
              </a:rPr>
              <a:t>왜 이 프로젝트가 필요한가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네 명이 기획부터 배포까지 나눠 맡았다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PM · 풀스택 · 에이전트 · 시연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76856"/>
            <a:ext cx="2599867" cy="1920240"/>
          </a:xfrm>
          <a:prstGeom prst="roundRect">
            <a:avLst>
              <a:gd name="adj" fmla="val 619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Medium"/>
              </a:rPr>
              <a:t>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9826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Pretendard"/>
              </a:rPr>
              <a:t>천성배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9145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2563EB"/>
                </a:solidFill>
                <a:latin typeface="Pretendard SemiBold"/>
              </a:rPr>
              <a:t>P.M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206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45515E"/>
                </a:solidFill>
                <a:latin typeface="Pretendard SemiBold"/>
              </a:rPr>
              <a:t>OCR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449824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45515E"/>
                </a:solidFill>
                <a:latin typeface="Pretendard SemiBold"/>
              </a:rPr>
              <a:t>자료요약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9675" y="2276856"/>
            <a:ext cx="2599867" cy="1920240"/>
          </a:xfrm>
          <a:prstGeom prst="roundRect">
            <a:avLst>
              <a:gd name="adj" fmla="val 619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Medium"/>
              </a:rPr>
              <a:t>PHOTO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675" y="439826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Pretendard"/>
              </a:rPr>
              <a:t>정주애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9675" y="4791456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2563EB"/>
                </a:solidFill>
                <a:latin typeface="Pretendard SemiBold"/>
              </a:rPr>
              <a:t>Full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9675" y="5120640"/>
            <a:ext cx="1069848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45515E"/>
                </a:solidFill>
                <a:latin typeface="Pretendard SemiBold"/>
              </a:rPr>
              <a:t>Infra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2151" y="2276856"/>
            <a:ext cx="2599867" cy="1920240"/>
          </a:xfrm>
          <a:prstGeom prst="roundRect">
            <a:avLst>
              <a:gd name="adj" fmla="val 619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Medium"/>
              </a:rPr>
              <a:t>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2151" y="439826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Pretendard"/>
              </a:rPr>
              <a:t>박제섭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2151" y="4791456"/>
            <a:ext cx="969264" cy="256032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2563EB"/>
                </a:solidFill>
                <a:latin typeface="Pretendard SemiBold"/>
              </a:rPr>
              <a:t>기술리더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5120640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45515E"/>
                </a:solidFill>
                <a:latin typeface="Pretendard SemiBold"/>
              </a:rPr>
              <a:t>미팅분석 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2151" y="5449824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45515E"/>
                </a:solidFill>
                <a:latin typeface="Pretendard SemiBold"/>
              </a:rPr>
              <a:t>업무보고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627" y="2276856"/>
            <a:ext cx="2599867" cy="1920240"/>
          </a:xfrm>
          <a:prstGeom prst="roundRect">
            <a:avLst>
              <a:gd name="adj" fmla="val 619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Medium"/>
              </a:rPr>
              <a:t>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627" y="4398264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222"/>
                </a:solidFill>
                <a:latin typeface="Pretendard"/>
              </a:rPr>
              <a:t>박지유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34627" y="4791456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2563EB"/>
                </a:solidFill>
                <a:latin typeface="Pretendard SemiBold"/>
              </a:rPr>
              <a:t>영업계약 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4627" y="5120640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45515E"/>
                </a:solidFill>
                <a:latin typeface="Pretendard SemiBold"/>
              </a:rPr>
              <a:t>일정관리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627" y="5449824"/>
            <a:ext cx="969264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45515E"/>
                </a:solidFill>
                <a:latin typeface="Pretendard SemiBold"/>
              </a:rPr>
              <a:t>시연영상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프로젝트 기획서(2026-08)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담당자의 고객 맥락을 팀이 이어받게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미팅 → 계약까지 잇는 멀티에이전트 CRM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22576"/>
            <a:ext cx="11277295" cy="1051560"/>
          </a:xfrm>
          <a:prstGeom prst="roundRect">
            <a:avLst>
              <a:gd name="adj" fmla="val 11304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60904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437D"/>
                </a:solidFill>
                <a:latin typeface="Pretendard"/>
              </a:rPr>
              <a:t>영업의 시작부터 끝까지, 한 번에 해결하는 멀티에이전트 CRM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3968496"/>
            <a:ext cx="3576218" cy="0"/>
          </a:xfrm>
          <a:prstGeom prst="line">
            <a:avLst/>
          </a:prstGeom>
          <a:ln w="2540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4151376"/>
            <a:ext cx="3576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국내 B2B 영업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62856"/>
            <a:ext cx="35762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고객·딜·일정·보고가 흩어진 조직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07738" y="3968496"/>
            <a:ext cx="3576218" cy="0"/>
          </a:xfrm>
          <a:prstGeom prst="line">
            <a:avLst/>
          </a:prstGeom>
          <a:ln w="2540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07738" y="4151376"/>
            <a:ext cx="3576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멀티에이전트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7738" y="4562856"/>
            <a:ext cx="35762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판단·초안·제안을 다섯으로 분담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58276" y="3968496"/>
            <a:ext cx="3576219" cy="0"/>
          </a:xfrm>
          <a:prstGeom prst="line">
            <a:avLst/>
          </a:prstGeom>
          <a:ln w="2540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58276" y="4151376"/>
            <a:ext cx="3576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Human-in-the-loop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4562856"/>
            <a:ext cx="35762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AI는 초안까지, 확정은 사람의 승인으로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88152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8E8E93"/>
                </a:solidFill>
                <a:latin typeface="Pretendard"/>
              </a:rPr>
              <a:t>CRM — 고객과 나눈 이야기를 기억하는 시스템    ·    딜 — 하나의 거래 기회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프로젝트 기획서(2026-08) · 영업사원 출신 PM의 현장 경험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영업 맥락은 담당자가 바뀌는 순간 끊긴다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정보 분산 → 인수인계 맥락 소실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706624"/>
            <a:ext cx="9226661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57200" y="2505456"/>
            <a:ext cx="402336" cy="402336"/>
          </a:xfrm>
          <a:prstGeom prst="ellipse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54096"/>
            <a:ext cx="20506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Pretendard"/>
              </a:rPr>
              <a:t>영업정보 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46704"/>
            <a:ext cx="20506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고객·계약·매출이 따로</a:t>
            </a:r>
          </a:p>
        </p:txBody>
      </p:sp>
      <p:sp>
        <p:nvSpPr>
          <p:cNvPr id="12" name="Oval 11"/>
          <p:cNvSpPr/>
          <p:nvPr/>
        </p:nvSpPr>
        <p:spPr>
          <a:xfrm>
            <a:off x="2763865" y="2505456"/>
            <a:ext cx="402336" cy="402336"/>
          </a:xfrm>
          <a:prstGeom prst="ellipse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3865" y="3054096"/>
            <a:ext cx="20506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Pretendard"/>
              </a:rPr>
              <a:t>영업흐름 단절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3865" y="3346704"/>
            <a:ext cx="20506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리드→계약→매출이 끊김</a:t>
            </a:r>
          </a:p>
        </p:txBody>
      </p:sp>
      <p:sp>
        <p:nvSpPr>
          <p:cNvPr id="15" name="Oval 14"/>
          <p:cNvSpPr/>
          <p:nvPr/>
        </p:nvSpPr>
        <p:spPr>
          <a:xfrm>
            <a:off x="5070530" y="2505456"/>
            <a:ext cx="402336" cy="402336"/>
          </a:xfrm>
          <a:prstGeom prst="ellipse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0530" y="3054096"/>
            <a:ext cx="20506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Pretendard"/>
              </a:rPr>
              <a:t>판단 공백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0530" y="3346704"/>
            <a:ext cx="20506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진행·예측이 안 보임</a:t>
            </a:r>
          </a:p>
        </p:txBody>
      </p:sp>
      <p:sp>
        <p:nvSpPr>
          <p:cNvPr id="18" name="Oval 17"/>
          <p:cNvSpPr/>
          <p:nvPr/>
        </p:nvSpPr>
        <p:spPr>
          <a:xfrm>
            <a:off x="7377196" y="2505456"/>
            <a:ext cx="402336" cy="402336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7196" y="3054096"/>
            <a:ext cx="20506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456F0"/>
                </a:solidFill>
                <a:latin typeface="Pretendard"/>
              </a:rPr>
              <a:t>인수인계 맥락 소실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7196" y="3346704"/>
            <a:ext cx="20506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관계와 노하우가 사라짐</a:t>
            </a:r>
          </a:p>
        </p:txBody>
      </p:sp>
      <p:sp>
        <p:nvSpPr>
          <p:cNvPr id="21" name="Oval 20"/>
          <p:cNvSpPr/>
          <p:nvPr/>
        </p:nvSpPr>
        <p:spPr>
          <a:xfrm>
            <a:off x="9683861" y="2505456"/>
            <a:ext cx="402336" cy="402336"/>
          </a:xfrm>
          <a:prstGeom prst="ellipse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861" y="3054096"/>
            <a:ext cx="20506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Pretendard"/>
              </a:rPr>
              <a:t>범용 CRM 한계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3861" y="3346704"/>
            <a:ext cx="20506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B2B 영업엔 부족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11277295" cy="960120"/>
          </a:xfrm>
          <a:prstGeom prst="roundRect">
            <a:avLst>
              <a:gd name="adj" fmla="val 1238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56631"/>
            <a:ext cx="104543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222"/>
                </a:solidFill>
                <a:latin typeface="Pretendard"/>
              </a:rPr>
              <a:t>고객 맥락과 영업 노하우는 담당자 개인의 암묵지로만 쌓인다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200">
                <a:solidFill>
                  <a:srgbClr val="45515E"/>
                </a:solidFill>
                <a:latin typeface="Pretendard"/>
              </a:rPr>
              <a:t>조직 자산으로 남지 않아 담당자가 바뀌면 함께 사라진다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Grand View Research(2026), KISDI 2026(원자료 Gartner 2025) · 환율 1,347.8원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시장은 성장, 진입 조건은 맥락과 근거의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영업 CRM 단독 통계 없음 → 성장성·진입 조건으로 판단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7228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국내 CRM 시장 규모 (조원)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20040" y="2551176"/>
          <a:ext cx="603504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03720" y="2322576"/>
            <a:ext cx="23239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456F0"/>
                </a:solidFill>
                <a:latin typeface="Pretendard"/>
              </a:rPr>
              <a:t>10.3%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861056"/>
            <a:ext cx="23239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CRM CAGR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2026–2033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0547" y="2322576"/>
            <a:ext cx="232394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3B82F6"/>
                </a:solidFill>
                <a:latin typeface="Pretendard"/>
              </a:rPr>
              <a:t>17.1%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0547" y="2861056"/>
            <a:ext cx="23239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SaaS CAGR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2025–2029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03720" y="3465576"/>
            <a:ext cx="4830775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03720" y="3648456"/>
            <a:ext cx="4830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Pretendard"/>
              </a:rPr>
              <a:t>경쟁 현실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922776"/>
            <a:ext cx="48307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AI 미팅 요약·후속조치는 이미 존재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425696"/>
            <a:ext cx="4830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Pretendard"/>
              </a:rPr>
              <a:t>초기 ICP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700016"/>
            <a:ext cx="48307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문서·견적·계약이 복잡한 B2B 영업팀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202936"/>
            <a:ext cx="4830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Pretendard"/>
              </a:rPr>
              <a:t>차별화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477256"/>
            <a:ext cx="483077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근거 검색 + 데이터 연결 + 담당자 승인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"/>
              </a:rPr>
              <a:t>CRM·SaaS는 정의가 달라 합산하지 않음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각 사 공식 제품 페이지(2026-09-15 확인) · 기능군 판정은 팀 조사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차이는 AI 유무가 아니라 승인이 순환하는 구조다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데이터 관리에서 다음 행동으로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276856"/>
          <a:ext cx="7223760" cy="3017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097280"/>
                <a:gridCol w="1097280"/>
                <a:gridCol w="1097280"/>
                <a:gridCol w="1097280"/>
              </a:tblGrid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</a:rPr>
                        <a:t>기능군</a:t>
                      </a:r>
                    </a:p>
                  </a:txBody>
                  <a:tcPr marL="91440" marR="9144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</a:rPr>
                        <a:t>세일즈맵</a:t>
                      </a:r>
                    </a:p>
                  </a:txBody>
                  <a:tcPr marL="91440" marR="9144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</a:rPr>
                        <a:t>핑거세일즈</a:t>
                      </a:r>
                    </a:p>
                  </a:txBody>
                  <a:tcPr marL="91440" marR="9144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</a:rPr>
                        <a:t>세일즈인사이트</a:t>
                      </a:r>
                    </a:p>
                  </a:txBody>
                  <a:tcPr marL="91440" marR="9144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</a:rPr>
                        <a:t>SalesLuv</a:t>
                      </a:r>
                    </a:p>
                  </a:txBody>
                  <a:tcPr marL="91440" marR="91440" marT="18288" marB="18288" anchor="ctr">
                    <a:solidFill>
                      <a:srgbClr val="F2F3F5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222222"/>
                          </a:solidFill>
                          <a:latin typeface="Pretendard"/>
                        </a:rPr>
                        <a:t>고객·거래처 관리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456F0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222222"/>
                          </a:solidFill>
                          <a:latin typeface="Pretendard"/>
                        </a:rPr>
                        <a:t>파이프라인·딜 관리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456F0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222222"/>
                          </a:solidFill>
                          <a:latin typeface="Pretendard"/>
                        </a:rPr>
                        <a:t>영업 실적·매출 분석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△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456F0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222222"/>
                          </a:solidFill>
                          <a:latin typeface="Pretendard"/>
                        </a:rPr>
                        <a:t>AI 기능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△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456F0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222222"/>
                          </a:solidFill>
                          <a:latin typeface="Pretendard"/>
                        </a:rPr>
                        <a:t>사용자 승인 후 업무 반영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1456F0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>
                          <a:solidFill>
                            <a:srgbClr val="222222"/>
                          </a:solidFill>
                          <a:latin typeface="Pretendard"/>
                        </a:rPr>
                        <a:t>승인 결과 → 다음 행동 순환</a:t>
                      </a:r>
                    </a:p>
                  </a:txBody>
                  <a:tcPr marL="91440" marR="91440" marT="18288" marB="18288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91440" marR="91440" marT="18288" marB="18288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91440" marR="91440" marT="18288" marB="18288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91440" marR="91440" marT="18288" marB="18288" anchor="ctr"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456F0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91440" marR="91440" marT="18288" marB="18288" anchor="ctr">
                    <a:solidFill>
                      <a:srgbClr val="F4F7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404103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● 제공 · △ 일부 · – 공개 자료에서 확인되지 않음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31800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76856"/>
            <a:ext cx="3687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SalesLuv만의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79776"/>
            <a:ext cx="3687775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779776"/>
            <a:ext cx="73152" cy="822960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944368"/>
            <a:ext cx="32305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Pretendard"/>
              </a:rPr>
              <a:t>근거 기반 추천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236976"/>
            <a:ext cx="32305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보고서·자료 검색 + 출처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785616"/>
            <a:ext cx="3687775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3785616"/>
            <a:ext cx="73152" cy="82296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950208"/>
            <a:ext cx="32305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Pretendard"/>
              </a:rPr>
              <a:t>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242816"/>
            <a:ext cx="32305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AI 제안 → 담당자 승인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791456"/>
            <a:ext cx="3687775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4791456"/>
            <a:ext cx="73152" cy="82296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4956048"/>
            <a:ext cx="32305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22222"/>
                </a:solidFill>
                <a:latin typeface="Pretendard"/>
              </a:rPr>
              <a:t>다음 행동으로 순환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5248656"/>
            <a:ext cx="32305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승인이 다음 추천을 부른다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기록이 초안이 되고, 승인이 다음 일정이 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딜 중심 — 기록 → 판단 → 일정 → 문서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25496"/>
            <a:ext cx="2476423" cy="1371600"/>
          </a:xfrm>
          <a:prstGeom prst="roundRect">
            <a:avLst>
              <a:gd name="adj" fmla="val 866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2624327"/>
            <a:ext cx="402336" cy="402336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09544"/>
            <a:ext cx="196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미팅 기록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75303"/>
            <a:ext cx="19643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원문 · 음성 STT · 이미지 OCR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25063" y="3511296"/>
            <a:ext cx="274320" cy="0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90823" y="2825496"/>
            <a:ext cx="2476423" cy="1371600"/>
          </a:xfrm>
          <a:prstGeom prst="roundRect">
            <a:avLst>
              <a:gd name="adj" fmla="val 866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6855" y="2624327"/>
            <a:ext cx="402336" cy="402336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6855" y="3209544"/>
            <a:ext cx="196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AI 초안 + 딜 승산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6855" y="3575303"/>
            <a:ext cx="19643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딜별 귀속 · 13개 특성 · 성사 확률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58687" y="3511296"/>
            <a:ext cx="274320" cy="0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24447" y="2825496"/>
            <a:ext cx="2476423" cy="1371600"/>
          </a:xfrm>
          <a:prstGeom prst="roundRect">
            <a:avLst>
              <a:gd name="adj" fmla="val 866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0479" y="2624327"/>
            <a:ext cx="402336" cy="402336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0479" y="3209544"/>
            <a:ext cx="196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사람이 확정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0479" y="3575303"/>
            <a:ext cx="19643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근거 대조 · 확정 · 팀장 검토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92311" y="3511296"/>
            <a:ext cx="274320" cy="0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58071" y="2825496"/>
            <a:ext cx="2476423" cy="1371600"/>
          </a:xfrm>
          <a:prstGeom prst="roundRect">
            <a:avLst>
              <a:gd name="adj" fmla="val 866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14103" y="2624327"/>
            <a:ext cx="402336" cy="402336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4103" y="3209544"/>
            <a:ext cx="1964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다음 미팅 · 브리핑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4103" y="3575303"/>
            <a:ext cx="19643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날짜 추천 · 캘린더 승인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95411" y="4608576"/>
            <a:ext cx="0" cy="411480"/>
          </a:xfrm>
          <a:prstGeom prst="line">
            <a:avLst/>
          </a:prstGeom>
          <a:ln w="19050">
            <a:solidFill>
              <a:srgbClr val="BFDBF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95411" y="5020056"/>
            <a:ext cx="8800872" cy="0"/>
          </a:xfrm>
          <a:prstGeom prst="line">
            <a:avLst/>
          </a:prstGeom>
          <a:ln w="19050">
            <a:solidFill>
              <a:srgbClr val="BFDBF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496283" y="4626864"/>
            <a:ext cx="0" cy="393192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69731" y="508406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563EB"/>
                </a:solidFill>
                <a:latin typeface="Pretendard SemiBold"/>
              </a:rPr>
              <a:t>승인 결과가 다시 01로 — 모든 기록은 딜 하나로 연결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프로젝트 기획서 9장(파일럿 KPI 정의 · 목표는 검증할 가설, 실측값 아님)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반복 작성은 줄이고, 맥락은 조직에 남긴다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정량 효과는 파일럿 측정 후 기입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7228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파일럿 측정 지표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96896"/>
            <a:ext cx="3246120" cy="960120"/>
          </a:xfrm>
          <a:prstGeom prst="roundRect">
            <a:avLst>
              <a:gd name="adj" fmla="val 1238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34056"/>
            <a:ext cx="28437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E8E93"/>
                </a:solidFill>
                <a:latin typeface="Pretendard"/>
              </a:rPr>
              <a:t>[수치 입력 예정]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81528"/>
            <a:ext cx="28437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보고서 작성시간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활성 작업시간 중앙값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596896"/>
            <a:ext cx="3246120" cy="960120"/>
          </a:xfrm>
          <a:prstGeom prst="roundRect">
            <a:avLst>
              <a:gd name="adj" fmla="val 1238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7" y="2734056"/>
            <a:ext cx="28437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E8E93"/>
                </a:solidFill>
                <a:latin typeface="Pretendard"/>
              </a:rPr>
              <a:t>[수치 입력 예정]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7" y="3081528"/>
            <a:ext cx="28437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당일 제출률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당일 제출 ÷ 보고 대상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39896"/>
            <a:ext cx="3246120" cy="960120"/>
          </a:xfrm>
          <a:prstGeom prst="roundRect">
            <a:avLst>
              <a:gd name="adj" fmla="val 1238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77056"/>
            <a:ext cx="28437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E8E93"/>
                </a:solidFill>
                <a:latin typeface="Pretendard"/>
              </a:rPr>
              <a:t>[수치 입력 예정]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224528"/>
            <a:ext cx="28437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필수정보 초회 완성률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첫 제출 필수항목 충족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739896"/>
            <a:ext cx="3246120" cy="960120"/>
          </a:xfrm>
          <a:prstGeom prst="roundRect">
            <a:avLst>
              <a:gd name="adj" fmla="val 1238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7" y="3877056"/>
            <a:ext cx="28437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E8E93"/>
                </a:solidFill>
                <a:latin typeface="Pretendard"/>
              </a:rPr>
              <a:t>[수치 입력 예정]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7" y="4224528"/>
            <a:ext cx="28437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팀장 검토시간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검토 작업시간 중앙값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78815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563EB"/>
                </a:solidFill>
                <a:latin typeface="Pretendard SemiBold"/>
              </a:rPr>
              <a:t>자동 집계·검증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65376" y="5788152"/>
            <a:ext cx="2039112" cy="292608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563EB"/>
                </a:solidFill>
                <a:latin typeface="Pretendard SemiBold"/>
              </a:rPr>
              <a:t>승인 기반 CRM·캘린더 반영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41648" y="5788152"/>
            <a:ext cx="1847088" cy="292608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563EB"/>
                </a:solidFill>
                <a:latin typeface="Pretendard SemiBold"/>
              </a:rPr>
              <a:t>영업 암묵지의 조직 자산화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227228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231136"/>
            <a:ext cx="40535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반복 작성을 줄이는 보고서 계층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2642616"/>
            <a:ext cx="4053535" cy="512064"/>
          </a:xfrm>
          <a:prstGeom prst="roundRect">
            <a:avLst>
              <a:gd name="adj" fmla="val 23214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22222"/>
                </a:solidFill>
                <a:latin typeface="Pretendard SemiBold"/>
              </a:rPr>
              <a:t>미팅 보고서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07727" y="3172968"/>
            <a:ext cx="0" cy="109728"/>
          </a:xfrm>
          <a:prstGeom prst="line">
            <a:avLst/>
          </a:prstGeom>
          <a:ln w="15240">
            <a:solidFill>
              <a:srgbClr val="BFDB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863840" y="3300984"/>
            <a:ext cx="3687775" cy="512064"/>
          </a:xfrm>
          <a:prstGeom prst="roundRect">
            <a:avLst>
              <a:gd name="adj" fmla="val 2321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Pretendard SemiBold"/>
              </a:rPr>
              <a:t>일일 업무보고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07727" y="3831336"/>
            <a:ext cx="0" cy="109728"/>
          </a:xfrm>
          <a:prstGeom prst="line">
            <a:avLst/>
          </a:prstGeom>
          <a:ln w="15240">
            <a:solidFill>
              <a:srgbClr val="BFDB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46720" y="3959352"/>
            <a:ext cx="3322015" cy="512064"/>
          </a:xfrm>
          <a:prstGeom prst="roundRect">
            <a:avLst>
              <a:gd name="adj" fmla="val 23214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Pretendard SemiBold"/>
              </a:rPr>
              <a:t>주간 업무보고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07727" y="4489704"/>
            <a:ext cx="0" cy="109728"/>
          </a:xfrm>
          <a:prstGeom prst="line">
            <a:avLst/>
          </a:prstGeom>
          <a:ln w="15240">
            <a:solidFill>
              <a:srgbClr val="BFDB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29600" y="4617720"/>
            <a:ext cx="2956255" cy="512064"/>
          </a:xfrm>
          <a:prstGeom prst="roundRect">
            <a:avLst>
              <a:gd name="adj" fmla="val 23214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FFFFFF"/>
                </a:solidFill>
                <a:latin typeface="Pretendard SemiBold"/>
              </a:rPr>
              <a:t>월간 업무보고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385816"/>
            <a:ext cx="4053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8E8E93"/>
                </a:solidFill>
                <a:latin typeface="Pretendard"/>
              </a:rPr>
              <a:t>각 단계는 아래 단계의 확정본을 원천으로 사용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Pretendard SemiBold"/>
              </a:rPr>
              <a:t>PART 02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Pretendard Medium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Pretendard"/>
              </a:rPr>
              <a:t>설계와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9D3E0"/>
                </a:solidFill>
                <a:latin typeface="Pretendard Medium"/>
              </a:rPr>
              <a:t>그래서 어떻게 해결했는가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AI는 준비·초안·제안까지, 확정은 사람이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미팅 기록 → 다음 미팅 브리핑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596896"/>
            <a:ext cx="420624" cy="420624"/>
          </a:xfrm>
          <a:prstGeom prst="ellipse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42616"/>
            <a:ext cx="28751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미팅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80944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계약관리 추천 → 캘린더 승인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18178" y="2807208"/>
            <a:ext cx="228600" cy="0"/>
          </a:xfrm>
          <a:prstGeom prst="line">
            <a:avLst/>
          </a:prstGeom>
          <a:ln w="15240">
            <a:solidFill>
              <a:srgbClr val="BFDB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338218" y="2596896"/>
            <a:ext cx="420624" cy="420624"/>
          </a:xfrm>
          <a:prstGeom prst="ellipse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5146" y="2642616"/>
            <a:ext cx="28751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사전 브리핑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5146" y="2980944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과거 보고서·자료 RAG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99196" y="2807208"/>
            <a:ext cx="228600" cy="0"/>
          </a:xfrm>
          <a:prstGeom prst="line">
            <a:avLst/>
          </a:prstGeom>
          <a:ln w="15240">
            <a:solidFill>
              <a:srgbClr val="BFDB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19236" y="2596896"/>
            <a:ext cx="420624" cy="420624"/>
          </a:xfrm>
          <a:prstGeom prst="ellipse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6164" y="2642616"/>
            <a:ext cx="28751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미팅 후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6164" y="2980944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원문 · STT · OCR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3968496"/>
            <a:ext cx="11277295" cy="0"/>
          </a:xfrm>
          <a:prstGeom prst="line">
            <a:avLst/>
          </a:prstGeom>
          <a:ln w="12700">
            <a:solidFill>
              <a:srgbClr val="F2F3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57200" y="4654296"/>
            <a:ext cx="420624" cy="420624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700016"/>
            <a:ext cx="28751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보고서 확정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038344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사람이 확정해야 저장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18178" y="4864608"/>
            <a:ext cx="228600" cy="0"/>
          </a:xfrm>
          <a:prstGeom prst="line">
            <a:avLst/>
          </a:prstGeom>
          <a:ln w="15240">
            <a:solidFill>
              <a:srgbClr val="BFDB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338218" y="4654296"/>
            <a:ext cx="420624" cy="420624"/>
          </a:xfrm>
          <a:prstGeom prst="ellipse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5146" y="4700016"/>
            <a:ext cx="28751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보고서 누적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5146" y="5038344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RAG 적재 · 추천 트리거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99196" y="4864608"/>
            <a:ext cx="228600" cy="0"/>
          </a:xfrm>
          <a:prstGeom prst="line">
            <a:avLst/>
          </a:prstGeom>
          <a:ln w="15240">
            <a:solidFill>
              <a:srgbClr val="BFDBF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219236" y="4654296"/>
            <a:ext cx="420624" cy="420624"/>
          </a:xfrm>
          <a:prstGeom prst="ellipse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6164" y="4700016"/>
            <a:ext cx="287517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기간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86164" y="5038344"/>
            <a:ext cx="28751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일·주·월 → 팀장 검토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24727"/>
            <a:ext cx="77724" cy="23774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806440"/>
            <a:ext cx="11076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222222"/>
                </a:solidFill>
                <a:latin typeface="Pretendard SemiBold"/>
              </a:rPr>
              <a:t>확정 결과가 다음 미팅 준비로 순환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한 번의 영업 사이클을 실제 화면으로 따라간다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[시연 동선 한 줄 입력 예정]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76856"/>
            <a:ext cx="7498079" cy="4217670"/>
          </a:xfrm>
          <a:prstGeom prst="roundRect">
            <a:avLst>
              <a:gd name="adj" fmla="val 281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Medium"/>
              </a:rPr>
              <a:t>시연 영상 (16:9)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36372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59" y="2322576"/>
            <a:ext cx="33220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시연 체크포인트</a:t>
            </a:r>
          </a:p>
        </p:txBody>
      </p:sp>
      <p:sp>
        <p:nvSpPr>
          <p:cNvPr id="10" name="Oval 9"/>
          <p:cNvSpPr/>
          <p:nvPr/>
        </p:nvSpPr>
        <p:spPr>
          <a:xfrm>
            <a:off x="8412480" y="2779776"/>
            <a:ext cx="274320" cy="274320"/>
          </a:xfrm>
          <a:prstGeom prst="ellipse">
            <a:avLst/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2798064"/>
            <a:ext cx="2937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Medium"/>
              </a:rPr>
              <a:t>자료실 업로드 → 요약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0" y="3383280"/>
            <a:ext cx="274320" cy="274320"/>
          </a:xfrm>
          <a:prstGeom prst="ellipse">
            <a:avLst/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3401568"/>
            <a:ext cx="2937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Medium"/>
              </a:rPr>
              <a:t>캘린더 추천 승인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0" y="3986784"/>
            <a:ext cx="274320" cy="274320"/>
          </a:xfrm>
          <a:prstGeom prst="ellipse">
            <a:avLst/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4005072"/>
            <a:ext cx="2937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Medium"/>
              </a:rPr>
              <a:t>AI 브리핑 확인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0" y="4590288"/>
            <a:ext cx="274320" cy="274320"/>
          </a:xfrm>
          <a:prstGeom prst="ellipse">
            <a:avLst/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Pretendar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608575"/>
            <a:ext cx="2937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Medium"/>
              </a:rPr>
              <a:t>미팅 원문 → 초안 생성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0" y="5193792"/>
            <a:ext cx="274320" cy="274320"/>
          </a:xfrm>
          <a:prstGeom prst="ellipse">
            <a:avLst/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Pretendar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5212079"/>
            <a:ext cx="2937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Medium"/>
              </a:rPr>
              <a:t>보고서 확정 → 다음 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852159"/>
            <a:ext cx="33220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"/>
              </a:rPr>
              <a:t>시연 순서는 영상 확정 후 조정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frontend/package.json, backend/uv.lock, 운영 설정값(2026-09-11 확인)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AI 생태계를 중심에 두고 스택을 맞췄다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Python AI 생태계 기준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76856"/>
            <a:ext cx="2094524" cy="3474720"/>
          </a:xfrm>
          <a:prstGeom prst="roundRect">
            <a:avLst>
              <a:gd name="adj" fmla="val 5675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96312"/>
            <a:ext cx="16921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retendard"/>
              </a:rPr>
              <a:t>FRONTEND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2843784"/>
            <a:ext cx="169218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" y="3026664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127248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43584" y="3154680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React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48456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type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749040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43584" y="3776472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TypeScript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0248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v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370832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43584" y="4398264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Vite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52892" y="2276856"/>
            <a:ext cx="2094524" cy="3474720"/>
          </a:xfrm>
          <a:prstGeom prst="roundRect">
            <a:avLst>
              <a:gd name="adj" fmla="val 5675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4060" y="2496312"/>
            <a:ext cx="16921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retendard"/>
              </a:rPr>
              <a:t>BACKEND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54060" y="2843784"/>
            <a:ext cx="169218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54060" y="3026664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0364" y="3127248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39276" y="3154680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FastAPI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54060" y="3648456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0364" y="3749040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39276" y="3776472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Python 3.13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54060" y="4270248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sqlalchem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364" y="4370832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539276" y="4398264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SQLAlchemy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48585" y="2276856"/>
            <a:ext cx="2094524" cy="3474720"/>
          </a:xfrm>
          <a:prstGeom prst="roundRect">
            <a:avLst>
              <a:gd name="adj" fmla="val 5675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9753" y="2496312"/>
            <a:ext cx="16921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retendard"/>
              </a:rPr>
              <a:t>DATA · AUTH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49753" y="2843784"/>
            <a:ext cx="169218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249753" y="3026664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sup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6057" y="3127248"/>
            <a:ext cx="292608" cy="2926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34969" y="3154680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Supabase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49753" y="3648456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Picture 38" descr="postgresq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6057" y="3749040"/>
            <a:ext cx="292608" cy="2926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34969" y="3776472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PostgreSQL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2905" y="4325112"/>
            <a:ext cx="16373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· pgvector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22905" y="4599431"/>
            <a:ext cx="16373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· Auth · Storage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44277" y="2276856"/>
            <a:ext cx="2094524" cy="3474720"/>
          </a:xfrm>
          <a:prstGeom prst="roundRect">
            <a:avLst>
              <a:gd name="adj" fmla="val 5675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5445" y="2496312"/>
            <a:ext cx="16921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retendard"/>
              </a:rPr>
              <a:t>AI · ML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45445" y="2843784"/>
            <a:ext cx="169218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545445" y="3026664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7" name="Picture 46" descr="opena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1749" y="3127248"/>
            <a:ext cx="292608" cy="2926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130661" y="3154680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OpenAI API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45445" y="3648456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0" name="Picture 49" descr="langchai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1749" y="3749040"/>
            <a:ext cx="292608" cy="29260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130661" y="3776472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LangChain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5445" y="4270248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3" name="Picture 52" descr="scikitlear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1749" y="4370832"/>
            <a:ext cx="292608" cy="2926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130661" y="4398264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scikit-learn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18597" y="4946903"/>
            <a:ext cx="16373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· DeepAgents · CatBoost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8597" y="5221223"/>
            <a:ext cx="16373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· RunPod OCR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39970" y="2276856"/>
            <a:ext cx="2094524" cy="3474720"/>
          </a:xfrm>
          <a:prstGeom prst="roundRect">
            <a:avLst>
              <a:gd name="adj" fmla="val 5675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41138" y="2496312"/>
            <a:ext cx="16921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retendard"/>
              </a:rPr>
              <a:t>DEVOPS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841138" y="2843784"/>
            <a:ext cx="1692189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841138" y="3026664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1" name="Picture 60" descr="dock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87442" y="3127248"/>
            <a:ext cx="292608" cy="29260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426354" y="3154680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Docker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41138" y="3648456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4" name="Picture 63" descr="githubaction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87442" y="3749040"/>
            <a:ext cx="292608" cy="29260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426354" y="3776472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GitHub Actions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41138" y="4270248"/>
            <a:ext cx="169218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7" name="Picture 66" descr="amazonwebservice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87442" y="4370832"/>
            <a:ext cx="292608" cy="29260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426354" y="4398264"/>
            <a:ext cx="1088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AWS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980176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LLM gpt-5.6-luna · STT gpt-4o-transcribe · OCR PaddleOCR(RunPod) — adapter로 교체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deploy/backend/deploy.sh, backend/app/services/agent_worker.py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입구는 하나, 오래 걸리는 AI 작업은 따로 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LLM 생성 = 큐 + 워커 · OCR·STT = API 직접 호출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85416"/>
            <a:ext cx="2194560" cy="420624"/>
          </a:xfrm>
          <a:prstGeom prst="roundRect">
            <a:avLst>
              <a:gd name="adj" fmla="val 2826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295144"/>
            <a:ext cx="175564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Pretendard"/>
              </a:rPr>
              <a:t>사용자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E8E93"/>
                </a:solidFill>
                <a:latin typeface="Pretendard"/>
              </a:rPr>
              <a:t>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752344"/>
            <a:ext cx="4937760" cy="603504"/>
          </a:xfrm>
          <a:prstGeom prst="roundRect">
            <a:avLst>
              <a:gd name="adj" fmla="val 19696"/>
            </a:avLst>
          </a:prstGeom>
          <a:solidFill>
            <a:srgbClr val="F4F7FE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amazonweb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2916936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38728" y="2880360"/>
            <a:ext cx="409651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Pretendard"/>
              </a:rPr>
              <a:t>CloudFront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단일 HTTPS 진입점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6265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Pretendard"/>
              </a:rPr>
              <a:t>EDGE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49240" y="2606040"/>
            <a:ext cx="0" cy="128016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75320" y="2734056"/>
            <a:ext cx="3456432" cy="64008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amazon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2926080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78824" y="2862072"/>
            <a:ext cx="26334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S3 — React SPA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"/>
              </a:rPr>
              <a:t>정적 호스팅 · Private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3054096"/>
            <a:ext cx="365760" cy="0"/>
          </a:xfrm>
          <a:prstGeom prst="line">
            <a:avLst/>
          </a:prstGeom>
          <a:ln w="1524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80360" y="3520440"/>
            <a:ext cx="4937760" cy="603504"/>
          </a:xfrm>
          <a:prstGeom prst="roundRect">
            <a:avLst>
              <a:gd name="adj" fmla="val 19696"/>
            </a:avLst>
          </a:prstGeom>
          <a:solidFill>
            <a:srgbClr val="F4F7FE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amazon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104" y="3685032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38728" y="3648456"/>
            <a:ext cx="409651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Pretendard"/>
              </a:rPr>
              <a:t>EC2 · Nginx · FastAPI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API 서버 · 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3075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Pretendard"/>
              </a:rPr>
              <a:t>APP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49240" y="3355848"/>
            <a:ext cx="0" cy="146304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75320" y="3502152"/>
            <a:ext cx="3456432" cy="64008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6" name="Picture 25" descr="open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3694176"/>
            <a:ext cx="256032" cy="2560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78824" y="3630168"/>
            <a:ext cx="26334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OCR · STT 동기 호출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"/>
              </a:rPr>
              <a:t>RunPod · gpt-4o-transcribe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63840" y="3822191"/>
            <a:ext cx="365760" cy="0"/>
          </a:xfrm>
          <a:prstGeom prst="line">
            <a:avLst/>
          </a:prstGeom>
          <a:ln w="1524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80360" y="4288536"/>
            <a:ext cx="4937760" cy="676656"/>
          </a:xfrm>
          <a:prstGeom prst="roundRect">
            <a:avLst>
              <a:gd name="adj" fmla="val 17567"/>
            </a:avLst>
          </a:prstGeom>
          <a:solidFill>
            <a:srgbClr val="E3ECFD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sup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8104" y="4489703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538728" y="4416551"/>
            <a:ext cx="409651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Pretendard"/>
              </a:rPr>
              <a:t>Supabase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PostgreSQL · pgvector · Auth · Storage · agent_run 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35423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456F0"/>
                </a:solidFill>
                <a:latin typeface="Pretendard"/>
              </a:rPr>
              <a:t>DATA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49240" y="4123944"/>
            <a:ext cx="0" cy="146304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880360" y="5129784"/>
            <a:ext cx="4937760" cy="603504"/>
          </a:xfrm>
          <a:prstGeom prst="roundRect">
            <a:avLst>
              <a:gd name="adj" fmla="val 19696"/>
            </a:avLst>
          </a:prstGeom>
          <a:solidFill>
            <a:srgbClr val="F4F7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dock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8104" y="5294376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538728" y="5257800"/>
            <a:ext cx="409651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Pretendard"/>
              </a:rPr>
              <a:t>Agent Worker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큐 폴링 · 별도 컨테이너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34009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B82F6"/>
                </a:solidFill>
                <a:latin typeface="Pretendard"/>
              </a:rPr>
              <a:t>ASYNC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49240" y="4965192"/>
            <a:ext cx="0" cy="146304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275320" y="5111496"/>
            <a:ext cx="3456432" cy="64008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0" name="Picture 39" descr="open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5303520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878824" y="5239512"/>
            <a:ext cx="263347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OpenAI gpt-5.6-luna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"/>
              </a:rPr>
              <a:t>보고서·미팅분석 생성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63840" y="5431536"/>
            <a:ext cx="365760" cy="0"/>
          </a:xfrm>
          <a:prstGeom prst="line">
            <a:avLst/>
          </a:prstGeom>
          <a:ln w="1524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8E8E93"/>
                </a:solidFill>
                <a:latin typeface="Pretendard"/>
              </a:rPr>
              <a:t>배포 — GitHub Actions → OIDC → SSM · 무중단(blue/green)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backend/app/agents/ (develop, 2026-09-17)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다섯 에이전트가 판단·초안·제안을 나눠 맡는다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제안·초안까지 에이전트 · 확정은 사람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95144"/>
            <a:ext cx="11277295" cy="676656"/>
          </a:xfrm>
          <a:prstGeom prst="roundRect">
            <a:avLst>
              <a:gd name="adj" fmla="val 1756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295144"/>
            <a:ext cx="68580" cy="676656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4144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Pretendard"/>
              </a:rPr>
              <a:t>미팅분석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 Medium"/>
              </a:rPr>
              <a:t>판단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2374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미팅 원문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92040" y="2633472"/>
            <a:ext cx="365760" cy="0"/>
          </a:xfrm>
          <a:prstGeom prst="line">
            <a:avLst/>
          </a:prstGeom>
          <a:ln w="1524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40680" y="2523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딜별 귀속 · 13개 특성 · 성사 확률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49631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2563EB"/>
                </a:solidFill>
                <a:latin typeface="Pretendard SemiBold"/>
              </a:rPr>
              <a:t>확정 시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81528"/>
            <a:ext cx="11277295" cy="676656"/>
          </a:xfrm>
          <a:prstGeom prst="roundRect">
            <a:avLst>
              <a:gd name="adj" fmla="val 1756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081528"/>
            <a:ext cx="68580" cy="676656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278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Pretendard"/>
              </a:rPr>
              <a:t>영업·계약관리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11296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 Medium"/>
              </a:rPr>
              <a:t>상태 허브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3101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위험 신호 7종 · 이력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92040" y="3419856"/>
            <a:ext cx="365760" cy="0"/>
          </a:xfrm>
          <a:prstGeom prst="line">
            <a:avLst/>
          </a:prstGeom>
          <a:ln w="1524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40680" y="33101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다음 미팅 제안 · 근거 브리핑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32826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2563EB"/>
                </a:solidFill>
                <a:latin typeface="Pretendard SemiBold"/>
              </a:rPr>
              <a:t>캘린더 승인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67912"/>
            <a:ext cx="11277295" cy="676656"/>
          </a:xfrm>
          <a:prstGeom prst="roundRect">
            <a:avLst>
              <a:gd name="adj" fmla="val 1756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3867912"/>
            <a:ext cx="68580" cy="676656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1421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Pretendard"/>
              </a:rPr>
              <a:t>보고서 작성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 Medium"/>
              </a:rPr>
              <a:t>실행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0965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원문 · 하위 확정 보고서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92040" y="4206240"/>
            <a:ext cx="365760" cy="0"/>
          </a:xfrm>
          <a:prstGeom prst="line">
            <a:avLst/>
          </a:prstGeom>
          <a:ln w="1524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40680" y="4096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작성 → 검토 → 수정 초안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40690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2563EB"/>
                </a:solidFill>
                <a:latin typeface="Pretendard SemiBold"/>
              </a:rPr>
              <a:t>확정 · 팀장 검토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654296"/>
            <a:ext cx="11277295" cy="676656"/>
          </a:xfrm>
          <a:prstGeom prst="roundRect">
            <a:avLst>
              <a:gd name="adj" fmla="val 1756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4654296"/>
            <a:ext cx="68580" cy="676656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80060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Pretendard"/>
              </a:rPr>
              <a:t>일정관리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84064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 Medium"/>
              </a:rPr>
              <a:t>실행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88289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저장된 추천 · 딜 상태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92040" y="4992624"/>
            <a:ext cx="365760" cy="0"/>
          </a:xfrm>
          <a:prstGeom prst="line">
            <a:avLst/>
          </a:prstGeom>
          <a:ln w="1524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40680" y="48828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유효 / 재생성 / 무시 판단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81160" y="4855464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2563EB"/>
                </a:solidFill>
                <a:latin typeface="Pretendard SemiBold"/>
              </a:rPr>
              <a:t>승인 · 거절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440680"/>
            <a:ext cx="11277295" cy="676656"/>
          </a:xfrm>
          <a:prstGeom prst="roundRect">
            <a:avLst>
              <a:gd name="adj" fmla="val 1756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5440680"/>
            <a:ext cx="68580" cy="676656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58698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Pretendard"/>
              </a:rPr>
              <a:t>자료요약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70448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 Medium"/>
              </a:rPr>
              <a:t>실행 지원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566928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PDF · DOCX · 이미지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892040" y="5779008"/>
            <a:ext cx="365760" cy="0"/>
          </a:xfrm>
          <a:prstGeom prst="line">
            <a:avLst/>
          </a:prstGeom>
          <a:ln w="1524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440680" y="5669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22222"/>
                </a:solidFill>
                <a:latin typeface="Pretendard SemiBold"/>
              </a:rPr>
              <a:t>구조화 요약 · RAG 청크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81160" y="56418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2563EB"/>
                </a:solidFill>
                <a:latin typeface="Pretendard SemiBold"/>
              </a:rPr>
              <a:t>원문 대조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backend/app/services/agent_runs.py · agent_worker.py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트리거와 작업 큐로 잇고, 사람이 닫는다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전역 Supervisor 없음 · 코드와 큐로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59736"/>
            <a:ext cx="2442133" cy="2743200"/>
          </a:xfrm>
          <a:prstGeom prst="roundRect">
            <a:avLst>
              <a:gd name="adj" fmla="val 486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9849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업무 트리거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063240"/>
            <a:ext cx="1984933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236976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자료 업로드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미팅 보고서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78224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보고서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98848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일정 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19472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딜 단계 이동 외 3건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2485" y="3831335"/>
            <a:ext cx="356616" cy="0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02253" y="2459736"/>
            <a:ext cx="2442133" cy="2743200"/>
          </a:xfrm>
          <a:prstGeom prst="roundRect">
            <a:avLst>
              <a:gd name="adj" fmla="val 4867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853" y="2697480"/>
            <a:ext cx="19849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6F0"/>
                </a:solidFill>
                <a:latin typeface="Pretendard"/>
              </a:rPr>
              <a:t>작업 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30853" y="3063240"/>
            <a:ext cx="1984934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30853" y="3236976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agent_run · 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853" y="3657600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부모 · 자식 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853" y="4078224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최대 2회 · lease 90초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17539" y="3831335"/>
            <a:ext cx="356616" cy="0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47307" y="2459736"/>
            <a:ext cx="2442133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5907" y="2697480"/>
            <a:ext cx="19849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6F0"/>
                </a:solidFill>
                <a:latin typeface="Pretendard"/>
              </a:rPr>
              <a:t>에이전트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75907" y="3063240"/>
            <a:ext cx="1984934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75907" y="3236976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· 미팅 내용분석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5907" y="3657600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· 보고서 작성 (DeepAgents)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5907" y="4078224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· 딜 특성 + ML 예측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5907" y="4498848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· 계약관리 → 일정관리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5907" y="4919472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· 브리핑 · 자료요약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62593" y="3831335"/>
            <a:ext cx="356616" cy="0"/>
          </a:xfrm>
          <a:prstGeom prst="line">
            <a:avLst/>
          </a:prstGeom>
          <a:ln w="1905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92361" y="2459736"/>
            <a:ext cx="2442133" cy="2743200"/>
          </a:xfrm>
          <a:prstGeom prst="roundRect">
            <a:avLst>
              <a:gd name="adj" fmla="val 4867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0961" y="2697480"/>
            <a:ext cx="19849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6F0"/>
                </a:solidFill>
                <a:latin typeface="Pretendard"/>
              </a:rPr>
              <a:t>사람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520961" y="3063240"/>
            <a:ext cx="1984934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520961" y="3236976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보고서 확정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0961" y="3657600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추천 승인 → 일정 등록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0961" y="4078224"/>
            <a:ext cx="198493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45515E"/>
                </a:solidFill>
                <a:latin typeface="Pretendard"/>
              </a:rPr>
              <a:t>· 팀장 검토 · 반려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678266" y="5477255"/>
            <a:ext cx="8835162" cy="0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71600" y="5550407"/>
            <a:ext cx="9448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2563EB"/>
                </a:solidFill>
                <a:latin typeface="Pretendard SemiBold"/>
              </a:rPr>
              <a:t>사람의 확정이 다시 트리거가 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Pretendard SemiBold"/>
              </a:rPr>
              <a:t>PART 03</a:t>
            </a:r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Pretendard Medium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Pretendard"/>
              </a:rPr>
              <a:t>검증과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C9D3E0"/>
                </a:solidFill>
                <a:latin typeface="Pretendard Medium"/>
              </a:rPr>
              <a:t>제대로 동작하는지 어떻게 확인했는가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미팅 내용분석 구조 보고서(2026-08-31 골든셋), 머신러닝·딥러닝 학습결과서(30회 평균)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딜 귀속 84.7%, 특성 추출 74.8%가 다음 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딜 승산 모델 AUC +0.037 (30회 평균)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22576"/>
            <a:ext cx="24535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222"/>
                </a:solidFill>
                <a:latin typeface="Pretendard"/>
              </a:rPr>
              <a:t>84.7%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04160"/>
            <a:ext cx="24535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근거·딜 일치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94 / 111 구간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76523" y="2340864"/>
            <a:ext cx="0" cy="786384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77691" y="2322576"/>
            <a:ext cx="24535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222"/>
                </a:solidFill>
                <a:latin typeface="Pretendard"/>
              </a:rPr>
              <a:t>74.8%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7691" y="2804160"/>
            <a:ext cx="24535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딜 특성 필드 정확도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350 / 468 필드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2340864"/>
            <a:ext cx="0" cy="786384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97015" y="2322576"/>
            <a:ext cx="24535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222"/>
                </a:solidFill>
                <a:latin typeface="Pretendard"/>
              </a:rPr>
              <a:t>82.6%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7015" y="2804160"/>
            <a:ext cx="24535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필수 사실 보존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38 / 46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15171" y="2340864"/>
            <a:ext cx="0" cy="786384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16339" y="2322576"/>
            <a:ext cx="24535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222"/>
                </a:solidFill>
                <a:latin typeface="Pretendard"/>
              </a:rPr>
              <a:t>0 / 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339" y="2804160"/>
            <a:ext cx="24535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13개 특성 전부 정답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가장 큰 과제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5244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1129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딜 승산 예측 — 단계별 성능 (30회 평균)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320040" y="3831335"/>
          <a:ext cx="731520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183879" y="355244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3511296"/>
            <a:ext cx="3550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평가 설계와 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22776"/>
            <a:ext cx="35506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합성 미팅 12회 · 딜 36개 (2026-08-31)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379976"/>
            <a:ext cx="35506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AI 의미 검수 — 사람 판정 아님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837176"/>
            <a:ext cx="35506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공개 B2B 448건 · 30회 반복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294376"/>
            <a:ext cx="35506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Brier 0.2097 → 0.1880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751576"/>
            <a:ext cx="35506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영문 데이터 — 한국어 성능은 별도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docs/eval/01_보고서작성에이전트 (Judge gpt-5.6-luna, 2026-09-08)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구조를 바꾸자 53건 모두 생성, 토큰은 54% 감소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합성 53건 · LLM Judge 절대+쌍대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22576"/>
            <a:ext cx="24535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222"/>
                </a:solidFill>
                <a:latin typeface="Pretendard"/>
              </a:rPr>
              <a:t>47 → 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04160"/>
            <a:ext cx="24535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유효 답안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53건 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76523" y="2340864"/>
            <a:ext cx="0" cy="786384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77691" y="2322576"/>
            <a:ext cx="24535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222"/>
                </a:solidFill>
                <a:latin typeface="Pretendard"/>
              </a:rPr>
              <a:t>18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7691" y="2804160"/>
            <a:ext cx="24535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외부 재시도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생성 실패 6 →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4135" y="2231136"/>
            <a:ext cx="2782747" cy="1005840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1456F0"/>
              </a:gs>
              <a:gs pos="50000">
                <a:srgbClr val="3B82F6"/>
              </a:gs>
              <a:gs pos="100000">
                <a:srgbClr val="60A5FA"/>
              </a:gs>
            </a:gsLst>
            <a:lin scaled="0" ang="18900000"/>
          </a:gradFill>
          <a:ln>
            <a:noFill/>
          </a:ln>
          <a:effectLst>
            <a:outerShdw blurRad="190500" dist="0" dir="5400000" rotWithShape="0">
              <a:srgbClr val="2C1E74">
                <a:alpha val="1607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7" y="2377440"/>
            <a:ext cx="24169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retendard"/>
              </a:rPr>
              <a:t>−54.4%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834640"/>
            <a:ext cx="24169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Pretendard SemiBold"/>
              </a:rPr>
              <a:t>생성 토큰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BFDBFE"/>
                </a:solidFill>
                <a:latin typeface="Pretendard"/>
              </a:rPr>
              <a:t>1,001만 → 457만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15171" y="2340864"/>
            <a:ext cx="0" cy="786384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16339" y="2322576"/>
            <a:ext cx="24535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222"/>
                </a:solidFill>
                <a:latin typeface="Pretendard"/>
              </a:rPr>
              <a:t>29 / 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339" y="2804160"/>
            <a:ext cx="24535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쌍대 우세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개선 전 우세 1건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5244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1129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보고서 유형별 LLM Judge 점수 (100점 만점 · 공통 43건)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320040" y="3831335"/>
          <a:ext cx="731520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183879" y="355244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3511296"/>
            <a:ext cx="35506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방법과 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22776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루브릭 5개 · 익명 순서 교차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306824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인용 기계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690872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기간 보고서 = 단계별 참조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074920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한계 — 시나리오 1개 · 월간 1건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458968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한계 — 생성·Judge 동일 모델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843016"/>
            <a:ext cx="35506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한계 — 미팅 점수·사실 정확성 하락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[영업·계약관리 평가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[평가 방법 한 줄 입력 예정]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76856"/>
            <a:ext cx="2627299" cy="1005840"/>
          </a:xfrm>
          <a:prstGeom prst="roundRect">
            <a:avLst>
              <a:gd name="adj" fmla="val 1181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KPI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0531" y="2276856"/>
            <a:ext cx="2627299" cy="1005840"/>
          </a:xfrm>
          <a:prstGeom prst="roundRect">
            <a:avLst>
              <a:gd name="adj" fmla="val 1181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2276856"/>
            <a:ext cx="2627299" cy="1005840"/>
          </a:xfrm>
          <a:prstGeom prst="roundRect">
            <a:avLst>
              <a:gd name="adj" fmla="val 1181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07195" y="2276856"/>
            <a:ext cx="2627299" cy="1005840"/>
          </a:xfrm>
          <a:prstGeom prst="roundRect">
            <a:avLst>
              <a:gd name="adj" fmla="val 1181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KPI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11296"/>
            <a:ext cx="7315200" cy="2651760"/>
          </a:xfrm>
          <a:prstGeom prst="roundRect">
            <a:avLst>
              <a:gd name="adj" fmla="val 4482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차트 또는 테스트 계층 도식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511296"/>
            <a:ext cx="3642055" cy="2651760"/>
          </a:xfrm>
          <a:prstGeom prst="roundRect">
            <a:avLst>
              <a:gd name="adj" fmla="val 4482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평가 데이터 · 방법 · 한계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[일정관리 평가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[평가 방법 한 줄 입력 예정]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76856"/>
            <a:ext cx="3576218" cy="1005840"/>
          </a:xfrm>
          <a:prstGeom prst="roundRect">
            <a:avLst>
              <a:gd name="adj" fmla="val 1181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KPI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2276856"/>
            <a:ext cx="3576218" cy="1005840"/>
          </a:xfrm>
          <a:prstGeom prst="roundRect">
            <a:avLst>
              <a:gd name="adj" fmla="val 1181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8276" y="2276856"/>
            <a:ext cx="3576218" cy="1005840"/>
          </a:xfrm>
          <a:prstGeom prst="roundRect">
            <a:avLst>
              <a:gd name="adj" fmla="val 11818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11296"/>
            <a:ext cx="5455767" cy="2651760"/>
          </a:xfrm>
          <a:prstGeom prst="roundRect">
            <a:avLst>
              <a:gd name="adj" fmla="val 4482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Before — 개선 전 동작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3511296"/>
            <a:ext cx="5455767" cy="2651760"/>
          </a:xfrm>
          <a:prstGeom prst="roundRect">
            <a:avLst>
              <a:gd name="adj" fmla="val 4482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After — 개선 후 동작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docs/document-summary-evaluation.md, output/evals/document-summary-rageval (자동 10건)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문서요약 자동 평가 0.846, 사람 검수는 남았다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RAGEval 골든셋 10건 · 6개 지표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7228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지표별 점수 (0–1 · 높을수록 좋음)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" y="2551176"/>
          <a:ext cx="7863840" cy="3520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732519" y="227228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399" y="2231136"/>
            <a:ext cx="3001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평가 흐름</a:t>
            </a:r>
          </a:p>
        </p:txBody>
      </p:sp>
      <p:sp>
        <p:nvSpPr>
          <p:cNvPr id="13" name="Oval 12"/>
          <p:cNvSpPr/>
          <p:nvPr/>
        </p:nvSpPr>
        <p:spPr>
          <a:xfrm>
            <a:off x="8732519" y="2642616"/>
            <a:ext cx="256032" cy="256032"/>
          </a:xfrm>
          <a:prstGeom prst="ellipse">
            <a:avLst/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660904"/>
            <a:ext cx="2636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Medium"/>
              </a:rPr>
              <a:t>합성 문서 7개</a:t>
            </a:r>
          </a:p>
        </p:txBody>
      </p:sp>
      <p:sp>
        <p:nvSpPr>
          <p:cNvPr id="15" name="Oval 14"/>
          <p:cNvSpPr/>
          <p:nvPr/>
        </p:nvSpPr>
        <p:spPr>
          <a:xfrm>
            <a:off x="8732519" y="3209544"/>
            <a:ext cx="256032" cy="256032"/>
          </a:xfrm>
          <a:prstGeom prst="ellipse">
            <a:avLst/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227832"/>
            <a:ext cx="2636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Medium"/>
              </a:rPr>
              <a:t>QRA 자동 골든셋 10건</a:t>
            </a:r>
          </a:p>
        </p:txBody>
      </p:sp>
      <p:sp>
        <p:nvSpPr>
          <p:cNvPr id="17" name="Oval 16"/>
          <p:cNvSpPr/>
          <p:nvPr/>
        </p:nvSpPr>
        <p:spPr>
          <a:xfrm>
            <a:off x="8732519" y="3776472"/>
            <a:ext cx="256032" cy="256032"/>
          </a:xfrm>
          <a:prstGeom prst="ellipse">
            <a:avLst/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Pretendar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794760"/>
            <a:ext cx="2636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Medium"/>
              </a:rPr>
              <a:t>요약 6 · 검색 4 Judge 채점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19" y="4471416"/>
            <a:ext cx="3001976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32519" y="469544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399" y="4654296"/>
            <a:ext cx="3001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SemiBold"/>
              </a:rPr>
              <a:t>읽을 때 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19" y="5065776"/>
            <a:ext cx="30019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요약 6건 0.91–0.98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19" y="5431536"/>
            <a:ext cx="30019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사람 검수 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19" y="5797296"/>
            <a:ext cx="30019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합성 문서 기준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자료요약 OCR 평가표, RunPod OCR 워커 계약 문서 (유형별 1건 소표본)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명함·PDF는 필드 100%, 사업자등록증은 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유형별 정답표 대조 · 오류 필드는 사용자 검토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22576"/>
            <a:ext cx="339333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222"/>
                </a:solidFill>
                <a:latin typeface="Pretendard"/>
              </a:rPr>
              <a:t>7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04160"/>
            <a:ext cx="33933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명함 필드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구조화 6 / 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16298" y="2340864"/>
            <a:ext cx="0" cy="786384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17466" y="2322576"/>
            <a:ext cx="339333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222"/>
                </a:solidFill>
                <a:latin typeface="Pretendard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7466" y="2804160"/>
            <a:ext cx="33933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취업규칙 PDF 35쪽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장 제목 12/12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75396" y="2340864"/>
            <a:ext cx="0" cy="786384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76564" y="2322576"/>
            <a:ext cx="339333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222"/>
                </a:solidFill>
                <a:latin typeface="Pretendard"/>
              </a:rPr>
              <a:t>12 /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6564" y="2804160"/>
            <a:ext cx="339333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222"/>
                </a:solidFill>
                <a:latin typeface="Pretendard SemiBold"/>
              </a:rPr>
              <a:t>사업자등록증 필드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950">
                <a:solidFill>
                  <a:srgbClr val="8E8E93"/>
                </a:solidFill>
                <a:latin typeface="Pretendard"/>
              </a:rPr>
              <a:t>80% · 3개 불일치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5244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1129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RunPod 웜 스타트 처리 시간 (초 · 각 5회)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320040" y="3831335"/>
          <a:ext cx="603504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903720" y="355244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511296"/>
            <a:ext cx="4830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틀린 필드와 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922776"/>
            <a:ext cx="4830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법인등록번호 · 법인명 · 개업연월일 불일치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489704"/>
            <a:ext cx="4830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자동 승인 제외 → 사용자 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5056632"/>
            <a:ext cx="4830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유형별 1건 — 전체 정확도 아님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5623560"/>
            <a:ext cx="4830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손글씨 오류율 45% — 별도 과제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output/evals/document-summary-rageval/llm_judge_results.json (요약 6 · 검색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RAG 답변 4건 중 1건은 옛 계약서 날짜를 답했다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요약보다 검색 답변의 편차가 큼 — 원인은 최신성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7228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456F0"/>
                </a:solidFill>
                <a:latin typeface="Pretendard SemiBold"/>
              </a:rPr>
              <a:t>케이스별 overall 점수 (0–1)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20040" y="2551176"/>
          <a:ext cx="758952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2231136"/>
            <a:ext cx="3276295" cy="2148840"/>
          </a:xfrm>
          <a:prstGeom prst="roundRect">
            <a:avLst>
              <a:gd name="adj" fmla="val 5531"/>
            </a:avLst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459736"/>
            <a:ext cx="2819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437D"/>
                </a:solidFill>
                <a:latin typeface="Pretendard"/>
              </a:rPr>
              <a:t>실패 사례 — 검색1 (0.25)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8712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8E8E93"/>
                </a:solidFill>
                <a:latin typeface="Pretendard SemiBold"/>
              </a:rPr>
              <a:t>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871216"/>
            <a:ext cx="2224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222"/>
                </a:solidFill>
                <a:latin typeface="Pretendard Medium"/>
              </a:rPr>
              <a:t>현재 기준 설치 예정일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73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8E8E93"/>
                </a:solidFill>
                <a:latin typeface="Pretendard SemiBold"/>
              </a:rPr>
              <a:t>기대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273552"/>
            <a:ext cx="2224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222"/>
                </a:solidFill>
                <a:latin typeface="Pretendard Medium"/>
              </a:rPr>
              <a:t>2026-10-08 추가 자료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6758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8E8E93"/>
                </a:solidFill>
                <a:latin typeface="Pretendard SemiBold"/>
              </a:rPr>
              <a:t>답변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3675888"/>
            <a:ext cx="2224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222"/>
                </a:solidFill>
                <a:latin typeface="Pretendard Medium"/>
              </a:rPr>
              <a:t>2026-09-24 기존 계약서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059935"/>
            <a:ext cx="2819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563EB"/>
                </a:solidFill>
                <a:latin typeface="Pretendard SemiBold"/>
              </a:rPr>
              <a:t>→ 최신 자료 대신 옛 계약서 참조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4649724"/>
            <a:ext cx="77724" cy="146304"/>
          </a:xfrm>
          <a:prstGeom prst="roundRect">
            <a:avLst>
              <a:gd name="adj" fmla="val 47058"/>
            </a:avLst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4608576"/>
            <a:ext cx="3276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SemiBold"/>
              </a:rPr>
              <a:t>읽을 때 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020056"/>
            <a:ext cx="3276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평가 스크립트 = 단어 겹침 검색 (운영은 키워드+벡터)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586984"/>
            <a:ext cx="3276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· 보고서 RAG · 브리핑은 별도 평가 없음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[실패와 개선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[부제 입력 예정]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7685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retendard"/>
              </a:rPr>
              <a:t>사례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78608"/>
            <a:ext cx="2647873" cy="1463040"/>
          </a:xfrm>
          <a:prstGeom prst="roundRect">
            <a:avLst>
              <a:gd name="adj" fmla="val 8125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처음 접근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3673" y="2578608"/>
            <a:ext cx="2647873" cy="1463040"/>
          </a:xfrm>
          <a:prstGeom prst="roundRect">
            <a:avLst>
              <a:gd name="adj" fmla="val 8125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무엇이 문제였나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2578608"/>
            <a:ext cx="2647873" cy="1463040"/>
          </a:xfrm>
          <a:prstGeom prst="roundRect">
            <a:avLst>
              <a:gd name="adj" fmla="val 8125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어떻게 바꿨나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86621" y="2578608"/>
            <a:ext cx="2647873" cy="1463040"/>
          </a:xfrm>
          <a:prstGeom prst="roundRect">
            <a:avLst>
              <a:gd name="adj" fmla="val 8125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4281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Pretendard"/>
              </a:rPr>
              <a:t>사례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44568"/>
            <a:ext cx="2647873" cy="1463040"/>
          </a:xfrm>
          <a:prstGeom prst="roundRect">
            <a:avLst>
              <a:gd name="adj" fmla="val 8125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처음 접근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3673" y="4544568"/>
            <a:ext cx="2647873" cy="1463040"/>
          </a:xfrm>
          <a:prstGeom prst="roundRect">
            <a:avLst>
              <a:gd name="adj" fmla="val 8125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무엇이 문제였나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4544568"/>
            <a:ext cx="2647873" cy="1463040"/>
          </a:xfrm>
          <a:prstGeom prst="roundRect">
            <a:avLst>
              <a:gd name="adj" fmla="val 8125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어떻게 바꿨나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6621" y="4544568"/>
            <a:ext cx="2647873" cy="1463040"/>
          </a:xfrm>
          <a:prstGeom prst="roundRect">
            <a:avLst>
              <a:gd name="adj" fmla="val 8125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결과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[보완점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[부제 입력 예정]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2576"/>
            <a:ext cx="3576218" cy="2743200"/>
          </a:xfrm>
          <a:prstGeom prst="roundRect">
            <a:avLst>
              <a:gd name="adj" fmla="val 4333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한계 1 — 영역 · 내용 · 영향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2322576"/>
            <a:ext cx="3576218" cy="2743200"/>
          </a:xfrm>
          <a:prstGeom prst="roundRect">
            <a:avLst>
              <a:gd name="adj" fmla="val 4333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한계 2 — 영역 · 내용 · 영향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8276" y="2322576"/>
            <a:ext cx="3576218" cy="2743200"/>
          </a:xfrm>
          <a:prstGeom prst="roundRect">
            <a:avLst>
              <a:gd name="adj" fmla="val 4333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한계 3 — 영역 · 내용 · 영향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48656"/>
            <a:ext cx="11277295" cy="777240"/>
          </a:xfrm>
          <a:prstGeom prst="roundRect">
            <a:avLst>
              <a:gd name="adj" fmla="val 15294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So What — 한 줄 정리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[향후 계획 결론 입력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[부제 입력 예정]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3008376"/>
            <a:ext cx="10180015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83181" y="2807208"/>
            <a:ext cx="402336" cy="402336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74136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단기 계획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85616"/>
            <a:ext cx="3454298" cy="2194560"/>
          </a:xfrm>
          <a:prstGeom prst="roundRect">
            <a:avLst>
              <a:gd name="adj" fmla="val 541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1" name="Oval 10"/>
          <p:cNvSpPr/>
          <p:nvPr/>
        </p:nvSpPr>
        <p:spPr>
          <a:xfrm>
            <a:off x="5894679" y="2807208"/>
            <a:ext cx="402336" cy="402336"/>
          </a:xfrm>
          <a:prstGeom prst="ellipse">
            <a:avLst/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3374136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중기 계획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3785616"/>
            <a:ext cx="3454298" cy="2194560"/>
          </a:xfrm>
          <a:prstGeom prst="roundRect">
            <a:avLst>
              <a:gd name="adj" fmla="val 541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4" name="Oval 13"/>
          <p:cNvSpPr/>
          <p:nvPr/>
        </p:nvSpPr>
        <p:spPr>
          <a:xfrm>
            <a:off x="9806178" y="2807208"/>
            <a:ext cx="402336" cy="402336"/>
          </a:xfrm>
          <a:prstGeom prst="ellipse">
            <a:avLst/>
          </a:prstGeom>
          <a:solidFill>
            <a:srgbClr val="F4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3374136"/>
            <a:ext cx="34542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장기 계획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0196" y="3785616"/>
            <a:ext cx="3454298" cy="2194560"/>
          </a:xfrm>
          <a:prstGeom prst="roundRect">
            <a:avLst>
              <a:gd name="adj" fmla="val 5416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SalesLuv 데이터 구조(develop, 2026-09-17)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담당자의 머릿속을 조직의 기록으로 남긴다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인수인계 질문 11개 영역 =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2257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0545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고객 관계 맥락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회사 · 담당자 · 부서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815" y="232257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983" y="250545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접점 히스토리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83464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일정 · 활동 · 보고서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232257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50545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고객의 실제 발언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7599" y="283464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원문 · STT · 첨부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6047" y="232257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7215" y="250545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발언의 대상·범위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7215" y="283464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공통 · 딜별 + 근거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1985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60273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구매 판단 신호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93192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권한 · 경쟁사 등 13개 특성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6815" y="341985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7983" y="360273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딜 진행 맥락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7983" y="393192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단계 · 금액 · 계약 · 납기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6431" y="341985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7599" y="360273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과거 맥락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7599" y="393192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이전 확정 보고서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6047" y="341985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7215" y="360273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이슈·불만 맥락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7215" y="393192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불만 · 긴급도 · 처리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1713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470001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위험과 다음 행동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02920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만료 · 지연 · 추천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26815" y="451713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7983" y="470001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문서 지식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7983" y="502920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원문 추출 · 요약 · RAG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6431" y="4517136"/>
            <a:ext cx="2668447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7599" y="4700016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2222"/>
                </a:solidFill>
                <a:latin typeface="Pretendard"/>
              </a:rPr>
              <a:t>판단의 책임·이력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7599" y="5029200"/>
            <a:ext cx="2266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작성자 · revision · 승인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66047" y="4517136"/>
            <a:ext cx="2668447" cy="9144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1456F0"/>
              </a:gs>
              <a:gs pos="50000">
                <a:srgbClr val="3B82F6"/>
              </a:gs>
              <a:gs pos="100000">
                <a:srgbClr val="60A5FA"/>
              </a:gs>
            </a:gsLst>
            <a:lin scaled="0" ang="18900000"/>
          </a:gradFill>
          <a:ln>
            <a:noFill/>
          </a:ln>
          <a:effectLst>
            <a:outerShdw blurRad="190500" dist="0" dir="5400000" rotWithShape="0">
              <a:srgbClr val="2C1E74">
                <a:alpha val="1607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4647" y="4700016"/>
            <a:ext cx="221124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</a:rPr>
              <a:t>AI는 구조화 · 요약 · 제안까지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1250" b="1">
                <a:solidFill>
                  <a:srgbClr val="BFDBFE"/>
                </a:solidFill>
                <a:latin typeface="Pretendard"/>
              </a:rPr>
              <a:t>확정은 사람의 승인으로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Pretendard Medium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C9D3E0"/>
                </a:solidFill>
                <a:latin typeface="Pretendard Medium"/>
              </a:rPr>
              <a:t>감사합니다 · Thank You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부록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backend/app/models/ (develop, 2026-09-17)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모든 데이터는 딜을 중심으로 연결된다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핵심 20개 엔티티 요약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602736"/>
            <a:ext cx="3044952" cy="777240"/>
          </a:xfrm>
          <a:prstGeom prst="roundRect">
            <a:avLst>
              <a:gd name="adj" fmla="val 15294"/>
            </a:avLst>
          </a:prstGeom>
          <a:solidFill>
            <a:srgbClr val="1456F0"/>
          </a:solidFill>
          <a:ln>
            <a:noFill/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retendard"/>
              </a:rPr>
              <a:t>sales_deal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BFDBFE"/>
                </a:solidFill>
                <a:latin typeface="Pretendard"/>
              </a:rPr>
              <a:t>영업 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3236976"/>
            <a:ext cx="0" cy="173736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87000" y="3236976"/>
            <a:ext cx="0" cy="173736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31720" y="3991356"/>
            <a:ext cx="2240280" cy="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6952" y="3991356"/>
            <a:ext cx="2670048" cy="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09359" y="3236976"/>
            <a:ext cx="0" cy="36576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09359" y="4379976"/>
            <a:ext cx="0" cy="594360"/>
          </a:xfrm>
          <a:prstGeom prst="line">
            <a:avLst/>
          </a:prstGeom>
          <a:ln w="1524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2276856"/>
            <a:ext cx="3749039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41448"/>
            <a:ext cx="3346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조직 · 권한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752344"/>
            <a:ext cx="3346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team · member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276856"/>
            <a:ext cx="3749039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7" y="2441448"/>
            <a:ext cx="3346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고객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2752344"/>
            <a:ext cx="3346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customer_company · customer_contact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276856"/>
            <a:ext cx="3749039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2441448"/>
            <a:ext cx="3346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영업 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2752344"/>
            <a:ext cx="3346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sales_pipeline(+stage) · product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sales_deal_item · purchase_order(+item)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74336"/>
            <a:ext cx="3749039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138927"/>
            <a:ext cx="3346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활동 · 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449823"/>
            <a:ext cx="3346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activity · report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report_deal · report_submission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4974336"/>
            <a:ext cx="3749039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7" y="5138927"/>
            <a:ext cx="3346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AI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7" y="5449823"/>
            <a:ext cx="3346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agent_run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contract_next_meeting_suggestion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4974336"/>
            <a:ext cx="3749039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76200" dist="50800" dir="5400000" rotWithShape="0">
              <a:srgbClr val="000000">
                <a:alpha val="7843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5138927"/>
            <a:ext cx="3346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Pretendard"/>
              </a:rPr>
              <a:t>문서 · C/S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5449823"/>
            <a:ext cx="3346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document · file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050">
                <a:solidFill>
                  <a:srgbClr val="45515E"/>
                </a:solidFill>
                <a:latin typeface="Pretendard"/>
              </a:rPr>
              <a:t>document_chunk · support_request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E8E93"/>
                </a:solidFill>
                <a:latin typeface="Pretendard SemiBold"/>
              </a:rPr>
              <a:t>부록</a:t>
            </a:r>
          </a:p>
        </p:txBody>
      </p:sp>
      <p:pic>
        <p:nvPicPr>
          <p:cNvPr id="3" name="Picture 2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663" y="402336"/>
            <a:ext cx="941832" cy="219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8E8E93"/>
                </a:solidFill>
                <a:latin typeface="Pretendard Medium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4895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E8E93"/>
                </a:solidFill>
                <a:latin typeface="Pretendard"/>
              </a:rPr>
              <a:t>출처: 프로젝트 WBS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180015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22222"/>
                </a:solidFill>
                <a:latin typeface="Pretendard"/>
              </a:rPr>
              <a:t>7주 동안 기획에서 배포 검증까지 진행했다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10180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Medium"/>
              </a:rPr>
              <a:t>주차별 주요 작업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4343" y="4059935"/>
            <a:ext cx="9823008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02047" y="3977639"/>
            <a:ext cx="164592" cy="164592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74135"/>
            <a:ext cx="14542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1주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79975"/>
            <a:ext cx="14542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요구사항 분석 · 기획</a:t>
            </a:r>
          </a:p>
        </p:txBody>
      </p:sp>
      <p:sp>
        <p:nvSpPr>
          <p:cNvPr id="12" name="Oval 11"/>
          <p:cNvSpPr/>
          <p:nvPr/>
        </p:nvSpPr>
        <p:spPr>
          <a:xfrm>
            <a:off x="2739215" y="3977639"/>
            <a:ext cx="164592" cy="164592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4367" y="3374135"/>
            <a:ext cx="14542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2주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4367" y="4379975"/>
            <a:ext cx="14542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DB 기반 구축 · 화면 설계</a:t>
            </a:r>
          </a:p>
        </p:txBody>
      </p:sp>
      <p:sp>
        <p:nvSpPr>
          <p:cNvPr id="15" name="Oval 14"/>
          <p:cNvSpPr/>
          <p:nvPr/>
        </p:nvSpPr>
        <p:spPr>
          <a:xfrm>
            <a:off x="4376383" y="3977639"/>
            <a:ext cx="164592" cy="164592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1535" y="3374135"/>
            <a:ext cx="14542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3주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1535" y="4379975"/>
            <a:ext cx="14542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FE/BE 개발 · 중간 발표</a:t>
            </a:r>
          </a:p>
        </p:txBody>
      </p:sp>
      <p:sp>
        <p:nvSpPr>
          <p:cNvPr id="18" name="Oval 17"/>
          <p:cNvSpPr/>
          <p:nvPr/>
        </p:nvSpPr>
        <p:spPr>
          <a:xfrm>
            <a:off x="6013551" y="3977639"/>
            <a:ext cx="164592" cy="164592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8703" y="3374135"/>
            <a:ext cx="14542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4주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8703" y="4379975"/>
            <a:ext cx="14542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데이터 전처리 · AI 모델링</a:t>
            </a:r>
          </a:p>
        </p:txBody>
      </p:sp>
      <p:sp>
        <p:nvSpPr>
          <p:cNvPr id="21" name="Oval 20"/>
          <p:cNvSpPr/>
          <p:nvPr/>
        </p:nvSpPr>
        <p:spPr>
          <a:xfrm>
            <a:off x="7650719" y="3977639"/>
            <a:ext cx="164592" cy="164592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5871" y="3374135"/>
            <a:ext cx="14542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5주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5871" y="4379975"/>
            <a:ext cx="14542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모델 평가 · 기능 통합</a:t>
            </a:r>
          </a:p>
        </p:txBody>
      </p:sp>
      <p:sp>
        <p:nvSpPr>
          <p:cNvPr id="24" name="Oval 23"/>
          <p:cNvSpPr/>
          <p:nvPr/>
        </p:nvSpPr>
        <p:spPr>
          <a:xfrm>
            <a:off x="9287887" y="3977639"/>
            <a:ext cx="164592" cy="164592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3039" y="3374135"/>
            <a:ext cx="14542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6주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3039" y="4379975"/>
            <a:ext cx="14542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통합 테스트 · 배포 검증</a:t>
            </a:r>
          </a:p>
        </p:txBody>
      </p:sp>
      <p:sp>
        <p:nvSpPr>
          <p:cNvPr id="27" name="Oval 26"/>
          <p:cNvSpPr/>
          <p:nvPr/>
        </p:nvSpPr>
        <p:spPr>
          <a:xfrm>
            <a:off x="10925055" y="3977639"/>
            <a:ext cx="164592" cy="164592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0207" y="3374135"/>
            <a:ext cx="14542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2222"/>
                </a:solidFill>
                <a:latin typeface="Pretendard"/>
              </a:rPr>
              <a:t>7주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0207" y="4379975"/>
            <a:ext cx="145428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5515E"/>
                </a:solidFill>
                <a:latin typeface="Pretendard"/>
              </a:rPr>
              <a:t>산출물 검수 · 최종 발표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