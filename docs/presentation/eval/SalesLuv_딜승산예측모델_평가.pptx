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Malgun Gothic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Malgun Gothic"/>
              </a:rPr>
              <a:t>① Brier — 낮을수록 좋음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Brier</c:v>
                </c:pt>
              </c:strCache>
            </c:strRef>
          </c:tx>
          <c:spPr>
            <a:solidFill>
              <a:srgbClr val="A7B6D6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C2333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7B6D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7B6D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7B6D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7B6D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7B6D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A7B6D6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RF 튜닝</c:v>
                  </c:pt>
                  <c:pt idx="1">
                    <c:v>LogisticRegression</c:v>
                  </c:pt>
                  <c:pt idx="2">
                    <c:v>ExtraTrees</c:v>
                  </c:pt>
                  <c:pt idx="3">
                    <c:v>CatBoost</c:v>
                  </c:pt>
                  <c:pt idx="4">
                    <c:v>Voting 3종</c:v>
                  </c:pt>
                  <c:pt idx="5">
                    <c:v>Voting 4종</c:v>
                  </c:pt>
                  <c:pt idx="6">
                    <c:v>Stacking_LR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0.1902</c:v>
                </c:pt>
                <c:pt idx="1">
                  <c:v>0.19053</c:v>
                </c:pt>
                <c:pt idx="2">
                  <c:v>0.18999</c:v>
                </c:pt>
                <c:pt idx="3">
                  <c:v>0.1906</c:v>
                </c:pt>
                <c:pt idx="4">
                  <c:v>0.1885</c:v>
                </c:pt>
                <c:pt idx="5">
                  <c:v>0.18846</c:v>
                </c:pt>
                <c:pt idx="6">
                  <c:v>0.18797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1000" u="none">
                  <a:solidFill>
                    <a:srgbClr val="1C2333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C2333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192"/>
          <c:min val="0.185"/>
        </c:scaling>
        <c:delete val="0"/>
        <c:axPos val="b"/>
        <c:majorGridlines>
          <c:spPr>
            <a:ln w="12700" cap="flat">
              <a:solidFill>
                <a:srgbClr val="E3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B7F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Malgun Gothic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Malgun Gothic"/>
              </a:rPr>
              <a:t>② FP — 낮을수록 좋음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FP</c:v>
                </c:pt>
              </c:strCache>
            </c:strRef>
          </c:tx>
          <c:spPr>
            <a:solidFill>
              <a:srgbClr val="A7B6D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C2333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7B6D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575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7B6D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7B6D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7B6D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A7B6D6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RF 튜닝</c:v>
                  </c:pt>
                  <c:pt idx="1">
                    <c:v>LogisticRegression</c:v>
                  </c:pt>
                  <c:pt idx="2">
                    <c:v>ExtraTrees</c:v>
                  </c:pt>
                  <c:pt idx="3">
                    <c:v>CatBoost</c:v>
                  </c:pt>
                  <c:pt idx="4">
                    <c:v>Voting 3종</c:v>
                  </c:pt>
                  <c:pt idx="5">
                    <c:v>Voting 4종</c:v>
                  </c:pt>
                  <c:pt idx="6">
                    <c:v>Stacking_LR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16.77</c:v>
                </c:pt>
                <c:pt idx="1">
                  <c:v>16.09</c:v>
                </c:pt>
                <c:pt idx="2">
                  <c:v>16.68</c:v>
                </c:pt>
                <c:pt idx="3">
                  <c:v>16.54</c:v>
                </c:pt>
                <c:pt idx="4">
                  <c:v>16.41</c:v>
                </c:pt>
                <c:pt idx="5">
                  <c:v>16.42</c:v>
                </c:pt>
                <c:pt idx="6">
                  <c:v>16.15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C2333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C2333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7.2"/>
          <c:min val="15.5"/>
        </c:scaling>
        <c:delete val="0"/>
        <c:axPos val="b"/>
        <c:majorGridlines>
          <c:spPr>
            <a:ln w="12700" cap="flat">
              <a:solidFill>
                <a:srgbClr val="E3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F6B7F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Salvirt B2B Sales Dataset, 448행 22개 입력 중 13개를 선택했습니다. Won 227 : Lost 221 로 거의 균형입니다. 4,480행은 독립된 데이터가 아니라 같은 448건의 결측 변형입니다.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13개 × 30% = 3.9 를 반올림해 4개로 정했습니다. 원본에 이미 빈 값이 있으면 인정하고 부족분만 추가했습니다. 정답 Status 는 어디를 가릴지 정하는 데 쓰지 않았습니다. 448 × 10세트 = 4,480행이며, 실제 추론에서는 임의로 지우지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하이퍼파라미터는 Train 내부 5-Fold 의 Brier 로 골랐고, 후보 비교에서는 FP 와 FPR 을 함께 봤습니다. 다만 FP 만 0 으로 만드는 건 목표가 아닙니다. 모두 Lost 로 예측하면 FP 는 사라지지만 실제 Won 을 전부 놓칩니다. 그래서 임계값은 0.50 으로 고정했습니다.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논문 자체 성적 78.2% / AUC 0.85 는 22개 입력 기준입니다. 우리는 13개 입력에 결측과 그룹 분리를 더한 더 어려운 조건이라 논문 점수와 직접 우열을 비교하지 않고, 같은 조건의 자체 기준선과 비교했습니다.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FP 만 보면 LogisticRegression 이 16.09 로 가장 낮지만 Brier·Accuracy·AUC 가 모두 낮아 제외했습니다. 튜닝 RF 대비 Brier·Accuracy·AUC·FP·FPR 이 하나도 나빠지지 않은 후보 셋 중에서 Brier 가 가장 낮은 Stacking_LR 을 골랐습니다.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DATASET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84124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데이터 448건, 13개 항목으로 평가했다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46304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Salvirt B2B Sales Dataset  ·  실제 B2B 영업기회를 익명화한 공개 데이터  ·  Won 227 : Lost 221 로 거의 균형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77240" y="2103120"/>
            <a:ext cx="2468880" cy="1417320"/>
          </a:xfrm>
          <a:prstGeom prst="roundRect">
            <a:avLst>
              <a:gd name="adj" fmla="val 709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52400" dist="25400" dir="5400000">
              <a:srgbClr val="1E2761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051560" y="234086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448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98094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딜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74720" y="2103120"/>
            <a:ext cx="2468880" cy="1417320"/>
          </a:xfrm>
          <a:prstGeom prst="roundRect">
            <a:avLst>
              <a:gd name="adj" fmla="val 7097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52400" dist="25400" dir="5400000">
              <a:srgbClr val="1E2761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749040" y="234086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749040" y="298094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항목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72200" y="2103120"/>
            <a:ext cx="2468880" cy="1417320"/>
          </a:xfrm>
          <a:prstGeom prst="roundRect">
            <a:avLst>
              <a:gd name="adj" fmla="val 7097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52400" dist="25400" dir="5400000">
              <a:srgbClr val="1E2761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46520" y="234086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4,480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98094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마스킹 후 학습 행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869680" y="2103120"/>
            <a:ext cx="2468880" cy="1417320"/>
          </a:xfrm>
          <a:prstGeom prst="roundRect">
            <a:avLst>
              <a:gd name="adj" fmla="val 7097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52400" dist="25400" dir="5400000">
              <a:srgbClr val="1E2761">
                <a:alpha val="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144000" y="234086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30회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0" y="298094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F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분할 평가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77240" y="3794760"/>
            <a:ext cx="5166360" cy="2286000"/>
          </a:xfrm>
          <a:prstGeom prst="roundRect">
            <a:avLst>
              <a:gd name="adj" fmla="val 4400"/>
            </a:avLst>
          </a:prstGeom>
          <a:solidFill>
            <a:srgbClr val="F5F7FB"/>
          </a:solidFill>
          <a:ln/>
          <a:effectLst>
            <a:outerShdw sx="100000" sy="100000" kx="0" ky="0" algn="bl" rotWithShape="0" blurRad="152400" dist="25400" dir="5400000">
              <a:srgbClr val="1E2761">
                <a:alpha val="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1143000" y="409651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22개 중 13개만 골랐다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45262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F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보고서에서 일관되게 뽑을 수 있고, 회사가 달라도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F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의미가 유지되는 항목만 남겼다.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143000" y="53949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예산 확보 · 경쟁사 존재 · 의사결정 권한 · 요구 정의 수준 …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63640" y="3794760"/>
            <a:ext cx="5166360" cy="2286000"/>
          </a:xfrm>
          <a:prstGeom prst="roundRect">
            <a:avLst>
              <a:gd name="adj" fmla="val 4400"/>
            </a:avLst>
          </a:prstGeom>
          <a:solidFill>
            <a:srgbClr val="E3F2F2"/>
          </a:solidFill>
          <a:ln/>
          <a:effectLst>
            <a:outerShdw sx="100000" sy="100000" kx="0" ky="0" algn="bl" rotWithShape="0" blurRad="152400" dist="25400" dir="5400000">
              <a:srgbClr val="1E2761">
                <a:alpha val="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629400" y="409651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외워서 맞히는 길을 막았다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629400" y="45262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F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입력이 완전히 같은 딜을 하나로 묶어, 같은 묶음은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F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Train 과 Test 중 한쪽에만 넣었다.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629400" y="53949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198개 입력 묶음 → Train 158 / Test 40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MASKING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84124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서비스처럼, 값이 비어 있는 상태로 학습시켰다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965960"/>
            <a:ext cx="5166360" cy="1600200"/>
          </a:xfrm>
          <a:prstGeom prst="roundRect">
            <a:avLst>
              <a:gd name="adj" fmla="val 6286"/>
            </a:avLst>
          </a:prstGeom>
          <a:solidFill>
            <a:srgbClr val="FBF0DC"/>
          </a:solidFill>
          <a:ln/>
          <a:effectLst>
            <a:outerShdw sx="100000" sy="100000" kx="0" ky="0" algn="bl" rotWithShape="0" blurRad="152400" dist="25400" dir="5400000">
              <a:srgbClr val="1E2761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143000" y="224028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75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26974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F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미팅 보고서에는 언급되지 않는 항목이 생긴다.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F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13개 중 약 30% 가 비어서 들어올 것으로 봤다.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965960"/>
            <a:ext cx="5166360" cy="1600200"/>
          </a:xfrm>
          <a:prstGeom prst="roundRect">
            <a:avLst>
              <a:gd name="adj" fmla="val 6286"/>
            </a:avLst>
          </a:prstGeom>
          <a:solidFill>
            <a:srgbClr val="E3F2F2"/>
          </a:solidFill>
          <a:ln/>
          <a:effectLst>
            <a:outerShdw sx="100000" sy="100000" kx="0" ky="0" algn="bl" rotWithShape="0" blurRad="152400" dist="25400" dir="5400000">
              <a:srgbClr val="1E2761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629400" y="224028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좋은 점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269748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F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번의 운에 성능이 휘둘리지 않고, 정보가 일부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F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없어도 같은 판단을 하는지 확인할 수 있다.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3840480"/>
            <a:ext cx="10652760" cy="2423160"/>
          </a:xfrm>
          <a:prstGeom prst="roundRect">
            <a:avLst>
              <a:gd name="adj" fmla="val 4151"/>
            </a:avLst>
          </a:prstGeom>
          <a:solidFill>
            <a:srgbClr val="F5F7FB"/>
          </a:solidFill>
          <a:ln/>
          <a:effectLst>
            <a:outerShdw sx="100000" sy="100000" kx="0" ky="0" algn="bl" rotWithShape="0" blurRad="152400" dist="25400" dir="5400000">
              <a:srgbClr val="1E2761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1143000" y="4114800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— 행마다 Unknown 을 4개로 맞춘다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62686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원래 비어 있지 않은 행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343400" y="4645152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D7DEEA"/>
          </a:solidFill>
          <a:ln/>
        </p:spPr>
      </p:sp>
      <p:sp>
        <p:nvSpPr>
          <p:cNvPr id="14" name="Shape 12"/>
          <p:cNvSpPr/>
          <p:nvPr/>
        </p:nvSpPr>
        <p:spPr>
          <a:xfrm>
            <a:off x="4636008" y="4645152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1E2761"/>
          </a:solidFill>
          <a:ln/>
        </p:spPr>
      </p:sp>
      <p:sp>
        <p:nvSpPr>
          <p:cNvPr id="15" name="Shape 13"/>
          <p:cNvSpPr/>
          <p:nvPr/>
        </p:nvSpPr>
        <p:spPr>
          <a:xfrm>
            <a:off x="4928616" y="4645152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D7DEEA"/>
          </a:solidFill>
          <a:ln/>
        </p:spPr>
      </p:sp>
      <p:sp>
        <p:nvSpPr>
          <p:cNvPr id="16" name="Shape 14"/>
          <p:cNvSpPr/>
          <p:nvPr/>
        </p:nvSpPr>
        <p:spPr>
          <a:xfrm>
            <a:off x="5221224" y="4645152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D7DEEA"/>
          </a:solidFill>
          <a:ln/>
        </p:spPr>
      </p:sp>
      <p:sp>
        <p:nvSpPr>
          <p:cNvPr id="17" name="Shape 15"/>
          <p:cNvSpPr/>
          <p:nvPr/>
        </p:nvSpPr>
        <p:spPr>
          <a:xfrm>
            <a:off x="5513832" y="4645152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1E2761"/>
          </a:solidFill>
          <a:ln/>
        </p:spPr>
      </p:sp>
      <p:sp>
        <p:nvSpPr>
          <p:cNvPr id="18" name="Shape 16"/>
          <p:cNvSpPr/>
          <p:nvPr/>
        </p:nvSpPr>
        <p:spPr>
          <a:xfrm>
            <a:off x="5806440" y="4645152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D7DEEA"/>
          </a:solidFill>
          <a:ln/>
        </p:spPr>
      </p:sp>
      <p:sp>
        <p:nvSpPr>
          <p:cNvPr id="19" name="Shape 17"/>
          <p:cNvSpPr/>
          <p:nvPr/>
        </p:nvSpPr>
        <p:spPr>
          <a:xfrm>
            <a:off x="6099048" y="4645152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D7DEE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91656" y="4645152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D7DEEA"/>
          </a:solidFill>
          <a:ln/>
        </p:spPr>
      </p:sp>
      <p:sp>
        <p:nvSpPr>
          <p:cNvPr id="21" name="Shape 19"/>
          <p:cNvSpPr/>
          <p:nvPr/>
        </p:nvSpPr>
        <p:spPr>
          <a:xfrm>
            <a:off x="6684264" y="4645152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1E2761"/>
          </a:solidFill>
          <a:ln/>
        </p:spPr>
      </p:sp>
      <p:sp>
        <p:nvSpPr>
          <p:cNvPr id="22" name="Shape 20"/>
          <p:cNvSpPr/>
          <p:nvPr/>
        </p:nvSpPr>
        <p:spPr>
          <a:xfrm>
            <a:off x="6976872" y="4645152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D7DEEA"/>
          </a:solidFill>
          <a:ln/>
        </p:spPr>
      </p:sp>
      <p:sp>
        <p:nvSpPr>
          <p:cNvPr id="23" name="Shape 21"/>
          <p:cNvSpPr/>
          <p:nvPr/>
        </p:nvSpPr>
        <p:spPr>
          <a:xfrm>
            <a:off x="7269480" y="4645152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D7DEEA"/>
          </a:solidFill>
          <a:ln/>
        </p:spPr>
      </p:sp>
      <p:sp>
        <p:nvSpPr>
          <p:cNvPr id="24" name="Shape 22"/>
          <p:cNvSpPr/>
          <p:nvPr/>
        </p:nvSpPr>
        <p:spPr>
          <a:xfrm>
            <a:off x="7562088" y="4645152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1E2761"/>
          </a:solidFill>
          <a:ln/>
        </p:spPr>
      </p:sp>
      <p:sp>
        <p:nvSpPr>
          <p:cNvPr id="25" name="Shape 23"/>
          <p:cNvSpPr/>
          <p:nvPr/>
        </p:nvSpPr>
        <p:spPr>
          <a:xfrm>
            <a:off x="7854696" y="4645152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D7DEE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75320" y="46268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4개를 가린다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143000" y="51023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원래 2개가 비어 있는 행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343400" y="5120640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D7DEEA"/>
          </a:solidFill>
          <a:ln/>
        </p:spPr>
      </p:sp>
      <p:sp>
        <p:nvSpPr>
          <p:cNvPr id="29" name="Shape 27"/>
          <p:cNvSpPr/>
          <p:nvPr/>
        </p:nvSpPr>
        <p:spPr>
          <a:xfrm>
            <a:off x="4636008" y="5120640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D7DEEA"/>
          </a:solidFill>
          <a:ln/>
        </p:spPr>
      </p:sp>
      <p:sp>
        <p:nvSpPr>
          <p:cNvPr id="30" name="Shape 28"/>
          <p:cNvSpPr/>
          <p:nvPr/>
        </p:nvSpPr>
        <p:spPr>
          <a:xfrm>
            <a:off x="4928616" y="5120640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B5750B"/>
          </a:solidFill>
          <a:ln/>
        </p:spPr>
      </p:sp>
      <p:sp>
        <p:nvSpPr>
          <p:cNvPr id="31" name="Shape 29"/>
          <p:cNvSpPr/>
          <p:nvPr/>
        </p:nvSpPr>
        <p:spPr>
          <a:xfrm>
            <a:off x="5221224" y="5120640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D7DEEA"/>
          </a:solidFill>
          <a:ln/>
        </p:spPr>
      </p:sp>
      <p:sp>
        <p:nvSpPr>
          <p:cNvPr id="32" name="Shape 30"/>
          <p:cNvSpPr/>
          <p:nvPr/>
        </p:nvSpPr>
        <p:spPr>
          <a:xfrm>
            <a:off x="5513832" y="5120640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D7DEEA"/>
          </a:solidFill>
          <a:ln/>
        </p:spPr>
      </p:sp>
      <p:sp>
        <p:nvSpPr>
          <p:cNvPr id="33" name="Shape 31"/>
          <p:cNvSpPr/>
          <p:nvPr/>
        </p:nvSpPr>
        <p:spPr>
          <a:xfrm>
            <a:off x="5806440" y="5120640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1E2761"/>
          </a:solidFill>
          <a:ln/>
        </p:spPr>
      </p:sp>
      <p:sp>
        <p:nvSpPr>
          <p:cNvPr id="34" name="Shape 32"/>
          <p:cNvSpPr/>
          <p:nvPr/>
        </p:nvSpPr>
        <p:spPr>
          <a:xfrm>
            <a:off x="6099048" y="5120640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D7DEEA"/>
          </a:solidFill>
          <a:ln/>
        </p:spPr>
      </p:sp>
      <p:sp>
        <p:nvSpPr>
          <p:cNvPr id="35" name="Shape 33"/>
          <p:cNvSpPr/>
          <p:nvPr/>
        </p:nvSpPr>
        <p:spPr>
          <a:xfrm>
            <a:off x="6391656" y="5120640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D7DEEA"/>
          </a:solidFill>
          <a:ln/>
        </p:spPr>
      </p:sp>
      <p:sp>
        <p:nvSpPr>
          <p:cNvPr id="36" name="Shape 34"/>
          <p:cNvSpPr/>
          <p:nvPr/>
        </p:nvSpPr>
        <p:spPr>
          <a:xfrm>
            <a:off x="6684264" y="5120640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D7DEEA"/>
          </a:solidFill>
          <a:ln/>
        </p:spPr>
      </p:sp>
      <p:sp>
        <p:nvSpPr>
          <p:cNvPr id="37" name="Shape 35"/>
          <p:cNvSpPr/>
          <p:nvPr/>
        </p:nvSpPr>
        <p:spPr>
          <a:xfrm>
            <a:off x="6976872" y="5120640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B5750B"/>
          </a:solidFill>
          <a:ln/>
        </p:spPr>
      </p:sp>
      <p:sp>
        <p:nvSpPr>
          <p:cNvPr id="38" name="Shape 36"/>
          <p:cNvSpPr/>
          <p:nvPr/>
        </p:nvSpPr>
        <p:spPr>
          <a:xfrm>
            <a:off x="7269480" y="5120640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D7DEEA"/>
          </a:solidFill>
          <a:ln/>
        </p:spPr>
      </p:sp>
      <p:sp>
        <p:nvSpPr>
          <p:cNvPr id="39" name="Shape 37"/>
          <p:cNvSpPr/>
          <p:nvPr/>
        </p:nvSpPr>
        <p:spPr>
          <a:xfrm>
            <a:off x="7562088" y="5120640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D7DEEA"/>
          </a:solidFill>
          <a:ln/>
        </p:spPr>
      </p:sp>
      <p:sp>
        <p:nvSpPr>
          <p:cNvPr id="40" name="Shape 38"/>
          <p:cNvSpPr/>
          <p:nvPr/>
        </p:nvSpPr>
        <p:spPr>
          <a:xfrm>
            <a:off x="7854696" y="5120640"/>
            <a:ext cx="246888" cy="246888"/>
          </a:xfrm>
          <a:prstGeom prst="roundRect">
            <a:avLst>
              <a:gd name="adj" fmla="val 18519"/>
            </a:avLst>
          </a:prstGeom>
          <a:solidFill>
            <a:srgbClr val="1E2761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275320" y="5102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2개만 더 가린다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343400" y="5605272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D7DEEA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4599432" y="556869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값 있음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897880" y="5605272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B5750B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6153912" y="556869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원래 빈 값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452360" y="5605272"/>
            <a:ext cx="182880" cy="182880"/>
          </a:xfrm>
          <a:prstGeom prst="roundRect">
            <a:avLst>
              <a:gd name="adj" fmla="val 20000"/>
            </a:avLst>
          </a:prstGeom>
          <a:solidFill>
            <a:srgbClr val="1E2761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7708392" y="556869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가린 값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1143000" y="5440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448건 × 10세트 = 4,480행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1143000" y="570585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데이터가 아니라 같은 448건을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결측 상황으로 본 것이다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CRITERIA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84124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정확도가 아니라 Brier 와 FP 로 골랐다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965960"/>
            <a:ext cx="5166360" cy="3566160"/>
          </a:xfrm>
          <a:prstGeom prst="roundRect">
            <a:avLst>
              <a:gd name="adj" fmla="val 2821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52400" dist="25400" dir="5400000">
              <a:srgbClr val="1E2761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143000" y="22402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①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2514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Brier — 확률이 정직한가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3035808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F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0.51 도 0.99 도 같은 Won 이지만 확신은 다르다.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F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점수를 딜 우선순위에 쓰기 때문에, 틀린 판단을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F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얼마나 확신했는지까지 본다.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41148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실제로는 Lost 인 딜에 Won 확률을 줬다면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143000" y="4434840"/>
            <a:ext cx="21488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307592" y="4434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0.9 로 예측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2286000" y="443484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75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오차 0.81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474720" y="4434840"/>
            <a:ext cx="214884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39312" y="4434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0.6 로 예측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443484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오차 0.36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63640" y="1965960"/>
            <a:ext cx="5166360" cy="3566160"/>
          </a:xfrm>
          <a:prstGeom prst="roundRect">
            <a:avLst>
              <a:gd name="adj" fmla="val 2821"/>
            </a:avLst>
          </a:prstGeom>
          <a:solidFill>
            <a:srgbClr val="FBF0DC"/>
          </a:solidFill>
          <a:ln/>
          <a:effectLst>
            <a:outerShdw sx="100000" sy="100000" kx="0" ky="0" algn="bl" rotWithShape="0" blurRad="152400" dist="25400" dir="5400000">
              <a:srgbClr val="1E2761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629400" y="224028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B575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②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629400" y="2514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575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FP — 가장 위험한 오류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6629400" y="3035808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F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위험한 딜을 “잘될 것”으로 표시하는 오류다.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F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영업이 위험 신호를 놓치고, 예상 매출이 부풀고,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F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반복되면 승률 자체를 믿지 않게 된다.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629400" y="4224528"/>
            <a:ext cx="44348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58000" y="435254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575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낮추는 데 집중했다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858000" y="46451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반대쪽 오류인 FN 은 확인 과정에서 되돌릴 여지가 크다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56692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F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Accuracy · ROC-AUC · Precision · Recall 은 보조로만 확인했다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5F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설정은 Train 안에서만 골랐고, Test 는 선택에 쓰지 않았다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BASELINE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84124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논문의 RandomForest 에서 출발했다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965960"/>
            <a:ext cx="10652760" cy="1051560"/>
          </a:xfrm>
          <a:prstGeom prst="roundRect">
            <a:avLst>
              <a:gd name="adj" fmla="val 9565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52400" dist="25400" dir="5400000">
              <a:srgbClr val="1E2761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143000" y="2176272"/>
            <a:ext cx="9875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Salvirt 데이터를 쓴 선행 연구에서 가장 성적이 좋았던 모델을 기준 모델로 삼았다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254203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Bohanec 외 (2017)  ·  Accuracy 78.2%  ·  AUC 0.85  —  같은 RF 계열을 우리 입력 조건에서 다시 학습해 기준선으로 고정했다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77240" y="3200400"/>
            <a:ext cx="3383280" cy="1280160"/>
          </a:xfrm>
          <a:prstGeom prst="roundRect">
            <a:avLst>
              <a:gd name="adj" fmla="val 7857"/>
            </a:avLst>
          </a:prstGeom>
          <a:solidFill>
            <a:srgbClr val="F5F7FB"/>
          </a:solidFill>
          <a:ln/>
          <a:effectLst>
            <a:outerShdw sx="100000" sy="100000" kx="0" ky="0" algn="bl" rotWithShape="0" blurRad="152400" dist="25400" dir="5400000">
              <a:srgbClr val="1E2761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1051560" y="336499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F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RF 기준선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378561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Acc  69.58%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41148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Brier  0.2097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178808" y="370332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434840" y="3200400"/>
            <a:ext cx="3383280" cy="1280160"/>
          </a:xfrm>
          <a:prstGeom prst="roundRect">
            <a:avLst>
              <a:gd name="adj" fmla="val 7857"/>
            </a:avLst>
          </a:prstGeom>
          <a:solidFill>
            <a:srgbClr val="E3F2F2"/>
          </a:solidFill>
          <a:ln/>
          <a:effectLst>
            <a:outerShdw sx="100000" sy="100000" kx="0" ky="0" algn="bl" rotWithShape="0" blurRad="152400" dist="25400" dir="5400000">
              <a:srgbClr val="1E2761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709160" y="336499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RF 튜닝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378561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Acc  73.38%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41148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Brier  0.1902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836408" y="3703320"/>
            <a:ext cx="237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92440" y="3200400"/>
            <a:ext cx="3383280" cy="1280160"/>
          </a:xfrm>
          <a:prstGeom prst="roundRect">
            <a:avLst>
              <a:gd name="adj" fmla="val 7857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52400" dist="25400" dir="5400000">
              <a:srgbClr val="1E2761">
                <a:alpha val="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8366760" y="336499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Stacking_LR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366760" y="378561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Acc  73.60%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8366760" y="41148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Brier  0.1880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77240" y="4846320"/>
            <a:ext cx="3383280" cy="100584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52400" dist="25400" dir="5400000">
              <a:srgbClr val="1E2761">
                <a:alpha val="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1051560" y="497433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Accuracy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1051560" y="5248656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+4.01%p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4434840" y="4846320"/>
            <a:ext cx="3383280" cy="1005840"/>
          </a:xfrm>
          <a:prstGeom prst="roundRect">
            <a:avLst>
              <a:gd name="adj" fmla="val 10000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52400" dist="25400" dir="5400000">
              <a:srgbClr val="1E2761">
                <a:alpha val="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4709160" y="497433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ROC-AUC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4709160" y="5248656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+0.0374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8092440" y="4846320"/>
            <a:ext cx="3383280" cy="1005840"/>
          </a:xfrm>
          <a:prstGeom prst="roundRect">
            <a:avLst>
              <a:gd name="adj" fmla="val 10000"/>
            </a:avLst>
          </a:prstGeom>
          <a:solidFill>
            <a:srgbClr val="EEF3FC"/>
          </a:solidFill>
          <a:ln/>
          <a:effectLst>
            <a:outerShdw sx="100000" sy="100000" kx="0" ky="0" algn="bl" rotWithShape="0" blurRad="152400" dist="25400" dir="5400000">
              <a:srgbClr val="1E2761">
                <a:alpha val="8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8366760" y="497433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Brier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8366760" y="5248656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-0.0217</a:t>
            </a:r>
            <a:endParaRPr lang="en-US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777240" y="4544568"/>
            <a:ext cx="10652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기준선 대비 개선폭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77240" y="5961888"/>
            <a:ext cx="10652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B7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30개 분할 · 10개 마스킹 · 임계값 0.50 을 세 단계에서 그대로 재사용했고, 저장할 모델은 미리 정해 뒀다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5669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8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84124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기준 모두에서 좋은 Stacking_LR 을 골랐다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77240" y="1920240"/>
          <a:ext cx="525780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263640" y="1920240"/>
          <a:ext cx="516636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777240" y="5303520"/>
            <a:ext cx="10652760" cy="1097280"/>
          </a:xfrm>
          <a:prstGeom prst="roundRect">
            <a:avLst>
              <a:gd name="adj" fmla="val 916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52400" dist="25400" dir="5400000">
              <a:srgbClr val="1E2761">
                <a:alpha val="8000"/>
              </a:srgbClr>
            </a:outerShdw>
          </a:effectLst>
        </p:spPr>
      </p:sp>
      <p:sp>
        <p:nvSpPr>
          <p:cNvPr id="7" name="Text 3"/>
          <p:cNvSpPr txBox="1"/>
          <p:nvPr/>
        </p:nvSpPr>
        <p:spPr>
          <a:xfrm>
            <a:off x="1143000" y="5303520"/>
            <a:ext cx="2011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Stacking_LR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3291840" y="530352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Brier 1위 · FP 2위 — 두 기준을 동시에 만족한 유일한 후보다.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정확도 1위는 CatBoost 였지만 Brier 는 꼴찌였다.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딜 승산 예측 모델 평가</dc:title>
  <dc:subject>PptxGenJS Presentation</dc:subject>
  <dc:creator>SalesLuv</dc:creator>
  <cp:lastModifiedBy>SalesLuv</cp:lastModifiedBy>
  <cp:revision>1</cp:revision>
  <dcterms:created xsi:type="dcterms:W3CDTF">2026-09-16T06:40:37Z</dcterms:created>
  <dcterms:modified xsi:type="dcterms:W3CDTF">2026-09-16T06:40:37Z</dcterms:modified>
</cp:coreProperties>
</file>