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 type="screen16x9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대본</a:t>
            </a:r>
          </a:p>
          <a:p>
            <a:r>
              <a:t>개선 여부는 토큰 소모량과 보고서 품질, 두 가지로 판단했습니다. 기존 실행에서는 약 1천만 토큰이 사용됐고, 기간보고서의 구성과 후속업무 정리에도 보완할 부분이 있었습니다. 그래서 반복 호출과 입력 범위를 효율화하면서 보고서 완성도를 높이는 방향으로 개선했습니다.</a:t>
            </a:r>
          </a:p>
          <a:p/>
          <a:p>
            <a:r>
              <a:t>측정 범위</a:t>
            </a:r>
          </a:p>
          <a:p>
            <a:r>
              <a:t>토큰: 전체 53건 실행의 반환 생성 토큰 합계이며 실제 청구 비용이 아닙니다.</a:t>
            </a:r>
          </a:p>
          <a:p>
            <a:r>
              <a:t>품질: 같은 사례끼리 비교한 점수이며, 주간 n=3, 월간 n=1입니다.</a:t>
            </a:r>
          </a:p>
          <a:p>
            <a:r>
              <a:t>53건은 하나의 연결된 합성 업무 시나리오로 독립 표본이 아닙니다.</a:t>
            </a:r>
          </a:p>
          <a:p/>
          <a:p>
            <a:r>
              <a:t>근거</a:t>
            </a:r>
          </a:p>
          <a:p>
            <a:r>
              <a:t>https://github.com/jexists/SKN30-FINAL-1Team-dev/blob/develop/docs/eval/01_보고서작성에이전트/결과/AB_A-vs-B_실행결과.md</a:t>
            </a:r>
          </a:p>
          <a:p>
            <a:r>
              <a:t>근거 문서 blob SHA: 111f9e84780a4a28a524a71b5ded9b43e70bb680</a:t>
            </a:r>
          </a:p>
          <a:p>
            <a:r>
              <a:t>현재 A/B 원자료에서 A의 Deep Agents 도입 전 여부는 검증되지 않았으므로 '일반 Agent 대 Deep Agent 단독 비교'로 표시하지 않았습니다.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대본</a:t>
            </a:r>
          </a:p>
          <a:p>
            <a:r>
              <a:t>보고서 에이전트를 Deep Agents 기반으로 개량했습니다. Supervisor는 작업 위임과 결과 선택을, 유형별 Writer는 작성을, 공통 Reviewer는 검토를 담당합니다. 각 역할이 필요한 작성 지침과 배정 근거를 읽도록 하고, 검토 뒤 지적된 부분만 최대 한 번 수정하도록 정비했습니다. 최종 확인과 확정은 사용자가 합니다.</a:t>
            </a:r>
          </a:p>
          <a:p/>
          <a:p>
            <a:r>
              <a:t>도식 해석</a:t>
            </a:r>
          </a:p>
          <a:p>
            <a:r>
              <a:t>Supervisor는 Writer와 Reviewer에 각각 SDK task로 위임합니다. 가운데 화살표는 초안과 검토의 논리적 흐름을 표현하며, Writer가 Reviewer를 직접 호출한다는 의미가 아닙니다. 초안과 review artifact의 형식·버전·범위 검증 및 조립은 서버 코드가 수행합니다. 최종 사용자 확인은 남아 있습니다.</a:t>
            </a:r>
          </a:p>
          <a:p/>
          <a:p>
            <a:r>
              <a:t>근거</a:t>
            </a:r>
          </a:p>
          <a:p>
            <a:r>
              <a:t>https://github.com/jexists/SKN30-FINAL-1Team-dev/blob/develop/docs/technical/multiagent/미팅_내용분석_보고서작성_에이전트_구조_보고서.md</a:t>
            </a:r>
          </a:p>
          <a:p>
            <a:r>
              <a:t>근거 문서 blob SHA: c36609347a2947ddcc4baf2a17db69e0376c306d</a:t>
            </a:r>
          </a:p>
          <a:p>
            <a:r>
              <a:t>PR #118: https://github.com/jexists/SKN30-FINAL-1Team-dev/pull/118</a:t>
            </a:r>
          </a:p>
          <a:p/>
          <a:p>
            <a:r>
              <a:t>표현 주의</a:t>
            </a:r>
          </a:p>
          <a:p>
            <a:r>
              <a:t>이 슬라이드는 확인된 개선 구조를 요약합니다. 아래 A/B 숫자를 프레임워크 교체만의 인과 효과로 해석하지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대본</a:t>
            </a:r>
          </a:p>
          <a:p>
            <a:r>
              <a:t>기존 실행과 개선 실행을 비교한 결과, 생성 토큰은 54.36% 감소했습니다. 동일 43건의 보고서 종합 품질은 93.23점에서 95.17점으로 1.94점 상승했습니다. 이번 평가에서는 토큰 소모를 절반 이하로 줄이면서 종합 품질도 높였습니다. 다만 이는 작성 지침과 실행 구조를 함께 개선한 결과이며, 사실 정확성 등 일부 항목은 추가 보완이 필요합니다.</a:t>
            </a:r>
          </a:p>
          <a:p/>
          <a:p>
            <a:r>
              <a:t>중요한 측정 조건</a:t>
            </a:r>
          </a:p>
          <a:p>
            <a:r>
              <a:t>1. 토큰은 53건 실행에서 반환된 생성 토큰 합계입니다. LLM Judge 토큰과 별개이며 실제 청구 비용 감소율이 아닙니다.</a:t>
            </a:r>
          </a:p>
          <a:p>
            <a:r>
              <a:t>2. 품질은 동일 43건의 100점 만점 LLM Judge 종합점수입니다. 정답률이나 정확도 백분율이 아닙니다.</a:t>
            </a:r>
          </a:p>
          <a:p>
            <a:r>
              <a:t>3. 보고서 생성 입력은 같은 합성 원천 시나리오에서 시작하지만 상위 보고서는 각 실행의 실제 하위 출력을 받습니다. A/B는 작성 규칙·실행 구조·상위 입력이 함께 달라진 종단간 비교입니다. Deep Agents 프레임워크만의 순수 인과 효과가 아닙니다.</a:t>
            </a:r>
          </a:p>
          <a:p>
            <a:r>
              <a:t>4. 전체 종합점수는 상승했지만 미팅 평균 97.74→96.57, 전체 사실 정확성 항목 3.84→3.74/4점은 하락했습니다.</a:t>
            </a:r>
          </a:p>
          <a:p>
            <a:r>
              <a:t>5. 하나의 연결된 4주 시나리오, 월간 1건이며 통계적 유의성이나 현업 전체 성능을 주장하지 않습니다.</a:t>
            </a:r>
          </a:p>
          <a:p>
            <a:r>
              <a:t>6. A 실행 ID: A-20260907-timeout180. B 실행 ID: B-20260908-attempt02.</a:t>
            </a:r>
          </a:p>
          <a:p/>
          <a:p>
            <a:r>
              <a:t>근거</a:t>
            </a:r>
          </a:p>
          <a:p>
            <a:r>
              <a:t>https://github.com/jexists/SKN30-FINAL-1Team-dev/blob/develop/docs/eval/01_보고서작성에이전트/결과/AB_A-vs-B_실행결과.md</a:t>
            </a:r>
          </a:p>
          <a:p>
            <a:r>
              <a:t>근거 문서 blob SHA: 111f9e84780a4a28a524a71b5ded9b43e70bb680</a:t>
            </a:r>
          </a:p>
          <a:p/>
          <a:p>
            <a:r>
              <a:t>계산</a:t>
            </a:r>
          </a:p>
          <a:p>
            <a:r>
              <a:t>(10,010,770 - 4,568,617) / 10,010,770 * 100 = 54.36% (소수 둘째 자리 반올림)</a:t>
            </a:r>
          </a:p>
          <a:p>
            <a:r>
              <a:t>95.17 - 93.23 = 1.94점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2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hyperlink" Target="https://github.com/jexists/SKN30-FINAL-1Team-dev/blob/develop/docs/eval/01_&#48372;&#44256;&#49436;&#51089;&#49457;&#50640;&#51060;&#51204;&#53944;/&#44208;&#44284;/AB_A-vs-B_&#49892;&#54665;&#44208;&#44284;.md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Relationship Id="rId4" Type="http://schemas.openxmlformats.org/officeDocument/2006/relationships/slide" Target="slide1.xml"/><Relationship Id="rId5" Type="http://schemas.openxmlformats.org/officeDocument/2006/relationships/slide" Target="slide2.xml"/><Relationship Id="rId6" Type="http://schemas.openxmlformats.org/officeDocument/2006/relationships/slide" Target="slide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hyperlink" Target="https://github.com/jexists/SKN30-FINAL-1Team-dev/blob/develop/docs/technical/multiagent/&#48120;&#54021;_&#45236;&#50857;&#48516;&#49437;_&#48372;&#44256;&#49436;&#51089;&#49457;_&#50640;&#51060;&#51204;&#53944;_&#44396;&#51312;_&#48372;&#44256;&#49436;.md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Relationship Id="rId4" Type="http://schemas.openxmlformats.org/officeDocument/2006/relationships/slide" Target="slide1.xml"/><Relationship Id="rId5" Type="http://schemas.openxmlformats.org/officeDocument/2006/relationships/slide" Target="slide2.xml"/><Relationship Id="rId6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hyperlink" Target="https://github.com/jexists/SKN30-FINAL-1Team-dev/blob/develop/docs/eval/01_&#48372;&#44256;&#49436;&#51089;&#49457;&#50640;&#51060;&#51204;&#53944;/&#44208;&#44284;/AB_A-vs-B_&#49892;&#54665;&#44208;&#44284;.md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Relationship Id="rId4" Type="http://schemas.openxmlformats.org/officeDocument/2006/relationships/slide" Target="slide1.xml"/><Relationship Id="rId5" Type="http://schemas.openxmlformats.org/officeDocument/2006/relationships/slide" Target="slide2.xml"/><Relationship Id="rId6" Type="http://schemas.openxmlformats.org/officeDocument/2006/relationships/slide" Target="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1 · SalesLUV"/>
          <p:cNvSpPr/>
          <p:nvPr/>
        </p:nvSpPr>
        <p:spPr>
          <a:xfrm>
            <a:off x="566928" y="256032"/>
            <a:ext cx="1325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ko-KR" sz="1900" b="1" dirty="0">
                <a:solidFill>
                  <a:srgbClr val="1426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</a:t>
            </a:r>
            <a:pPr indent="0" marL="0">
              <a:buNone/>
            </a:pPr>
            <a:r>
              <a:rPr lang="ko-KR" sz="1900" b="1" dirty="0">
                <a:solidFill>
                  <a:srgbClr val="007F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LUV</a:t>
            </a:r>
            <a:endParaRPr lang="en-US" sz="1900" dirty="0"/>
          </a:p>
        </p:txBody>
      </p:sp>
      <p:sp>
        <p:nvSpPr>
          <p:cNvPr id="3" name="01 · REPORT AGENT"/>
          <p:cNvSpPr/>
          <p:nvPr/>
        </p:nvSpPr>
        <p:spPr>
          <a:xfrm>
            <a:off x="2039112" y="28803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ko-KR" sz="1050" b="1" spc="150" kern="0" dirty="0">
                <a:solidFill>
                  <a:srgbClr val="6876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 AGENT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763256" y="242316"/>
            <a:ext cx="1088136" cy="329184"/>
          </a:xfrm>
          <a:prstGeom prst="roundRect">
            <a:avLst>
              <a:gd name="adj" fmla="val 36111"/>
            </a:avLst>
          </a:prstGeom>
          <a:solidFill>
            <a:srgbClr val="142633"/>
          </a:solidFill>
          <a:ln w="12700">
            <a:solidFill>
              <a:srgbClr val="142633"/>
            </a:solidFill>
            <a:prstDash val="solid"/>
          </a:ln>
        </p:spPr>
        <p:txBody>
          <a:bodyPr/>
          <a:p/>
        </p:txBody>
      </p:sp>
      <p:sp>
        <p:nvSpPr>
          <p:cNvPr id="5" name="01 · 01  문제">
            <a:hlinkClick action="ppaction://hlinksldjump" r:id="rId4"/>
          </p:cNvPr>
          <p:cNvSpPr/>
          <p:nvPr/>
        </p:nvSpPr>
        <p:spPr>
          <a:xfrm>
            <a:off x="7781544" y="264262"/>
            <a:ext cx="1051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ko-KR" sz="10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  문제</a:t>
            </a:r>
            <a:endParaRPr lang="en-US" sz="1050" dirty="0"/>
          </a:p>
        </p:txBody>
      </p:sp>
      <p:sp>
        <p:nvSpPr>
          <p:cNvPr id="6" name="01 · 02  구조 변경">
            <a:hlinkClick action="ppaction://hlinksldjump" r:id="rId5"/>
          </p:cNvPr>
          <p:cNvSpPr/>
          <p:nvPr/>
        </p:nvSpPr>
        <p:spPr>
          <a:xfrm>
            <a:off x="9006840" y="264262"/>
            <a:ext cx="12070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ko-KR" sz="1050" b="1" dirty="0">
                <a:solidFill>
                  <a:srgbClr val="6876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  구조 변경</a:t>
            </a:r>
            <a:endParaRPr lang="en-US" sz="1050" dirty="0"/>
          </a:p>
        </p:txBody>
      </p:sp>
      <p:sp>
        <p:nvSpPr>
          <p:cNvPr id="7" name="01 · 03  개선 결과">
            <a:hlinkClick action="ppaction://hlinksldjump" r:id="rId6"/>
          </p:cNvPr>
          <p:cNvSpPr/>
          <p:nvPr/>
        </p:nvSpPr>
        <p:spPr>
          <a:xfrm>
            <a:off x="10442448" y="264262"/>
            <a:ext cx="1207008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ko-KR" sz="1050" b="1" dirty="0">
                <a:solidFill>
                  <a:srgbClr val="6876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  개선사항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66928" y="713232"/>
            <a:ext cx="11055096" cy="0"/>
          </a:xfrm>
          <a:prstGeom prst="line">
            <a:avLst/>
          </a:prstGeom>
          <a:noFill/>
          <a:ln w="10160">
            <a:solidFill>
              <a:srgbClr val="D8DBD3"/>
            </a:solidFill>
            <a:prstDash val="solid"/>
          </a:ln>
        </p:spPr>
        <p:txBody>
          <a:bodyPr/>
          <a:p/>
        </p:txBody>
      </p:sp>
      <p:sp>
        <p:nvSpPr>
          <p:cNvPr id="9" name="01 · 01 / PROBLEM"/>
          <p:cNvSpPr/>
          <p:nvPr/>
        </p:nvSpPr>
        <p:spPr>
          <a:xfrm>
            <a:off x="594360" y="918972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ko-KR" sz="1100" b="1" spc="160" kern="0" dirty="0">
                <a:solidFill>
                  <a:srgbClr val="007F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/ PROBLEM</a:t>
            </a:r>
            <a:endParaRPr lang="en-US" sz="1100" dirty="0"/>
          </a:p>
        </p:txBody>
      </p:sp>
      <p:sp>
        <p:nvSpPr>
          <p:cNvPr id="10" name="01 · 무엇이 문제였나?"/>
          <p:cNvSpPr/>
          <p:nvPr/>
        </p:nvSpPr>
        <p:spPr>
          <a:xfrm>
            <a:off x="557784" y="127558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ko-KR" sz="3400" b="1" dirty="0">
                <a:solidFill>
                  <a:srgbClr val="1426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무엇이 문제였나?</a:t>
            </a:r>
            <a:endParaRPr lang="en-US" sz="3400" dirty="0"/>
          </a:p>
        </p:txBody>
      </p:sp>
      <p:sp>
        <p:nvSpPr>
          <p:cNvPr id="11" name="01 · 토큰 소모를 줄이면서, 보고서 품질도 높여야 했습니다."/>
          <p:cNvSpPr/>
          <p:nvPr/>
        </p:nvSpPr>
        <p:spPr>
          <a:xfrm>
            <a:off x="594360" y="1924812"/>
            <a:ext cx="109728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ko-KR" sz="1800" dirty="0">
                <a:solidFill>
                  <a:srgbClr val="53656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토큰 소모는 줄이고, 보고서 완성도는 높여야 했습니다.</a:t>
            </a:r>
            <a:endParaRPr lang="en-US" sz="1720" dirty="0"/>
          </a:p>
        </p:txBody>
      </p:sp>
      <p:sp>
        <p:nvSpPr>
          <p:cNvPr id="12" name="Shape 10"/>
          <p:cNvSpPr/>
          <p:nvPr/>
        </p:nvSpPr>
        <p:spPr>
          <a:xfrm>
            <a:off x="576072" y="2587752"/>
            <a:ext cx="5404104" cy="2935224"/>
          </a:xfrm>
          <a:prstGeom prst="roundRect">
            <a:avLst>
              <a:gd name="adj" fmla="val 4361"/>
            </a:avLst>
          </a:prstGeom>
          <a:solidFill>
            <a:srgbClr val="FFFFFF"/>
          </a:solidFill>
          <a:ln w="8890">
            <a:solidFill>
              <a:srgbClr val="DCDDD5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199632" y="2587752"/>
            <a:ext cx="5404104" cy="2935224"/>
          </a:xfrm>
          <a:prstGeom prst="roundRect">
            <a:avLst>
              <a:gd name="adj" fmla="val 4361"/>
            </a:avLst>
          </a:prstGeom>
          <a:solidFill>
            <a:srgbClr val="FFFFFF"/>
          </a:solidFill>
          <a:ln w="8890">
            <a:solidFill>
              <a:srgbClr val="DCDDD5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859536" y="2889504"/>
            <a:ext cx="219456" cy="64008"/>
          </a:xfrm>
          <a:prstGeom prst="roundRect">
            <a:avLst>
              <a:gd name="adj" fmla="val 35714"/>
            </a:avLst>
          </a:prstGeom>
          <a:solidFill>
            <a:srgbClr val="007F78"/>
          </a:solidFill>
          <a:ln w="12700">
            <a:solidFill>
              <a:srgbClr val="007F78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1133856" y="2889504"/>
            <a:ext cx="219456" cy="64008"/>
          </a:xfrm>
          <a:prstGeom prst="roundRect">
            <a:avLst>
              <a:gd name="adj" fmla="val 35714"/>
            </a:avLst>
          </a:prstGeom>
          <a:solidFill>
            <a:srgbClr val="007F78"/>
          </a:solidFill>
          <a:ln w="12700">
            <a:solidFill>
              <a:srgbClr val="007F78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859536" y="2980944"/>
            <a:ext cx="219456" cy="64008"/>
          </a:xfrm>
          <a:prstGeom prst="roundRect">
            <a:avLst>
              <a:gd name="adj" fmla="val 35714"/>
            </a:avLst>
          </a:prstGeom>
          <a:solidFill>
            <a:srgbClr val="007F78"/>
          </a:solidFill>
          <a:ln w="12700">
            <a:solidFill>
              <a:srgbClr val="007F78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1133856" y="2980944"/>
            <a:ext cx="219456" cy="64008"/>
          </a:xfrm>
          <a:prstGeom prst="roundRect">
            <a:avLst>
              <a:gd name="adj" fmla="val 35714"/>
            </a:avLst>
          </a:prstGeom>
          <a:solidFill>
            <a:srgbClr val="007F78"/>
          </a:solidFill>
          <a:ln w="12700">
            <a:solidFill>
              <a:srgbClr val="007F78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859536" y="3072384"/>
            <a:ext cx="219456" cy="64008"/>
          </a:xfrm>
          <a:prstGeom prst="roundRect">
            <a:avLst>
              <a:gd name="adj" fmla="val 35714"/>
            </a:avLst>
          </a:prstGeom>
          <a:solidFill>
            <a:srgbClr val="007F78"/>
          </a:solidFill>
          <a:ln w="12700">
            <a:solidFill>
              <a:srgbClr val="007F78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1133856" y="3072384"/>
            <a:ext cx="219456" cy="64008"/>
          </a:xfrm>
          <a:prstGeom prst="roundRect">
            <a:avLst>
              <a:gd name="adj" fmla="val 35714"/>
            </a:avLst>
          </a:prstGeom>
          <a:solidFill>
            <a:srgbClr val="007F78"/>
          </a:solidFill>
          <a:ln w="12700">
            <a:solidFill>
              <a:srgbClr val="007F78"/>
            </a:solidFill>
            <a:prstDash val="solid"/>
          </a:ln>
        </p:spPr>
        <p:txBody>
          <a:bodyPr/>
          <a:p/>
        </p:txBody>
      </p:sp>
      <p:sp>
        <p:nvSpPr>
          <p:cNvPr id="20" name="01 · 토큰 소모량"/>
          <p:cNvSpPr/>
          <p:nvPr/>
        </p:nvSpPr>
        <p:spPr>
          <a:xfrm>
            <a:off x="1554480" y="281635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ko-KR" sz="1900" b="1" dirty="0">
                <a:solidFill>
                  <a:srgbClr val="1426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토큰 소모량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4443984" y="2871216"/>
            <a:ext cx="1225296" cy="274320"/>
          </a:xfrm>
          <a:prstGeom prst="roundRect">
            <a:avLst>
              <a:gd name="adj" fmla="val 36667"/>
            </a:avLst>
          </a:prstGeom>
          <a:solidFill>
            <a:srgbClr val="EFF1EB"/>
          </a:solidFill>
          <a:ln w="12700">
            <a:solidFill>
              <a:srgbClr val="EFF1EB"/>
            </a:solidFill>
            <a:prstDash val="solid"/>
          </a:ln>
        </p:spPr>
        <p:txBody>
          <a:bodyPr/>
          <a:p/>
        </p:txBody>
      </p:sp>
      <p:sp>
        <p:nvSpPr>
          <p:cNvPr id="22" name="01 · 기존 실행 A"/>
          <p:cNvSpPr/>
          <p:nvPr/>
        </p:nvSpPr>
        <p:spPr>
          <a:xfrm>
            <a:off x="4517136" y="2882189"/>
            <a:ext cx="1078992" cy="25237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ko-KR" sz="1100" b="1" dirty="0">
                <a:solidFill>
                  <a:srgbClr val="6876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기존 A</a:t>
            </a:r>
            <a:endParaRPr lang="en-US" sz="1020" dirty="0"/>
          </a:p>
        </p:txBody>
      </p:sp>
      <p:sp>
        <p:nvSpPr>
          <p:cNvPr id="23" name="기존 생성 토큰 합계" descr="기존 실행 A: 전체 53건 실행에서 기록된 반환 생성 토큰 10,010,770개."/>
          <p:cNvSpPr/>
          <p:nvPr/>
        </p:nvSpPr>
        <p:spPr>
          <a:xfrm>
            <a:off x="859536" y="3401568"/>
            <a:ext cx="477316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ko-KR" sz="4400" b="1" spc="-160" kern="0" dirty="0">
                <a:solidFill>
                  <a:srgbClr val="1426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10,010,770</a:t>
            </a:r>
            <a:endParaRPr lang="en-US" sz="4400" dirty="0"/>
          </a:p>
        </p:txBody>
      </p:sp>
      <p:sp>
        <p:nvSpPr>
          <p:cNvPr id="24" name="01 · 생성 토큰 · 전체 53건 실행"/>
          <p:cNvSpPr/>
          <p:nvPr/>
        </p:nvSpPr>
        <p:spPr>
          <a:xfrm>
            <a:off x="896112" y="4105656"/>
            <a:ext cx="4754880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ko-KR" sz="1320" dirty="0">
                <a:solidFill>
                  <a:srgbClr val="6876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생성 토큰 합계 · 전체 53건 실행</a:t>
            </a:r>
            <a:endParaRPr lang="en-US" sz="1250" dirty="0"/>
          </a:p>
        </p:txBody>
      </p:sp>
      <p:sp>
        <p:nvSpPr>
          <p:cNvPr id="25" name="01 · 생성·재시도 과정의 토큰 부담"/>
          <p:cNvSpPr/>
          <p:nvPr/>
        </p:nvSpPr>
        <p:spPr>
          <a:xfrm>
            <a:off x="896112" y="4681728"/>
            <a:ext cx="4736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ko-KR" sz="1800" b="1" dirty="0">
                <a:solidFill>
                  <a:srgbClr val="20354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생성·재시도 과정의 토큰 부담</a:t>
            </a:r>
            <a:endParaRPr lang="en-US" sz="1800" dirty="0"/>
          </a:p>
        </p:txBody>
      </p:sp>
      <p:sp>
        <p:nvSpPr>
          <p:cNvPr id="26" name="01 · 작업별 입력과 반복 호출 범위의 효율화 필요"/>
          <p:cNvSpPr/>
          <p:nvPr/>
        </p:nvSpPr>
        <p:spPr>
          <a:xfrm>
            <a:off x="896112" y="5084064"/>
            <a:ext cx="469087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ko-KR" sz="1400" dirty="0">
                <a:solidFill>
                  <a:srgbClr val="6876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입력 범위와 반복 호출의 효율화 필요</a:t>
            </a:r>
            <a:endParaRPr lang="en-US" sz="1320" dirty="0"/>
          </a:p>
        </p:txBody>
      </p:sp>
      <p:sp>
        <p:nvSpPr>
          <p:cNvPr id="27" name="Shape 25"/>
          <p:cNvSpPr/>
          <p:nvPr/>
        </p:nvSpPr>
        <p:spPr>
          <a:xfrm>
            <a:off x="6510528" y="2862072"/>
            <a:ext cx="338328" cy="384048"/>
          </a:xfrm>
          <a:prstGeom prst="rect">
            <a:avLst/>
          </a:prstGeom>
          <a:solidFill>
            <a:srgbClr val="FFFFFF"/>
          </a:solidFill>
          <a:ln w="16510">
            <a:solidFill>
              <a:srgbClr val="007F78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6583680" y="2953512"/>
            <a:ext cx="182880" cy="0"/>
          </a:xfrm>
          <a:prstGeom prst="line">
            <a:avLst/>
          </a:prstGeom>
          <a:noFill/>
          <a:ln w="13970">
            <a:solidFill>
              <a:srgbClr val="007F78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6583680" y="3040380"/>
            <a:ext cx="182880" cy="0"/>
          </a:xfrm>
          <a:prstGeom prst="line">
            <a:avLst/>
          </a:prstGeom>
          <a:noFill/>
          <a:ln w="13970">
            <a:solidFill>
              <a:srgbClr val="007F78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6583680" y="3127248"/>
            <a:ext cx="182880" cy="0"/>
          </a:xfrm>
          <a:prstGeom prst="line">
            <a:avLst/>
          </a:prstGeom>
          <a:noFill/>
          <a:ln w="13970">
            <a:solidFill>
              <a:srgbClr val="007F78"/>
            </a:solidFill>
            <a:prstDash val="solid"/>
          </a:ln>
        </p:spPr>
        <p:txBody>
          <a:bodyPr/>
          <a:p/>
        </p:txBody>
      </p:sp>
      <p:sp>
        <p:nvSpPr>
          <p:cNvPr id="31" name="01 · 보고서 품질"/>
          <p:cNvSpPr/>
          <p:nvPr/>
        </p:nvSpPr>
        <p:spPr>
          <a:xfrm>
            <a:off x="7077456" y="281635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ko-KR" sz="1900" b="1" dirty="0">
                <a:solidFill>
                  <a:srgbClr val="1426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보고서 품질</a:t>
            </a:r>
            <a:endParaRPr lang="en-US" sz="1900" dirty="0"/>
          </a:p>
        </p:txBody>
      </p:sp>
      <p:sp>
        <p:nvSpPr>
          <p:cNvPr id="32" name="Shape 30"/>
          <p:cNvSpPr/>
          <p:nvPr/>
        </p:nvSpPr>
        <p:spPr>
          <a:xfrm>
            <a:off x="10058400" y="2871216"/>
            <a:ext cx="1216152" cy="274320"/>
          </a:xfrm>
          <a:prstGeom prst="roundRect">
            <a:avLst>
              <a:gd name="adj" fmla="val 36667"/>
            </a:avLst>
          </a:prstGeom>
          <a:solidFill>
            <a:srgbClr val="EFF1EB"/>
          </a:solidFill>
          <a:ln w="12700">
            <a:solidFill>
              <a:srgbClr val="EFF1EB"/>
            </a:solidFill>
            <a:prstDash val="solid"/>
          </a:ln>
        </p:spPr>
        <p:txBody>
          <a:bodyPr/>
          <a:p/>
        </p:txBody>
      </p:sp>
      <p:sp>
        <p:nvSpPr>
          <p:cNvPr id="33" name="01 · 기존 실행 A"/>
          <p:cNvSpPr/>
          <p:nvPr/>
        </p:nvSpPr>
        <p:spPr>
          <a:xfrm>
            <a:off x="10131552" y="2882189"/>
            <a:ext cx="1069848" cy="25237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ko-KR" sz="1100" b="1" dirty="0">
                <a:solidFill>
                  <a:srgbClr val="6876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기존 A</a:t>
            </a:r>
            <a:endParaRPr lang="en-US" sz="1020" dirty="0"/>
          </a:p>
        </p:txBody>
      </p:sp>
      <p:sp>
        <p:nvSpPr>
          <p:cNvPr id="34" name="01 · 기간보고서의 완성도 보완"/>
          <p:cNvSpPr/>
          <p:nvPr/>
        </p:nvSpPr>
        <p:spPr>
          <a:xfrm>
            <a:off x="6501384" y="3493008"/>
            <a:ext cx="4718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ko-KR" sz="2150" b="1" dirty="0">
                <a:solidFill>
                  <a:srgbClr val="1426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기간보고서의 완성도 보완</a:t>
            </a:r>
            <a:endParaRPr lang="en-US" sz="2150" dirty="0"/>
          </a:p>
        </p:txBody>
      </p:sp>
      <p:sp>
        <p:nvSpPr>
          <p:cNvPr id="35" name="01 · 주간"/>
          <p:cNvSpPr/>
          <p:nvPr/>
        </p:nvSpPr>
        <p:spPr>
          <a:xfrm>
            <a:off x="6537960" y="4023360"/>
            <a:ext cx="201168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ko-KR" sz="1220" b="1" dirty="0">
                <a:solidFill>
                  <a:srgbClr val="6876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주간 · 100점 만점</a:t>
            </a:r>
            <a:endParaRPr lang="en-US" sz="1250" dirty="0"/>
          </a:p>
        </p:txBody>
      </p:sp>
      <p:sp>
        <p:nvSpPr>
          <p:cNvPr id="36" name="01 · 월간"/>
          <p:cNvSpPr/>
          <p:nvPr/>
        </p:nvSpPr>
        <p:spPr>
          <a:xfrm>
            <a:off x="9043416" y="4023360"/>
            <a:ext cx="201168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ko-KR" sz="1220" b="1" dirty="0">
                <a:solidFill>
                  <a:srgbClr val="6876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월간 · 100점 만점</a:t>
            </a:r>
            <a:endParaRPr lang="en-US" sz="1250" dirty="0"/>
          </a:p>
        </p:txBody>
      </p:sp>
      <p:sp>
        <p:nvSpPr>
          <p:cNvPr id="37" name="기존 주간 보고서 품질" descr="양쪽 절대평가가 유효한 동일 주간보고서 3건의 LLM Judge 평균 72.50점 / 100점."/>
          <p:cNvSpPr/>
          <p:nvPr/>
        </p:nvSpPr>
        <p:spPr>
          <a:xfrm>
            <a:off x="6537960" y="4352544"/>
            <a:ext cx="192938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ko-KR" sz="3300" b="1" spc="-80" kern="0" dirty="0">
                <a:solidFill>
                  <a:srgbClr val="2035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72.50</a:t>
            </a:r>
            <a:endParaRPr lang="en-US" sz="3300" dirty="0"/>
          </a:p>
        </p:txBody>
      </p:sp>
      <p:sp>
        <p:nvSpPr>
          <p:cNvPr id="38" name="기존 월간 보고서 품질" descr="양쪽 절대평가가 유효한 동일 월간보고서 1건의 LLM Judge 점수 66.25점 / 100점."/>
          <p:cNvSpPr/>
          <p:nvPr/>
        </p:nvSpPr>
        <p:spPr>
          <a:xfrm>
            <a:off x="9043416" y="4352544"/>
            <a:ext cx="192938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ko-KR" sz="3300" b="1" spc="-80" kern="0" dirty="0">
                <a:solidFill>
                  <a:srgbClr val="2035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66.25</a:t>
            </a:r>
            <a:endParaRPr lang="en-US" sz="3300" dirty="0"/>
          </a:p>
        </p:txBody>
      </p:sp>
      <p:sp>
        <p:nvSpPr>
          <p:cNvPr id="39" name="Shape 37"/>
          <p:cNvSpPr/>
          <p:nvPr/>
        </p:nvSpPr>
        <p:spPr>
          <a:xfrm>
            <a:off x="8741664" y="4014216"/>
            <a:ext cx="0" cy="960120"/>
          </a:xfrm>
          <a:prstGeom prst="line">
            <a:avLst/>
          </a:prstGeom>
          <a:noFill/>
          <a:ln w="10160">
            <a:solidFill>
              <a:srgbClr val="DCDDD5"/>
            </a:solidFill>
            <a:prstDash val="solid"/>
          </a:ln>
        </p:spPr>
        <p:txBody>
          <a:bodyPr/>
          <a:p/>
        </p:txBody>
      </p:sp>
      <p:sp>
        <p:nvSpPr>
          <p:cNvPr id="40" name="01 · 필수 정보 · 보고 목적 · 후속업무 정리 강화 필요"/>
          <p:cNvSpPr/>
          <p:nvPr/>
        </p:nvSpPr>
        <p:spPr>
          <a:xfrm>
            <a:off x="6519672" y="5084064"/>
            <a:ext cx="470916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ko-KR" sz="1320" dirty="0">
                <a:solidFill>
                  <a:srgbClr val="6876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필수 정보 · 보고 목적 · 후속업무 정리 보완</a:t>
            </a:r>
            <a:endParaRPr lang="en-US" sz="1260" dirty="0"/>
          </a:p>
        </p:txBody>
      </p:sp>
      <p:sp>
        <p:nvSpPr>
          <p:cNvPr id="41" name="Shape 39"/>
          <p:cNvSpPr/>
          <p:nvPr/>
        </p:nvSpPr>
        <p:spPr>
          <a:xfrm>
            <a:off x="594360" y="5760720"/>
            <a:ext cx="11000232" cy="448056"/>
          </a:xfrm>
          <a:prstGeom prst="roundRect">
            <a:avLst>
              <a:gd name="adj" fmla="val 16327"/>
            </a:avLst>
          </a:prstGeom>
          <a:solidFill>
            <a:srgbClr val="E1EEE8"/>
          </a:solidFill>
          <a:ln w="12700">
            <a:solidFill>
              <a:srgbClr val="E1EEE8"/>
            </a:solidFill>
            <a:prstDash val="solid"/>
          </a:ln>
        </p:spPr>
        <p:txBody>
          <a:bodyPr/>
          <a:p/>
        </p:txBody>
      </p:sp>
      <p:sp>
        <p:nvSpPr>
          <p:cNvPr id="42" name="01 · 개선 목표"/>
          <p:cNvSpPr/>
          <p:nvPr/>
        </p:nvSpPr>
        <p:spPr>
          <a:xfrm>
            <a:off x="841248" y="5842102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ko-KR" sz="1200" b="1" dirty="0">
                <a:solidFill>
                  <a:srgbClr val="007F7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개선 목표</a:t>
            </a:r>
            <a:endParaRPr lang="en-US" sz="1200" dirty="0"/>
          </a:p>
        </p:txBody>
      </p:sp>
      <p:sp>
        <p:nvSpPr>
          <p:cNvPr id="43" name="01 · 토큰 효율과 보고서 품질을 함께 개선"/>
          <p:cNvSpPr/>
          <p:nvPr/>
        </p:nvSpPr>
        <p:spPr>
          <a:xfrm>
            <a:off x="1947672" y="5816498"/>
            <a:ext cx="91257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ko-KR" sz="1740" b="1" dirty="0">
                <a:solidFill>
                  <a:srgbClr val="1426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토큰 효율과 보고서 품질을 함께 개선</a:t>
            </a:r>
            <a:endParaRPr lang="en-US" sz="1740" dirty="0"/>
          </a:p>
        </p:txBody>
      </p:sp>
      <p:sp>
        <p:nvSpPr>
          <p:cNvPr id="44" name="01 · 출처: 보고서 A/B 실행결과 · 품질은 LLM Judge 100점 기준(주간 3건·월">
            <a:hlinkClick r:id="rId1" tooltip="GitHub 근거 문서 열기"/>
          </p:cNvPr>
          <p:cNvSpPr/>
          <p:nvPr/>
        </p:nvSpPr>
        <p:spPr>
          <a:xfrm>
            <a:off x="594360" y="6496812"/>
            <a:ext cx="1033272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ko-KR" sz="960" u="none" dirty="0">
                <a:solidFill>
                  <a:srgbClr val="63757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  <a:hlinkClick r:id="rId1" invalidUrl="" action="" tgtFrame="" tooltip="GitHub 근거 문서 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출처: 보고서 A/B 평가결과  |  품질: LLM Judge · 주간 3건 / 월간 1건</a:t>
            </a:r>
            <a:endParaRPr lang="en-US" sz="910" dirty="0"/>
          </a:p>
        </p:txBody>
      </p:sp>
      <p:sp>
        <p:nvSpPr>
          <p:cNvPr id="45" name="01 · 01 / 03"/>
          <p:cNvSpPr/>
          <p:nvPr/>
        </p:nvSpPr>
        <p:spPr>
          <a:xfrm>
            <a:off x="11000232" y="6473952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ko-KR" sz="1000" b="1" dirty="0">
                <a:solidFill>
                  <a:srgbClr val="7481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/ 03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2 · SalesLUV"/>
          <p:cNvSpPr/>
          <p:nvPr/>
        </p:nvSpPr>
        <p:spPr>
          <a:xfrm>
            <a:off x="566928" y="256032"/>
            <a:ext cx="1325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ko-KR" sz="1900" b="1" dirty="0">
                <a:solidFill>
                  <a:srgbClr val="1426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</a:t>
            </a:r>
            <a:pPr indent="0" marL="0">
              <a:buNone/>
            </a:pPr>
            <a:r>
              <a:rPr lang="ko-KR" sz="1900" b="1" dirty="0">
                <a:solidFill>
                  <a:srgbClr val="007F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LUV</a:t>
            </a:r>
            <a:endParaRPr lang="en-US" sz="1900" dirty="0"/>
          </a:p>
        </p:txBody>
      </p:sp>
      <p:sp>
        <p:nvSpPr>
          <p:cNvPr id="3" name="02 · REPORT AGENT"/>
          <p:cNvSpPr/>
          <p:nvPr/>
        </p:nvSpPr>
        <p:spPr>
          <a:xfrm>
            <a:off x="2039112" y="28803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ko-KR" sz="1050" b="1" spc="150" kern="0" dirty="0">
                <a:solidFill>
                  <a:srgbClr val="6876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 AGENT</a:t>
            </a:r>
            <a:endParaRPr lang="en-US" sz="1050" dirty="0"/>
          </a:p>
        </p:txBody>
      </p:sp>
      <p:sp>
        <p:nvSpPr>
          <p:cNvPr id="4" name="02 · 01  문제">
            <a:hlinkClick action="ppaction://hlinksldjump" r:id="rId4"/>
          </p:cNvPr>
          <p:cNvSpPr/>
          <p:nvPr/>
        </p:nvSpPr>
        <p:spPr>
          <a:xfrm>
            <a:off x="7781544" y="264262"/>
            <a:ext cx="1051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ko-KR" sz="1050" b="1" dirty="0">
                <a:solidFill>
                  <a:srgbClr val="6876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  문제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8988552" y="242316"/>
            <a:ext cx="1243584" cy="329184"/>
          </a:xfrm>
          <a:prstGeom prst="roundRect">
            <a:avLst>
              <a:gd name="adj" fmla="val 36111"/>
            </a:avLst>
          </a:prstGeom>
          <a:solidFill>
            <a:srgbClr val="142633"/>
          </a:solidFill>
          <a:ln w="12700">
            <a:solidFill>
              <a:srgbClr val="142633"/>
            </a:solidFill>
            <a:prstDash val="solid"/>
          </a:ln>
        </p:spPr>
        <p:txBody>
          <a:bodyPr/>
          <a:p/>
        </p:txBody>
      </p:sp>
      <p:sp>
        <p:nvSpPr>
          <p:cNvPr id="6" name="02 · 02  구조 변경">
            <a:hlinkClick action="ppaction://hlinksldjump" r:id="rId5"/>
          </p:cNvPr>
          <p:cNvSpPr/>
          <p:nvPr/>
        </p:nvSpPr>
        <p:spPr>
          <a:xfrm>
            <a:off x="9006840" y="264262"/>
            <a:ext cx="12070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ko-KR" sz="10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  구조 변경</a:t>
            </a:r>
            <a:endParaRPr lang="en-US" sz="1050" dirty="0"/>
          </a:p>
        </p:txBody>
      </p:sp>
      <p:sp>
        <p:nvSpPr>
          <p:cNvPr id="7" name="02 · 03  개선 결과">
            <a:hlinkClick action="ppaction://hlinksldjump" r:id="rId6"/>
          </p:cNvPr>
          <p:cNvSpPr/>
          <p:nvPr/>
        </p:nvSpPr>
        <p:spPr>
          <a:xfrm>
            <a:off x="10442448" y="264262"/>
            <a:ext cx="1207008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ko-KR" sz="1050" b="1" dirty="0">
                <a:solidFill>
                  <a:srgbClr val="6876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  개선사항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66928" y="713232"/>
            <a:ext cx="11055096" cy="0"/>
          </a:xfrm>
          <a:prstGeom prst="line">
            <a:avLst/>
          </a:prstGeom>
          <a:noFill/>
          <a:ln w="10160">
            <a:solidFill>
              <a:srgbClr val="D8DBD3"/>
            </a:solidFill>
            <a:prstDash val="solid"/>
          </a:ln>
        </p:spPr>
        <p:txBody>
          <a:bodyPr/>
          <a:p/>
        </p:txBody>
      </p:sp>
      <p:sp>
        <p:nvSpPr>
          <p:cNvPr id="9" name="02 · 02 / APPROACH"/>
          <p:cNvSpPr/>
          <p:nvPr/>
        </p:nvSpPr>
        <p:spPr>
          <a:xfrm>
            <a:off x="594360" y="918972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ko-KR" sz="1100" b="1" spc="160" kern="0" dirty="0">
                <a:solidFill>
                  <a:srgbClr val="007F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/ APPROACH</a:t>
            </a:r>
            <a:endParaRPr lang="en-US" sz="1100" dirty="0"/>
          </a:p>
        </p:txBody>
      </p:sp>
      <p:sp>
        <p:nvSpPr>
          <p:cNvPr id="10" name="02 · 어떻게 바뀌었나?"/>
          <p:cNvSpPr/>
          <p:nvPr/>
        </p:nvSpPr>
        <p:spPr>
          <a:xfrm>
            <a:off x="557784" y="127558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ko-KR" sz="3400" b="1" dirty="0">
                <a:solidFill>
                  <a:srgbClr val="1426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어떻게 바뀌었나?</a:t>
            </a:r>
            <a:endParaRPr lang="en-US" sz="3400" dirty="0"/>
          </a:p>
        </p:txBody>
      </p:sp>
      <p:sp>
        <p:nvSpPr>
          <p:cNvPr id="11" name="02 · 보고서 에이전트를 Deep Agents 기반으로 개량했습니다."/>
          <p:cNvSpPr/>
          <p:nvPr/>
        </p:nvSpPr>
        <p:spPr>
          <a:xfrm>
            <a:off x="594360" y="1924812"/>
            <a:ext cx="109728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ko-KR" sz="1800" dirty="0">
                <a:solidFill>
                  <a:srgbClr val="53656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보고서 에이전트를 Deep Agents 기반으로 개량했습니다.</a:t>
            </a:r>
            <a:endParaRPr lang="en-US" sz="1720" dirty="0"/>
          </a:p>
        </p:txBody>
      </p:sp>
      <p:sp>
        <p:nvSpPr>
          <p:cNvPr id="12" name="Shape 10"/>
          <p:cNvSpPr/>
          <p:nvPr/>
        </p:nvSpPr>
        <p:spPr>
          <a:xfrm>
            <a:off x="576072" y="2587752"/>
            <a:ext cx="11027664" cy="2907792"/>
          </a:xfrm>
          <a:prstGeom prst="roundRect">
            <a:avLst>
              <a:gd name="adj" fmla="val 4403"/>
            </a:avLst>
          </a:prstGeom>
          <a:solidFill>
            <a:srgbClr val="FFFFFF"/>
          </a:solidFill>
          <a:ln w="8890">
            <a:solidFill>
              <a:srgbClr val="DCDDD5"/>
            </a:solidFill>
            <a:prstDash val="solid"/>
          </a:ln>
        </p:spPr>
        <p:txBody>
          <a:bodyPr/>
          <a:p/>
        </p:txBody>
      </p:sp>
      <p:sp>
        <p:nvSpPr>
          <p:cNvPr id="13" name="02 · Deep Agents"/>
          <p:cNvSpPr/>
          <p:nvPr/>
        </p:nvSpPr>
        <p:spPr>
          <a:xfrm>
            <a:off x="896112" y="2862072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ko-KR" sz="2100" b="1" dirty="0">
                <a:solidFill>
                  <a:srgbClr val="007F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 Agents</a:t>
            </a:r>
            <a:endParaRPr lang="en-US" sz="2100" dirty="0"/>
          </a:p>
        </p:txBody>
      </p:sp>
      <p:sp>
        <p:nvSpPr>
          <p:cNvPr id="14" name="02 · 보고서 종류·입력은 서버가 확정"/>
          <p:cNvSpPr/>
          <p:nvPr/>
        </p:nvSpPr>
        <p:spPr>
          <a:xfrm>
            <a:off x="8631936" y="2871216"/>
            <a:ext cx="2670048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ko-KR" sz="1180" dirty="0">
                <a:solidFill>
                  <a:srgbClr val="6876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보고서 종류·입력은 서버가 확정</a:t>
            </a:r>
            <a:endParaRPr lang="en-US" sz="1120" dirty="0"/>
          </a:p>
        </p:txBody>
      </p:sp>
      <p:sp>
        <p:nvSpPr>
          <p:cNvPr id="15" name="Supervisor" descr="요청별 Deep Agents Supervisor. Writer와 Reviewer에 각각 작업을 위임하고 검증된 후보를 선택한다."/>
          <p:cNvSpPr/>
          <p:nvPr/>
        </p:nvSpPr>
        <p:spPr>
          <a:xfrm>
            <a:off x="4224528" y="2779776"/>
            <a:ext cx="3730752" cy="804672"/>
          </a:xfrm>
          <a:prstGeom prst="roundRect">
            <a:avLst>
              <a:gd name="adj" fmla="val 14773"/>
            </a:avLst>
          </a:prstGeom>
          <a:solidFill>
            <a:srgbClr val="142633"/>
          </a:solidFill>
          <a:ln w="12700">
            <a:solidFill>
              <a:srgbClr val="142633"/>
            </a:solidFill>
            <a:prstDash val="solid"/>
          </a:ln>
        </p:spPr>
        <p:txBody>
          <a:bodyPr/>
          <a:p/>
        </p:txBody>
      </p:sp>
      <p:sp>
        <p:nvSpPr>
          <p:cNvPr id="16" name="02 · Supervisor"/>
          <p:cNvSpPr/>
          <p:nvPr/>
        </p:nvSpPr>
        <p:spPr>
          <a:xfrm>
            <a:off x="4434840" y="2871216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ko-KR" sz="1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Supervisor</a:t>
            </a:r>
            <a:endParaRPr lang="en-US" sz="1900" dirty="0"/>
          </a:p>
        </p:txBody>
      </p:sp>
      <p:sp>
        <p:nvSpPr>
          <p:cNvPr id="17" name="02 · 작업 위임 · 검토 흐름 관리 · 결과 선택"/>
          <p:cNvSpPr/>
          <p:nvPr/>
        </p:nvSpPr>
        <p:spPr>
          <a:xfrm>
            <a:off x="4407408" y="3209544"/>
            <a:ext cx="336499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ko-KR" sz="1260" dirty="0">
                <a:solidFill>
                  <a:srgbClr val="D6E7E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작업 위임 · 검토 관리 · 결과 선택</a:t>
            </a:r>
            <a:endParaRPr lang="en-US" sz="1190" dirty="0"/>
          </a:p>
        </p:txBody>
      </p:sp>
      <p:sp>
        <p:nvSpPr>
          <p:cNvPr id="18" name="Shape 16"/>
          <p:cNvSpPr/>
          <p:nvPr/>
        </p:nvSpPr>
        <p:spPr>
          <a:xfrm>
            <a:off x="6089904" y="3584448"/>
            <a:ext cx="0" cy="182880"/>
          </a:xfrm>
          <a:prstGeom prst="line">
            <a:avLst/>
          </a:prstGeom>
          <a:noFill/>
          <a:ln w="19050">
            <a:solidFill>
              <a:srgbClr val="007F78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2889504" y="3767328"/>
            <a:ext cx="6400800" cy="0"/>
          </a:xfrm>
          <a:prstGeom prst="line">
            <a:avLst/>
          </a:prstGeom>
          <a:noFill/>
          <a:ln w="19050">
            <a:solidFill>
              <a:srgbClr val="007F78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2889504" y="3767328"/>
            <a:ext cx="0" cy="219456"/>
          </a:xfrm>
          <a:prstGeom prst="line">
            <a:avLst/>
          </a:prstGeom>
          <a:noFill/>
          <a:ln w="19050">
            <a:solidFill>
              <a:srgbClr val="007F7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9290304" y="3767328"/>
            <a:ext cx="0" cy="219456"/>
          </a:xfrm>
          <a:prstGeom prst="line">
            <a:avLst/>
          </a:prstGeom>
          <a:noFill/>
          <a:ln w="19050">
            <a:solidFill>
              <a:srgbClr val="007F7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2" name="유형별 Writer" descr="선택 보고서 유형의 지침과 배정된 근거를 읽고 초안을 작성한다."/>
          <p:cNvSpPr/>
          <p:nvPr/>
        </p:nvSpPr>
        <p:spPr>
          <a:xfrm>
            <a:off x="978408" y="4023360"/>
            <a:ext cx="3822192" cy="905256"/>
          </a:xfrm>
          <a:prstGeom prst="roundRect">
            <a:avLst>
              <a:gd name="adj" fmla="val 13131"/>
            </a:avLst>
          </a:prstGeom>
          <a:solidFill>
            <a:srgbClr val="F3F7F2"/>
          </a:solidFill>
          <a:ln w="8890">
            <a:solidFill>
              <a:srgbClr val="D1DFD8"/>
            </a:solidFill>
            <a:prstDash val="solid"/>
          </a:ln>
        </p:spPr>
        <p:txBody>
          <a:bodyPr/>
          <a:p/>
        </p:txBody>
      </p:sp>
      <p:sp>
        <p:nvSpPr>
          <p:cNvPr id="23" name="공통 Reviewer" descr="원자료와 초안을 대조해 수정 위치와 이유를 제시한다."/>
          <p:cNvSpPr/>
          <p:nvPr/>
        </p:nvSpPr>
        <p:spPr>
          <a:xfrm>
            <a:off x="7379208" y="4023360"/>
            <a:ext cx="3822192" cy="905256"/>
          </a:xfrm>
          <a:prstGeom prst="roundRect">
            <a:avLst>
              <a:gd name="adj" fmla="val 13131"/>
            </a:avLst>
          </a:prstGeom>
          <a:solidFill>
            <a:srgbClr val="F3F7F2"/>
          </a:solidFill>
          <a:ln w="8890">
            <a:solidFill>
              <a:srgbClr val="D1DFD8"/>
            </a:solidFill>
            <a:prstDash val="solid"/>
          </a:ln>
        </p:spPr>
        <p:txBody>
          <a:bodyPr/>
          <a:p/>
        </p:txBody>
      </p:sp>
      <p:sp>
        <p:nvSpPr>
          <p:cNvPr id="24" name="02 · 유형별 Writer"/>
          <p:cNvSpPr/>
          <p:nvPr/>
        </p:nvSpPr>
        <p:spPr>
          <a:xfrm>
            <a:off x="1152144" y="4105656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ko-KR" sz="1900" b="1" dirty="0">
                <a:solidFill>
                  <a:srgbClr val="1426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유형별 Writer</a:t>
            </a:r>
            <a:endParaRPr lang="en-US" sz="1900" dirty="0"/>
          </a:p>
        </p:txBody>
      </p:sp>
      <p:sp>
        <p:nvSpPr>
          <p:cNvPr id="25" name="02 · 보고서 지침과 배정 근거로 작성"/>
          <p:cNvSpPr/>
          <p:nvPr/>
        </p:nvSpPr>
        <p:spPr>
          <a:xfrm>
            <a:off x="1179576" y="4517136"/>
            <a:ext cx="340156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ko-KR" sz="1340" dirty="0">
                <a:solidFill>
                  <a:srgbClr val="6876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작성 지침과 배정된 근거로 작성</a:t>
            </a:r>
            <a:endParaRPr lang="en-US" sz="1280" dirty="0"/>
          </a:p>
        </p:txBody>
      </p:sp>
      <p:sp>
        <p:nvSpPr>
          <p:cNvPr id="26" name="02 · 공통 Reviewer"/>
          <p:cNvSpPr/>
          <p:nvPr/>
        </p:nvSpPr>
        <p:spPr>
          <a:xfrm>
            <a:off x="7580376" y="4105656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ko-KR" sz="1900" b="1" dirty="0">
                <a:solidFill>
                  <a:srgbClr val="1426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공통 Reviewer</a:t>
            </a:r>
            <a:endParaRPr lang="en-US" sz="1900" dirty="0"/>
          </a:p>
        </p:txBody>
      </p:sp>
      <p:sp>
        <p:nvSpPr>
          <p:cNvPr id="27" name="02 · 원자료와 초안을 대조해 수정 지적"/>
          <p:cNvSpPr/>
          <p:nvPr/>
        </p:nvSpPr>
        <p:spPr>
          <a:xfrm>
            <a:off x="7552944" y="4517136"/>
            <a:ext cx="34747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ko-KR" sz="1340" dirty="0">
                <a:solidFill>
                  <a:srgbClr val="6876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원자료와 초안 대조 · 수정 지적</a:t>
            </a:r>
            <a:endParaRPr lang="en-US" sz="1280" dirty="0"/>
          </a:p>
        </p:txBody>
      </p:sp>
      <p:sp>
        <p:nvSpPr>
          <p:cNvPr id="28" name="초안 검토의 논리적 흐름" descr="Writer가 Reviewer를 직접 호출한다는 뜻이 아니라, Supervisor의 위임에 따른 초안과 검토의 논리적 흐름."/>
          <p:cNvSpPr/>
          <p:nvPr/>
        </p:nvSpPr>
        <p:spPr>
          <a:xfrm>
            <a:off x="4928616" y="4489704"/>
            <a:ext cx="2304288" cy="0"/>
          </a:xfrm>
          <a:prstGeom prst="line">
            <a:avLst/>
          </a:prstGeom>
          <a:noFill/>
          <a:ln w="17145">
            <a:solidFill>
              <a:srgbClr val="007F7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9" name="02 · 초안 검토"/>
          <p:cNvSpPr/>
          <p:nvPr/>
        </p:nvSpPr>
        <p:spPr>
          <a:xfrm>
            <a:off x="5157216" y="4151376"/>
            <a:ext cx="1883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ko-KR" sz="1210" b="1" dirty="0">
                <a:solidFill>
                  <a:srgbClr val="007F7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초안 검토</a:t>
            </a:r>
            <a:endParaRPr lang="en-US" sz="1210" dirty="0"/>
          </a:p>
        </p:txBody>
      </p:sp>
      <p:sp>
        <p:nvSpPr>
          <p:cNvPr id="30" name="Shape 28"/>
          <p:cNvSpPr/>
          <p:nvPr/>
        </p:nvSpPr>
        <p:spPr>
          <a:xfrm>
            <a:off x="9290304" y="4928616"/>
            <a:ext cx="0" cy="265176"/>
          </a:xfrm>
          <a:prstGeom prst="line">
            <a:avLst/>
          </a:prstGeom>
          <a:noFill/>
          <a:ln w="14604">
            <a:solidFill>
              <a:srgbClr val="45616C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 flipH="1">
            <a:off x="2889504" y="5193792"/>
            <a:ext cx="6400800" cy="0"/>
          </a:xfrm>
          <a:prstGeom prst="line">
            <a:avLst/>
          </a:prstGeom>
          <a:noFill/>
          <a:ln w="14604">
            <a:solidFill>
              <a:srgbClr val="45616C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 flipV="1">
            <a:off x="2889504" y="4928616"/>
            <a:ext cx="0" cy="265176"/>
          </a:xfrm>
          <a:prstGeom prst="line">
            <a:avLst/>
          </a:prstGeom>
          <a:noFill/>
          <a:ln w="14604">
            <a:solidFill>
              <a:srgbClr val="45616C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3785616" y="5056632"/>
            <a:ext cx="4636008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4" name="02 · 필요한 부분만 최대 1회 수정"/>
          <p:cNvSpPr/>
          <p:nvPr/>
        </p:nvSpPr>
        <p:spPr>
          <a:xfrm>
            <a:off x="3840480" y="5065776"/>
            <a:ext cx="452628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ko-KR" sz="1320" b="1" dirty="0">
                <a:solidFill>
                  <a:srgbClr val="007F7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지적된 부분만 최대 1회 수정</a:t>
            </a:r>
            <a:endParaRPr lang="en-US" sz="1230" dirty="0"/>
          </a:p>
        </p:txBody>
      </p:sp>
      <p:sp>
        <p:nvSpPr>
          <p:cNvPr id="35" name="02 · 01"/>
          <p:cNvSpPr/>
          <p:nvPr/>
        </p:nvSpPr>
        <p:spPr>
          <a:xfrm>
            <a:off x="603504" y="580644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ko-KR" sz="1200" b="1" dirty="0">
                <a:solidFill>
                  <a:srgbClr val="007F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200" dirty="0"/>
          </a:p>
        </p:txBody>
      </p:sp>
      <p:sp>
        <p:nvSpPr>
          <p:cNvPr id="36" name="02 · 역할 분리"/>
          <p:cNvSpPr/>
          <p:nvPr/>
        </p:nvSpPr>
        <p:spPr>
          <a:xfrm>
            <a:off x="1106424" y="5715000"/>
            <a:ext cx="2999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ko-KR" sz="1600" b="1" dirty="0">
                <a:solidFill>
                  <a:srgbClr val="1426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역할 분리</a:t>
            </a:r>
            <a:endParaRPr lang="en-US" sz="1600" dirty="0"/>
          </a:p>
        </p:txBody>
      </p:sp>
      <p:sp>
        <p:nvSpPr>
          <p:cNvPr id="37" name="02 · 감독 · 작성 · 검토"/>
          <p:cNvSpPr/>
          <p:nvPr/>
        </p:nvSpPr>
        <p:spPr>
          <a:xfrm>
            <a:off x="1106424" y="6108192"/>
            <a:ext cx="299923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ko-KR" sz="1320" dirty="0">
                <a:solidFill>
                  <a:srgbClr val="6876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감독 · 작성 · 검토</a:t>
            </a:r>
            <a:endParaRPr lang="en-US" sz="1240" dirty="0"/>
          </a:p>
        </p:txBody>
      </p:sp>
      <p:sp>
        <p:nvSpPr>
          <p:cNvPr id="38" name="02 · 02"/>
          <p:cNvSpPr/>
          <p:nvPr/>
        </p:nvSpPr>
        <p:spPr>
          <a:xfrm>
            <a:off x="4352544" y="580644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ko-KR" sz="1200" b="1" dirty="0">
                <a:solidFill>
                  <a:srgbClr val="007F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200" dirty="0"/>
          </a:p>
        </p:txBody>
      </p:sp>
      <p:sp>
        <p:nvSpPr>
          <p:cNvPr id="39" name="02 · 지침·근거 분리"/>
          <p:cNvSpPr/>
          <p:nvPr/>
        </p:nvSpPr>
        <p:spPr>
          <a:xfrm>
            <a:off x="4855464" y="5715000"/>
            <a:ext cx="2999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ko-KR" sz="1600" b="1" dirty="0">
                <a:solidFill>
                  <a:srgbClr val="1426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지침·근거 분리</a:t>
            </a:r>
            <a:endParaRPr lang="en-US" sz="1600" dirty="0"/>
          </a:p>
        </p:txBody>
      </p:sp>
      <p:sp>
        <p:nvSpPr>
          <p:cNvPr id="40" name="02 · SKILL.md + 필요한 자료"/>
          <p:cNvSpPr/>
          <p:nvPr/>
        </p:nvSpPr>
        <p:spPr>
          <a:xfrm>
            <a:off x="4855464" y="6108192"/>
            <a:ext cx="299923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ko-KR" sz="1320" dirty="0">
                <a:solidFill>
                  <a:srgbClr val="6876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유형별 SKILL.md + 배정 근거</a:t>
            </a:r>
            <a:endParaRPr lang="en-US" sz="1240" dirty="0"/>
          </a:p>
        </p:txBody>
      </p:sp>
      <p:sp>
        <p:nvSpPr>
          <p:cNvPr id="41" name="02 · 03"/>
          <p:cNvSpPr/>
          <p:nvPr/>
        </p:nvSpPr>
        <p:spPr>
          <a:xfrm>
            <a:off x="8092440" y="580644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ko-KR" sz="1200" b="1" dirty="0">
                <a:solidFill>
                  <a:srgbClr val="007F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200" dirty="0"/>
          </a:p>
        </p:txBody>
      </p:sp>
      <p:sp>
        <p:nvSpPr>
          <p:cNvPr id="42" name="02 · 반복 수정 제한"/>
          <p:cNvSpPr/>
          <p:nvPr/>
        </p:nvSpPr>
        <p:spPr>
          <a:xfrm>
            <a:off x="8595360" y="5715000"/>
            <a:ext cx="2999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ko-KR" sz="1600" b="1" dirty="0">
                <a:solidFill>
                  <a:srgbClr val="1426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반복 수정 제한</a:t>
            </a:r>
            <a:endParaRPr lang="en-US" sz="1600" dirty="0"/>
          </a:p>
        </p:txBody>
      </p:sp>
      <p:sp>
        <p:nvSpPr>
          <p:cNvPr id="43" name="02 · 검토 후 수정 최대 1회"/>
          <p:cNvSpPr/>
          <p:nvPr/>
        </p:nvSpPr>
        <p:spPr>
          <a:xfrm>
            <a:off x="8595360" y="6108192"/>
            <a:ext cx="299923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ko-KR" sz="1320" dirty="0">
                <a:solidFill>
                  <a:srgbClr val="6876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검토 후 부분 수정 최대 1회</a:t>
            </a:r>
            <a:endParaRPr lang="en-US" sz="1240" dirty="0"/>
          </a:p>
        </p:txBody>
      </p:sp>
      <p:sp>
        <p:nvSpPr>
          <p:cNvPr id="44" name="02 · 출처: 미팅·보고서 에이전트 구조 문서 · 최종 확인·확정은 사용자">
            <a:hlinkClick r:id="rId1" tooltip="GitHub 근거 문서 열기"/>
          </p:cNvPr>
          <p:cNvSpPr/>
          <p:nvPr/>
        </p:nvSpPr>
        <p:spPr>
          <a:xfrm>
            <a:off x="594360" y="6496812"/>
            <a:ext cx="1033272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ko-KR" sz="960" u="none" dirty="0">
                <a:solidFill>
                  <a:srgbClr val="63757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  <a:hlinkClick r:id="rId1" invalidUrl="" action="" tgtFrame="" tooltip="GitHub 근거 문서 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출처: 미팅·보고서 에이전트 구조 문서  |  최종 검토·확정은 사용자</a:t>
            </a:r>
            <a:endParaRPr lang="en-US" sz="910" dirty="0"/>
          </a:p>
        </p:txBody>
      </p:sp>
      <p:sp>
        <p:nvSpPr>
          <p:cNvPr id="45" name="02 · 02 / 03"/>
          <p:cNvSpPr/>
          <p:nvPr/>
        </p:nvSpPr>
        <p:spPr>
          <a:xfrm>
            <a:off x="11000232" y="6473952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ko-KR" sz="1000" b="1" dirty="0">
                <a:solidFill>
                  <a:srgbClr val="7481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/ 03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3 · SalesLUV"/>
          <p:cNvSpPr/>
          <p:nvPr/>
        </p:nvSpPr>
        <p:spPr>
          <a:xfrm>
            <a:off x="566928" y="256032"/>
            <a:ext cx="1325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ko-KR" sz="1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</a:t>
            </a:r>
            <a:pPr indent="0" marL="0">
              <a:buNone/>
            </a:pPr>
            <a:r>
              <a:rPr lang="ko-KR" sz="1900" b="1" dirty="0">
                <a:solidFill>
                  <a:srgbClr val="70E3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LUV</a:t>
            </a:r>
            <a:endParaRPr lang="en-US" sz="1900" dirty="0"/>
          </a:p>
        </p:txBody>
      </p:sp>
      <p:sp>
        <p:nvSpPr>
          <p:cNvPr id="3" name="03 · REPORT AGENT"/>
          <p:cNvSpPr/>
          <p:nvPr/>
        </p:nvSpPr>
        <p:spPr>
          <a:xfrm>
            <a:off x="2039112" y="28803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ko-KR" sz="1050" b="1" spc="150" kern="0" dirty="0">
                <a:solidFill>
                  <a:srgbClr val="AFBE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 AGENT</a:t>
            </a:r>
            <a:endParaRPr lang="en-US" sz="1050" dirty="0"/>
          </a:p>
        </p:txBody>
      </p:sp>
      <p:sp>
        <p:nvSpPr>
          <p:cNvPr id="4" name="03 · 01  문제">
            <a:hlinkClick action="ppaction://hlinksldjump" r:id="rId4"/>
          </p:cNvPr>
          <p:cNvSpPr/>
          <p:nvPr/>
        </p:nvSpPr>
        <p:spPr>
          <a:xfrm>
            <a:off x="7781544" y="264262"/>
            <a:ext cx="1051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ko-KR" sz="1050" b="1" dirty="0">
                <a:solidFill>
                  <a:srgbClr val="AFBEC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  문제</a:t>
            </a:r>
            <a:endParaRPr lang="en-US" sz="1050" dirty="0"/>
          </a:p>
        </p:txBody>
      </p:sp>
      <p:sp>
        <p:nvSpPr>
          <p:cNvPr id="5" name="03 · 02  구조 변경">
            <a:hlinkClick action="ppaction://hlinksldjump" r:id="rId5"/>
          </p:cNvPr>
          <p:cNvSpPr/>
          <p:nvPr/>
        </p:nvSpPr>
        <p:spPr>
          <a:xfrm>
            <a:off x="9006840" y="264262"/>
            <a:ext cx="12070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ko-KR" sz="1050" b="1" dirty="0">
                <a:solidFill>
                  <a:srgbClr val="AFBEC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  구조 변경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0424160" y="242316"/>
            <a:ext cx="1243584" cy="329184"/>
          </a:xfrm>
          <a:prstGeom prst="roundRect">
            <a:avLst>
              <a:gd name="adj" fmla="val 36111"/>
            </a:avLst>
          </a:prstGeom>
          <a:solidFill>
            <a:srgbClr val="70E3C1"/>
          </a:solidFill>
          <a:ln w="12700">
            <a:solidFill>
              <a:srgbClr val="70E3C1"/>
            </a:solidFill>
            <a:prstDash val="solid"/>
          </a:ln>
        </p:spPr>
        <p:txBody>
          <a:bodyPr/>
          <a:p/>
        </p:txBody>
      </p:sp>
      <p:sp>
        <p:nvSpPr>
          <p:cNvPr id="7" name="03 · 03  개선 결과">
            <a:hlinkClick action="ppaction://hlinksldjump" r:id="rId6"/>
          </p:cNvPr>
          <p:cNvSpPr/>
          <p:nvPr/>
        </p:nvSpPr>
        <p:spPr>
          <a:xfrm>
            <a:off x="10442448" y="264262"/>
            <a:ext cx="1207008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ko-KR" sz="1050" b="1" dirty="0">
                <a:solidFill>
                  <a:srgbClr val="1426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  개선사항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66928" y="713232"/>
            <a:ext cx="11055096" cy="0"/>
          </a:xfrm>
          <a:prstGeom prst="line">
            <a:avLst/>
          </a:prstGeom>
          <a:noFill/>
          <a:ln w="10160">
            <a:solidFill>
              <a:srgbClr val="3A505B"/>
            </a:solidFill>
            <a:prstDash val="solid"/>
          </a:ln>
        </p:spPr>
        <p:txBody>
          <a:bodyPr/>
          <a:p/>
        </p:txBody>
      </p:sp>
      <p:sp>
        <p:nvSpPr>
          <p:cNvPr id="9" name="03 · 03 / RESULTS"/>
          <p:cNvSpPr/>
          <p:nvPr/>
        </p:nvSpPr>
        <p:spPr>
          <a:xfrm>
            <a:off x="594360" y="918972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ko-KR" sz="1100" b="1" spc="160" kern="0" dirty="0">
                <a:solidFill>
                  <a:srgbClr val="70E3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/ RESULTS</a:t>
            </a:r>
            <a:endParaRPr lang="en-US" sz="1100" dirty="0"/>
          </a:p>
        </p:txBody>
      </p:sp>
      <p:sp>
        <p:nvSpPr>
          <p:cNvPr id="10" name="03 · 개선사항"/>
          <p:cNvSpPr/>
          <p:nvPr/>
        </p:nvSpPr>
        <p:spPr>
          <a:xfrm>
            <a:off x="557784" y="127558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ko-KR" sz="3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개선사항</a:t>
            </a:r>
            <a:endParaRPr lang="en-US" sz="3400" dirty="0"/>
          </a:p>
        </p:txBody>
      </p:sp>
      <p:sp>
        <p:nvSpPr>
          <p:cNvPr id="11" name="03 · 더 적은 토큰으로, 더 높은 종합 품질."/>
          <p:cNvSpPr/>
          <p:nvPr/>
        </p:nvSpPr>
        <p:spPr>
          <a:xfrm>
            <a:off x="594360" y="1924812"/>
            <a:ext cx="109728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ko-KR" sz="1800" dirty="0">
                <a:solidFill>
                  <a:srgbClr val="DEE7E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더 적은 토큰으로, 더 높은 종합 품질.</a:t>
            </a:r>
            <a:endParaRPr lang="en-US" sz="1720" dirty="0"/>
          </a:p>
        </p:txBody>
      </p:sp>
      <p:sp>
        <p:nvSpPr>
          <p:cNvPr id="12" name="Shape 10"/>
          <p:cNvSpPr/>
          <p:nvPr/>
        </p:nvSpPr>
        <p:spPr>
          <a:xfrm>
            <a:off x="576072" y="2587752"/>
            <a:ext cx="5404104" cy="3136392"/>
          </a:xfrm>
          <a:prstGeom prst="roundRect">
            <a:avLst>
              <a:gd name="adj" fmla="val 4082"/>
            </a:avLst>
          </a:prstGeom>
          <a:solidFill>
            <a:srgbClr val="203442"/>
          </a:solidFill>
          <a:ln w="12700">
            <a:solidFill>
              <a:srgbClr val="203442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199632" y="2587752"/>
            <a:ext cx="5404104" cy="3136392"/>
          </a:xfrm>
          <a:prstGeom prst="roundRect">
            <a:avLst>
              <a:gd name="adj" fmla="val 4082"/>
            </a:avLst>
          </a:prstGeom>
          <a:solidFill>
            <a:srgbClr val="203442"/>
          </a:solidFill>
          <a:ln w="12700">
            <a:solidFill>
              <a:srgbClr val="203442"/>
            </a:solidFill>
            <a:prstDash val="solid"/>
          </a:ln>
        </p:spPr>
        <p:txBody>
          <a:bodyPr/>
          <a:p/>
        </p:txBody>
      </p:sp>
      <p:sp>
        <p:nvSpPr>
          <p:cNvPr id="14" name="03 · 토큰 소모량"/>
          <p:cNvSpPr/>
          <p:nvPr/>
        </p:nvSpPr>
        <p:spPr>
          <a:xfrm>
            <a:off x="905256" y="2834640"/>
            <a:ext cx="45628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ko-KR" sz="1800" b="1" dirty="0">
                <a:solidFill>
                  <a:srgbClr val="DBE7E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토큰 소모량</a:t>
            </a:r>
            <a:endParaRPr lang="en-US" sz="1800" dirty="0"/>
          </a:p>
        </p:txBody>
      </p:sp>
      <p:sp>
        <p:nvSpPr>
          <p:cNvPr id="15" name="생성 토큰 54.36% 감소" descr="전체 53건 실행의 반환 생성 토큰이 10,010,770개에서 4,568,617개로 감소. 실제 청구 비용 감소율이 아니다."/>
          <p:cNvSpPr/>
          <p:nvPr/>
        </p:nvSpPr>
        <p:spPr>
          <a:xfrm>
            <a:off x="850392" y="3337560"/>
            <a:ext cx="470001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ko-KR" sz="4900" b="1" spc="-180" kern="0" dirty="0">
                <a:solidFill>
                  <a:srgbClr val="70E3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−54.36%</a:t>
            </a:r>
            <a:endParaRPr lang="en-US" sz="4900" dirty="0"/>
          </a:p>
        </p:txBody>
      </p:sp>
      <p:sp>
        <p:nvSpPr>
          <p:cNvPr id="16" name="03 · 기존 A"/>
          <p:cNvSpPr/>
          <p:nvPr/>
        </p:nvSpPr>
        <p:spPr>
          <a:xfrm>
            <a:off x="932688" y="422452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ko-KR" sz="1220" dirty="0">
                <a:solidFill>
                  <a:srgbClr val="BCCBC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기존 A</a:t>
            </a:r>
            <a:endParaRPr lang="en-US" sz="1220" dirty="0"/>
          </a:p>
        </p:txBody>
      </p:sp>
      <p:sp>
        <p:nvSpPr>
          <p:cNvPr id="17" name="03 · 10,010,770"/>
          <p:cNvSpPr/>
          <p:nvPr/>
        </p:nvSpPr>
        <p:spPr>
          <a:xfrm>
            <a:off x="2487168" y="4224528"/>
            <a:ext cx="30266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ko-KR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10,010,770</a:t>
            </a:r>
            <a:endParaRPr lang="en-US" sz="1600" dirty="0"/>
          </a:p>
        </p:txBody>
      </p:sp>
      <p:sp>
        <p:nvSpPr>
          <p:cNvPr id="18" name="기존 A 토큰 비교 막대" descr="10,010,770 토큰. 기준 길이 100%."/>
          <p:cNvSpPr/>
          <p:nvPr/>
        </p:nvSpPr>
        <p:spPr>
          <a:xfrm>
            <a:off x="950976" y="4581144"/>
            <a:ext cx="4617720" cy="114300"/>
          </a:xfrm>
          <a:prstGeom prst="roundRect">
            <a:avLst>
              <a:gd name="adj" fmla="val 32000"/>
            </a:avLst>
          </a:prstGeom>
          <a:solidFill>
            <a:srgbClr val="8DA0A8"/>
          </a:solidFill>
          <a:ln w="12700">
            <a:solidFill>
              <a:srgbClr val="8DA0A8"/>
            </a:solidFill>
            <a:prstDash val="solid"/>
          </a:ln>
        </p:spPr>
        <p:txBody>
          <a:bodyPr/>
          <a:p/>
        </p:txBody>
      </p:sp>
      <p:sp>
        <p:nvSpPr>
          <p:cNvPr id="19" name="03 · 개선 B"/>
          <p:cNvSpPr/>
          <p:nvPr/>
        </p:nvSpPr>
        <p:spPr>
          <a:xfrm>
            <a:off x="932688" y="484632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ko-KR" sz="1220" dirty="0">
                <a:solidFill>
                  <a:srgbClr val="BCCBC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개선 B</a:t>
            </a:r>
            <a:endParaRPr lang="en-US" sz="1220" dirty="0"/>
          </a:p>
        </p:txBody>
      </p:sp>
      <p:sp>
        <p:nvSpPr>
          <p:cNvPr id="20" name="03 · 4,568,617"/>
          <p:cNvSpPr/>
          <p:nvPr/>
        </p:nvSpPr>
        <p:spPr>
          <a:xfrm>
            <a:off x="2487168" y="4846320"/>
            <a:ext cx="30266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ko-KR" sz="1600" b="1" dirty="0">
                <a:solidFill>
                  <a:srgbClr val="70E3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4,568,617</a:t>
            </a:r>
            <a:endParaRPr lang="en-US" sz="1600" dirty="0"/>
          </a:p>
        </p:txBody>
      </p:sp>
      <p:sp>
        <p:nvSpPr>
          <p:cNvPr id="21" name="개선 B 토큰 비교 막대" descr="4,568,617 토큰. 기존 대비 45.64%. 막대 길이는 실제 값의 비율로 표현."/>
          <p:cNvSpPr/>
          <p:nvPr/>
        </p:nvSpPr>
        <p:spPr>
          <a:xfrm>
            <a:off x="950976" y="5202936"/>
            <a:ext cx="2107389" cy="114300"/>
          </a:xfrm>
          <a:prstGeom prst="roundRect">
            <a:avLst>
              <a:gd name="adj" fmla="val 32000"/>
            </a:avLst>
          </a:prstGeom>
          <a:solidFill>
            <a:srgbClr val="70E3C1"/>
          </a:solidFill>
          <a:ln w="12700">
            <a:solidFill>
              <a:srgbClr val="70E3C1"/>
            </a:solidFill>
            <a:prstDash val="solid"/>
          </a:ln>
        </p:spPr>
        <p:txBody>
          <a:bodyPr/>
          <a:p/>
        </p:txBody>
      </p:sp>
      <p:sp>
        <p:nvSpPr>
          <p:cNvPr id="22" name="03 · 전체 53건 실행 · 반환 생성 토큰"/>
          <p:cNvSpPr/>
          <p:nvPr/>
        </p:nvSpPr>
        <p:spPr>
          <a:xfrm>
            <a:off x="923544" y="5440680"/>
            <a:ext cx="466344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ko-KR" sz="1140" dirty="0">
                <a:solidFill>
                  <a:srgbClr val="AFBEC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전체 53건 실행 · 반환된 생성 토큰 합계</a:t>
            </a:r>
            <a:endParaRPr lang="en-US" sz="1080" dirty="0"/>
          </a:p>
        </p:txBody>
      </p:sp>
      <p:sp>
        <p:nvSpPr>
          <p:cNvPr id="23" name="03 · 보고서 종합 품질"/>
          <p:cNvSpPr/>
          <p:nvPr/>
        </p:nvSpPr>
        <p:spPr>
          <a:xfrm>
            <a:off x="6537960" y="2834640"/>
            <a:ext cx="45628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ko-KR" sz="1800" b="1" dirty="0">
                <a:solidFill>
                  <a:srgbClr val="DBE7E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보고서 종합 품질</a:t>
            </a:r>
            <a:endParaRPr lang="en-US" sz="1800" dirty="0"/>
          </a:p>
        </p:txBody>
      </p:sp>
      <p:sp>
        <p:nvSpPr>
          <p:cNvPr id="24" name="보고서 종합 품질 1.94점 상승" descr="양쪽 평가가 유효한 동일 43건에서 LLM Judge 종합점수 93.23점에서 95.17점으로 상승. 100점 만점의 평가점수이며 정확도 백분율이 아니다."/>
          <p:cNvSpPr/>
          <p:nvPr/>
        </p:nvSpPr>
        <p:spPr>
          <a:xfrm>
            <a:off x="6501384" y="3337560"/>
            <a:ext cx="471830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ko-KR" sz="4900" b="1" spc="-160" kern="0" dirty="0">
                <a:solidFill>
                  <a:srgbClr val="70E3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+1.94</a:t>
            </a:r>
            <a:pPr indent="0" marL="0">
              <a:buNone/>
            </a:pPr>
            <a:r>
              <a:rPr lang="ko-KR" sz="3300" b="1" spc="-160" kern="0" dirty="0">
                <a:solidFill>
                  <a:srgbClr val="70E3C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점</a:t>
            </a:r>
            <a:endParaRPr lang="en-US" sz="4900" dirty="0"/>
          </a:p>
        </p:txBody>
      </p:sp>
      <p:sp>
        <p:nvSpPr>
          <p:cNvPr id="25" name="03 · 기존 A"/>
          <p:cNvSpPr/>
          <p:nvPr/>
        </p:nvSpPr>
        <p:spPr>
          <a:xfrm>
            <a:off x="6565392" y="4206240"/>
            <a:ext cx="1911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ko-KR" sz="1220" dirty="0">
                <a:solidFill>
                  <a:srgbClr val="BCCBC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기존 A</a:t>
            </a:r>
            <a:endParaRPr lang="en-US" sz="1220" dirty="0"/>
          </a:p>
        </p:txBody>
      </p:sp>
      <p:sp>
        <p:nvSpPr>
          <p:cNvPr id="26" name="03 · 개선 B"/>
          <p:cNvSpPr/>
          <p:nvPr/>
        </p:nvSpPr>
        <p:spPr>
          <a:xfrm>
            <a:off x="9144000" y="4206240"/>
            <a:ext cx="2039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ko-KR" sz="1220" dirty="0">
                <a:solidFill>
                  <a:srgbClr val="BCCBC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개선 B</a:t>
            </a:r>
            <a:endParaRPr lang="en-US" sz="1220" dirty="0"/>
          </a:p>
        </p:txBody>
      </p:sp>
      <p:sp>
        <p:nvSpPr>
          <p:cNvPr id="27" name="03 · 93.23"/>
          <p:cNvSpPr/>
          <p:nvPr/>
        </p:nvSpPr>
        <p:spPr>
          <a:xfrm>
            <a:off x="6528816" y="4535424"/>
            <a:ext cx="19019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ko-KR" sz="2900" b="1" spc="-8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93.23</a:t>
            </a:r>
            <a:endParaRPr lang="en-US" sz="2900" dirty="0"/>
          </a:p>
        </p:txBody>
      </p:sp>
      <p:sp>
        <p:nvSpPr>
          <p:cNvPr id="28" name="03 · →"/>
          <p:cNvSpPr/>
          <p:nvPr/>
        </p:nvSpPr>
        <p:spPr>
          <a:xfrm>
            <a:off x="8485632" y="4553712"/>
            <a:ext cx="521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ko-KR" sz="2500" dirty="0">
                <a:solidFill>
                  <a:srgbClr val="A3B9C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</a:t>
            </a:r>
            <a:endParaRPr lang="en-US" sz="2500" dirty="0"/>
          </a:p>
        </p:txBody>
      </p:sp>
      <p:sp>
        <p:nvSpPr>
          <p:cNvPr id="29" name="03 · 95.17"/>
          <p:cNvSpPr/>
          <p:nvPr/>
        </p:nvSpPr>
        <p:spPr>
          <a:xfrm>
            <a:off x="9144000" y="4535424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ko-KR" sz="2900" b="1" spc="-8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95.17</a:t>
            </a:r>
            <a:endParaRPr lang="en-US" sz="2900" dirty="0"/>
          </a:p>
        </p:txBody>
      </p:sp>
      <p:sp>
        <p:nvSpPr>
          <p:cNvPr id="30" name="03 · 필수 내용 · 구성 · 후속업무 점수 상승"/>
          <p:cNvSpPr/>
          <p:nvPr/>
        </p:nvSpPr>
        <p:spPr>
          <a:xfrm>
            <a:off x="6574536" y="5111496"/>
            <a:ext cx="454456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ko-KR" sz="1300" b="1" dirty="0">
                <a:solidFill>
                  <a:srgbClr val="D6E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필수 내용 · 구성 · 후속업무 점수 상승</a:t>
            </a:r>
            <a:endParaRPr lang="en-US" sz="1210" dirty="0"/>
          </a:p>
        </p:txBody>
      </p:sp>
      <p:sp>
        <p:nvSpPr>
          <p:cNvPr id="31" name="03 · 동일 43건 · LLM Judge 종합점수 / 100점"/>
          <p:cNvSpPr/>
          <p:nvPr/>
        </p:nvSpPr>
        <p:spPr>
          <a:xfrm>
            <a:off x="6556248" y="5440680"/>
            <a:ext cx="457200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ko-KR" sz="1140" dirty="0">
                <a:solidFill>
                  <a:srgbClr val="AFBEC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동일 43건 · LLM Judge 종합점수 / 100점</a:t>
            </a:r>
            <a:endParaRPr lang="en-US" sz="1080" dirty="0"/>
          </a:p>
        </p:txBody>
      </p:sp>
      <p:sp>
        <p:nvSpPr>
          <p:cNvPr id="32" name="03 · ※ 작성 규칙·실행 구조를 함께 개선한 전후 A/B 결과이며, 프레임워크만의 효과는 아"/>
          <p:cNvSpPr/>
          <p:nvPr/>
        </p:nvSpPr>
        <p:spPr>
          <a:xfrm>
            <a:off x="612648" y="5952744"/>
            <a:ext cx="1097280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ko-KR" sz="1050" dirty="0">
                <a:solidFill>
                  <a:srgbClr val="B3C5C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평가 범위: 작성 지침·실행 구조를 함께 개선한 A/B 비교 · 프레임워크 교체만의 효과는 아님</a:t>
            </a:r>
            <a:endParaRPr lang="en-US" sz="1020" dirty="0"/>
          </a:p>
        </p:txBody>
      </p:sp>
      <p:sp>
        <p:nvSpPr>
          <p:cNvPr id="33" name="03 ·     종합 점수는 상승했으나 미팅 평균·사실 정확성 항목은 하락했습니다."/>
          <p:cNvSpPr/>
          <p:nvPr/>
        </p:nvSpPr>
        <p:spPr>
          <a:xfrm>
            <a:off x="612648" y="6208776"/>
            <a:ext cx="1097280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ko-KR" sz="1050" dirty="0">
                <a:solidFill>
                  <a:srgbClr val="B3C5C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보완 과제: 종합점수는 상승했으나 미팅 평균·사실 정확성 항목은 하락</a:t>
            </a:r>
            <a:endParaRPr lang="en-US" sz="1020" dirty="0"/>
          </a:p>
        </p:txBody>
      </p:sp>
      <p:sp>
        <p:nvSpPr>
          <p:cNvPr id="34" name="03 · 출처: 보고서 A/B 실행결과 · 기존 A / 개선 B · 평가 기간 2026.09.0">
            <a:hlinkClick r:id="rId1" tooltip="GitHub 근거 문서 열기"/>
          </p:cNvPr>
          <p:cNvSpPr/>
          <p:nvPr/>
        </p:nvSpPr>
        <p:spPr>
          <a:xfrm>
            <a:off x="594360" y="6496812"/>
            <a:ext cx="1033272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ko-KR" sz="960" u="none" dirty="0">
                <a:solidFill>
                  <a:srgbClr val="AEBFC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  <a:hlinkClick r:id="rId1" invalidUrl="" action="" tgtFrame="" tooltip="GitHub 근거 문서 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출처: 보고서 A/B 평가결과  |  기존 A / 개선 B  |  2026.09.07–09.08</a:t>
            </a:r>
            <a:endParaRPr lang="en-US" sz="910" dirty="0"/>
          </a:p>
        </p:txBody>
      </p:sp>
      <p:sp>
        <p:nvSpPr>
          <p:cNvPr id="35" name="03 · 03 / 03"/>
          <p:cNvSpPr/>
          <p:nvPr/>
        </p:nvSpPr>
        <p:spPr>
          <a:xfrm>
            <a:off x="11000232" y="6473952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ko-KR" sz="1000" b="1" dirty="0">
                <a:solidFill>
                  <a:srgbClr val="9CAD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/ 03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SalesLUV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SalesLUV | 보고서 에이전트 Deep Agents 개선</dc:title>
  <dc:subject>무엇이 문제였나? · 어떻게 바뀌었나? · 개선사항</dc:subject>
  <dc:creator>SalesLUV</dc:creator>
  <cp:lastModifiedBy>SalesLUV</cp:lastModifiedBy>
  <cp:revision>2</cp:revision>
  <dcterms:created xsi:type="dcterms:W3CDTF">2026-09-17T05:28:05Z</dcterms:created>
  <dcterms:modified xsi:type="dcterms:W3CDTF">2026-09-17T05:37:56Z</dcterms:modified>
  <cp:keywords>SalesLUV, 보고서 에이전트, Deep Agents, 토큰, 보고서 품질, 최종본</cp:keywords>
  <dc:description>승인된 3장 구성을 유지한 발표용 최종본. 출처 및 평가조건은 각 슬라이드의 발표자 메모 참조.</dc:description>
  <dc:language>ko-KR</dc:language>
</cp:coreProperties>
</file>