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BFD4FF"/>
                </a:solidFill>
                <a:latin typeface="맑은 고딕"/>
              </a:rPr>
              <a:t>SALES HISTORY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400" b="1">
                <a:solidFill>
                  <a:srgbClr val="FFFFFF"/>
                </a:solidFill>
                <a:latin typeface="맑은 고딕"/>
              </a:rPr>
              <a:t>SalesLuv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1012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9EC2FF"/>
                </a:solidFill>
                <a:latin typeface="맑은 고딕"/>
              </a:rPr>
              <a:t>화면설계서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4160520"/>
            <a:ext cx="2011680" cy="27432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C6D3E8"/>
                </a:solidFill>
                <a:latin typeface="맑은 고딕"/>
              </a:rPr>
              <a:t>실제 구현 화면을 캡처해 UI 번호와 동작·상태·예외를 붙인 문서입니다.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000" b="0">
                <a:solidFill>
                  <a:srgbClr val="8A9CBC"/>
                </a:solidFill>
                <a:latin typeface="맑은 고딕"/>
              </a:rPr>
              <a:t>기준 문서 · docs/planning/유저 시나리오.md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>
                <a:solidFill>
                  <a:srgbClr val="B8CAE8"/>
                </a:solidFill>
                <a:latin typeface="맑은 고딕"/>
              </a:rPr>
              <a:t>작성일 2026-08-28    ·    버전 v1.0    ·    확인 환경 로컬 (1600×1000)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문서 읽는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화면 1개 = 슬라이드 1개. 왼쪽은 실제 캡처, 오른쪽은 그 번호에 대응하는 동작 설명입니다.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5669280" cy="502920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" y="1618488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93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19" y="1572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BFD4FF"/>
                </a:solidFill>
                <a:latin typeface="맑은 고딕"/>
              </a:rPr>
              <a:t>/경로</a:t>
            </a:r>
          </a:p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진입 · 진입 경로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21408"/>
            <a:ext cx="3429000" cy="2148840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8152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8A93A5"/>
                </a:solidFill>
                <a:latin typeface="맑은 고딕"/>
              </a:rPr>
              <a:t>실제 화면 캡처 + 번호 배지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352544"/>
            <a:ext cx="342900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4425696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800" b="0">
                <a:solidFill>
                  <a:srgbClr val="4B5466"/>
                </a:solidFill>
                <a:latin typeface="맑은 고딕"/>
              </a:rPr>
              <a:t>Empty / Loading / Error / Validation / 조건부 노출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21945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7" y="217627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요소 이름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동작 · 정책 설명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28529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7" y="283464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요소 이름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동작 · 정책 설명</a:t>
            </a:r>
          </a:p>
        </p:txBody>
      </p:sp>
      <p:sp>
        <p:nvSpPr>
          <p:cNvPr id="18" name="Oval 17"/>
          <p:cNvSpPr/>
          <p:nvPr/>
        </p:nvSpPr>
        <p:spPr>
          <a:xfrm>
            <a:off x="4023360" y="3511295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7" y="3493007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요소 이름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동작 · 정책 설명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4813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41B2B"/>
                </a:solidFill>
                <a:latin typeface="맑은 고딕"/>
              </a:rPr>
              <a:t>작성 규칙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897380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1847088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번호 배지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캡처 위 빨간 원과 오른쪽 설명의 번호는 1:1로 맞춥니다. 배지가 없는 요소는 설명하지 않습니다.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610612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560320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설명 기준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"무엇인지"가 아니라 "어떻게 동작하는지 · 왜 그런지"를 씁니다. 모든 요소를 설명하지 않습니다.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323844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3273552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상태 표기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해피 패스만 그리지 않고 Empty / Loading / Error / Validation / 조건부 노출을 따로 적습니다.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037076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398678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화면 ID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도메인 약어 + 두 자리. 슬라이드 번호가 아니라 이 ID로 화면을 지칭합니다.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750308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470001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근거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모든 문구·동작은 2026-08-28 로컬 실행 화면에서 직접 확인한 것입니다. 코드만 보고 추측하지 않았습니다.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046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41B2B"/>
                </a:solidFill>
                <a:latin typeface="맑은 고딕"/>
              </a:rPr>
              <a:t>화면 ID 체계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8521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AU 인증   DB 대시보드   CU 고객   CP 고객불만   CA 캘린더·일정   RP 업무보고
DL 영업   SA 매출   DC 자료실   NT 알림   MY 마이페이지   QT·CT·OD 견적·계약·발주   MG 관리   ER 오류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문서 읽는 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전체 사용자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4B5466"/>
                </a:solidFill>
                <a:latin typeface="맑은 고딕"/>
              </a:rPr>
              <a:t>유저 시나리오의 업무 흐름을 실제 구현된 화면 ID로 옮긴 것입니다.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4B5466"/>
                </a:solidFill>
                <a:latin typeface="맑은 고딕"/>
              </a:rPr>
              <a:t>로그인 뒤 대시보드가 모든 갈래의 출발점입니다.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017520"/>
            <a:ext cx="1572768" cy="566928"/>
          </a:xfrm>
          <a:prstGeom prst="roundRect">
            <a:avLst>
              <a:gd name="adj" fmla="val 14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13639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로그인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BFD4FF"/>
                </a:solidFill>
                <a:latin typeface="맑은 고딕"/>
              </a:rPr>
              <a:t>AU-01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94760"/>
            <a:ext cx="1572768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91363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계정 요청 · 비밀번호 설정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AU-02 · AU-03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97864" y="3584448"/>
            <a:ext cx="0" cy="21031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95728" y="3017520"/>
            <a:ext cx="1572768" cy="566928"/>
          </a:xfrm>
          <a:prstGeom prst="roundRect">
            <a:avLst>
              <a:gd name="adj" fmla="val 14000"/>
            </a:avLst>
          </a:prstGeom>
          <a:solidFill>
            <a:srgbClr val="1B6EF3"/>
          </a:solidFill>
          <a:ln w="1270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313639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대시보드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BFD4FF"/>
                </a:solidFill>
                <a:latin typeface="맑은 고딕"/>
              </a:rPr>
              <a:t>DB-01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84248" y="3300984"/>
            <a:ext cx="41148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46320" y="93268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05156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고객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CU-01 → CU-02 · CU-03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68496" y="1216152"/>
            <a:ext cx="877824" cy="208483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0" y="175564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87452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일정 · 미팅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CA-01 → CA-02 → RP-02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968496" y="2039112"/>
            <a:ext cx="877824" cy="126187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46320" y="257860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69748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업무보고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RP-01 → RP-04 → RP-05 → RP-06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968496" y="2862072"/>
            <a:ext cx="877824" cy="43891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46320" y="340156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영업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DL-01 · DL-02 → DL-04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68496" y="3300984"/>
            <a:ext cx="877824" cy="384048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46320" y="422452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34340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매출 분석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SA-01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68496" y="3300984"/>
            <a:ext cx="877824" cy="1207008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46320" y="504748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516636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자료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DC-01 → DC-02 → DC-04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68496" y="3300984"/>
            <a:ext cx="877824" cy="2029967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46320" y="587044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98932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CS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CP-01 → CP-03 → CP-02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68496" y="3300984"/>
            <a:ext cx="877824" cy="2852928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29600" y="93268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05156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고객 상세 · 등록 (모달 / 드로어)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CU-02 · CU-03 · CU-04 · CU-05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75564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87452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AI 브리핑 → 업무보고서 작성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CA-02 → RP-02 → RP-03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57860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269748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일일 → 주간 → 월간 (앞 단계가 재료)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RP-04 → RP-05 → RP-06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40156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52044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견적 · 계약 · 발주로 이어짐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QT-01 · CT-01 · OD-01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22452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34340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기간 × 회사 · 지역 · 상품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SA-01 · SA-02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504748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516636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딜 · 상품 연결 + 버전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DC-03 · DC-04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587044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98932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접수 → 원인파악 → 처리중 → 처리완료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CP-02 에서 상태 변경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26679" y="121615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726679" y="203911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726679" y="286207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26679" y="368503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26679" y="450799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26679" y="5330951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26679" y="615391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1480" y="489204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공통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로그아웃 상태로 보호 화면 접근 → /login 으로 이동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팀원이 팀장 전용 주소 직접 입력 → 대시보드로 되돌림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정의되지 않은 주소 → 404 (ER-01)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백엔드 응답 실패 → 연결 안내 모달 (ER-02)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전체 사용자 Flow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목록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구현된 화면 45개. 상태·변형 화면(Empty·Loading·Error)은 각 화면의 상세 장에 함께 실었습니다.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81328"/>
          <a:ext cx="11375135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09"/>
                <a:gridCol w="2012524"/>
                <a:gridCol w="1925023"/>
                <a:gridCol w="2012524"/>
                <a:gridCol w="4637555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진입 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AU-01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/login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서비스 첫 진입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이메일 로그인, 인증 실패 안내, 로컬 전용 빠른 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AU-02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회원가입 (계정 발급 요청)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/signup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로그인 하단 링크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이메일 남기고 계정 발급 요청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AU-03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비밀번호 설정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/set-password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초대 메일 링크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8자 이상 검증, 링크 만료 처리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로그인 직후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공지·지시사항, KPI 4종, 주간 일정, 일정 추가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 · 지시사항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 항목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 원문 확인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C/S 대응요청 목록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(드로어)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C/S KPI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미완료·완료 건수, 긴급도·상태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예정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KPI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30일 이내 종료 예정 계약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DB-05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 (팀장)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팀장 로그인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관리 메뉴 노출, 팀 전체 범위 전환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고객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통합 검색, 컬럼 설정, 엑셀 내보내기, 정렬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 상세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(드로어)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 행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연락처·회사·고객 정보·메모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(모달)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 버튼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회사 자동완성, 필수값 검증, 유입경로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명함으로 고객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명함 이미지에서 정보 추출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CU-05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엑셀(CSV) 고객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(모달)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 버튼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CSV 다량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CP-01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/complaints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고객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상태 탭·건수, 검색, 목록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/complaints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불만 행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접수 내용, 답변 이력·등록, 상태 변경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/complaints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회사 → 딜 종속 선택, 긴급도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목록 (1/3)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목록 (2/3)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75135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09"/>
                <a:gridCol w="2012524"/>
                <a:gridCol w="1925023"/>
                <a:gridCol w="2012524"/>
                <a:gridCol w="4637555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진입 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CA-01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캘린더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/calendar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영업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월간 그리드, 드래그 이동, AI 추천 일정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CA-02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· /calendar (드로어)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연결 딜, AI 브리핑, 보고서 작성 연결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CA-03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/calendar (모달)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날짜 칸 + / 일정 추가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고객사 → 고객 종속 선택, 미등록 회사 즉시 생성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영업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종류 탭, 주간·월간 달력, 상태·기간 필터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/meetings/new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 · 일정 행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미팅 정보, 딜 연결, 첨부, AI 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AI 결과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/meetings/new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AI 작성 완료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AI 원본 고정 보관, 본문 직접 수정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일일업무보고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/daily/new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그날 활동 선택, 필수 항목, 제출 조건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RP-05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주간업무보고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/daily/new?kind=weekly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제출된 일일업무를 재료로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월간업무보고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/daily/new?kind=monthly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제출된 주간업무 + 시스템 집계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RP-07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대상 일정 고르기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/daily/pick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업무보고서를 붙일 일정 1건 선택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/meetings/:id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 목록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제출된 보고서와 근거 확인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(리스트)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영업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단계 탭, 파이프라인·기간 필터, 정렬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(보드)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/deals/board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› 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단계별 컬럼, 드래그로 단계 변경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 딜 추가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고객사·제품·파이프라인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행·카드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정보 + 견적·계약·발주 연결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SA-01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매출분석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/sales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· 대시보드 매출 목표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기간 6종 × 회사·지역·상품별, CSV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목록 (2/3)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목록 (3/3)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75135" cy="4037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09"/>
                <a:gridCol w="2012524"/>
                <a:gridCol w="1925023"/>
                <a:gridCol w="2012524"/>
                <a:gridCol w="4637555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진입 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DC-01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/documents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자료실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분류 탭, 검색, 버전·연결 표시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DC-02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파일 업로드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/documents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자료실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분류·연결 대상(상품/딜)·메모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DC-04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/documents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 행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 정보, 버전 이력, 새 버전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NT-01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/notifications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헤더 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전체 / 읽지 않음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MY-01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마이페이지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/mypage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이름 · 헤더 아바타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내 정보, 약관·정책, 로그아웃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QT-01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견적 현황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/quotes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견적 섹션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견적 상태 5단계 (시나리오 외)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CT-01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 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/contracts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계약 섹션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 상태 5단계 (시나리오 외)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OD-01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발주 관리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/orders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발주 섹션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발주 상태 6단계, 발주 상세 (시나리오 외)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MG-01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/notices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공지·지시사항 등록과 노출 관리 (팀장)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MG-02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상품관리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/products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관리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상품 등록·단가·유효기간 (팀장)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MG-03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팀 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/team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역할·재직·월 목표 (팀장, 저장 미구현)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ER-01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404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정의되지 않은 주소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잘못된 주소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셸 안에서 안내 + 대시보드 복귀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ER-02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서버 연결 불가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전 화면 공통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백엔드 응답 실패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안내 모달, 닫기 / 다시 시도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목록 (3/3)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간 연결 관계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실제 구현 기준입니다. 시나리오와 다른 부분은 비고에 표시했습니다.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81328"/>
          <a:ext cx="11375134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407"/>
                <a:gridCol w="1851766"/>
                <a:gridCol w="2733559"/>
                <a:gridCol w="2292663"/>
                <a:gridCol w="2821739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시작 화면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사용자 행동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이동 · 결과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로그인 성공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AU-01 → DB-01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회원가입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계정 발급 요청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AU-01 → AU-02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초대 메일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링크 열기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비밀번호 설정 → 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AU-03 → AU-01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매출 목표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매출분석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SA-01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화면을 옮기는 유일한 KPI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CA-02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C/S 대응요청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C/S 목록 드로어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DB-03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시나리오는 화면 이동, 실제는 드로어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DB-04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시나리오는 화면 이동, 실제는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공지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공지 상세 드로어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DB-02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캘린더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CA-01 → CA-02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대시보드와 같은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캘린더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날짜 칸 + 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등록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CA-01 → CA-03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빈 칸 클릭만으로는 열리지 않음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일정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CA-02 → RP-02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간 연결 관계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간 연결 관계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75134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407"/>
                <a:gridCol w="1851766"/>
                <a:gridCol w="2733559"/>
                <a:gridCol w="2292663"/>
                <a:gridCol w="2821739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시작 화면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사용자 행동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이동 · 결과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업무보고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고르기 / 일일·주간·월간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RP-01 → RP-07 · RP-04~06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AI 보고서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AI 결과 확인 → 사용자 수정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RP-02 → RP-03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CU-01 → CU-02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고객현황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CU-01 → CU-03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시나리오는 별도 화면, 실제는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고객불만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불만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CP-01 → CP-02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고객불만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등록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CP-01 → CP-03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영업현황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딜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DL-01 · DL-02 → DL-04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딜 상세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견적 · 계약 · 발주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각 현황 화면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DL-04 → QT-01 · CT-01 · OD-01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사이드바에 없는 진입 경로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자료실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파일 업로드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업로드 모달 → 목록 반영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DC-01 → DC-02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자료실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자료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자료 상세 · 버전 이력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DC-01 → DC-04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전 화면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권한 없는 주소 입력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대시보드로 되돌림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→ DB-01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팀장 전용 화면 접근 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간 연결 관계 (2/2)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화면별 상세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왼쪽은 실제 브라우저 캡처(1600×1000), 오른쪽은 캡처 위 번호에 대응하는 동작 설명입니다.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00" b="0">
                <a:solidFill>
                  <a:srgbClr val="4B5466"/>
                </a:solidFill>
                <a:latin typeface="맑은 고딕"/>
              </a:rPr>
              <a:t>· 화면 1개 = 슬라이드 1개. 상태·변형 화면은 머리말에 Empty / Loading / Error / 권한 등으로 표시했습니다.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00" b="0">
                <a:solidFill>
                  <a:srgbClr val="4B5466"/>
                </a:solidFill>
                <a:latin typeface="맑은 고딕"/>
              </a:rPr>
              <a:t>· 캡처 위 빨간 번호와 오른쪽 설명의 번호는 1:1로 대응합니다.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00" b="0">
                <a:solidFill>
                  <a:srgbClr val="4B5466"/>
                </a:solidFill>
                <a:latin typeface="맑은 고딕"/>
              </a:rPr>
              <a:t>· 화면 아래 '상태 · 예외' 칸에는 그 화면에서 실제로 확인한 상태만 적었습니다.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00" b="1">
                <a:solidFill>
                  <a:srgbClr val="141B2B"/>
                </a:solidFill>
                <a:latin typeface="맑은 고딕"/>
              </a:rPr>
              <a:t>· 총 61장.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화면별 상세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/login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서비스 첫 진입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832104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[Validation]  빈 값 제출은 브라우저 기본 안내로 막힙니다 (required · type=email)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[Error]  자격 불일치 시 폼 위에 '이메일 또는 비밀번호가 올바르지 않습니다.'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[세션]  이미 로그인한 상태로 /login 을 열면 대시보드로 되돌립니다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서비스 설명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로그인·회원가입이 함께 쓰는 좌측 패널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화면 폭이 좁아지면 숨습니다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이메일 · 비밀번호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둘 다 필수. 이메일은 형식이 틀리면 브라우저가 먼저 막습니다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로그인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성공하면 대시보드(/)로 이동합니다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빠른 로그인 (로컬 전용)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7121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팀원1·팀원2·팀장 계정으로 즉시 로그인하는 개발 편의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운영에는 노출하지 않습니다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회원가입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/signup 으로 이동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84962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스스로 가입하는 것이 아니라 계정 발급을 요청합니다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AU-01 · 로그인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로그인 — 인증 실패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-01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인증 실패 문구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이메일과 비밀번호 중 무엇이 틀렸는지 구분해 알리지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입력값은 지우지 않아 그대로 고쳐 다시 시도할 수 있습니다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AU-01 · 로그인 — 인증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회원가입 (계정 발급 요청)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/signup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로그인 하단 링크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[Flow]  요청 → 관리자 계정 발급 → 초대 메일 → AU-03 비밀번호 설정 → 로그인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안내 문구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이메일을 남기면 일주일 이내로 계정 발급을 안내한다고 알립니다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4584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즉시 가입이 아니라 요청 접수 화면입니다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7373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72364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92938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필수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요청 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관리자가 계정을 만들면 초대 메일이 발송됩니다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이미 계정이 있으면 /login 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AU-02 · 회원가입 (계정 발급 요청)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비밀번호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/set-password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초대 메일 링크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[정책]  토큰은 URL 해시로 받고 즉시 주소창에서 지웁니다 (뒤로가기·공유 유출 방지)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[성공]  세션을 만들지 않고 /login 으로 보냅니다. 새 비밀번호로 직접 로그인해 확인합니다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8자 이상 규칙을 미리 알립니다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새 비밀번호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8자 미만이면 '8자 이상 입력해 주세요.'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비밀번호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값이 다르면 '두 비밀번호가 다릅니다.'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비밀번호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3288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두 조건을 모두 만족할 때까지 비활성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AU-03 · 비밀번호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비밀번호 설정 — 링크 만료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/set-password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-03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토큰이 없거나 만료된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입력 폼 자체를 그리지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'링크가 만료되었거나 올바르지 않습니다. 초대 메일의 링크는 한 번만 쓸 수 있습니다.'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다음 행동으로 관리자에게 재발송을 요청하라고 안내합니다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AU-03 · 비밀번호 설정 — 링크 만료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(대시보드)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로그인 직후 · 로고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일정 없는 날은 '이 날짜에는 등록된 일정이 없습니다.'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[권한]  '관리' 메뉴와 팀 범위 스위처는 팀장에게만 보입니다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사이드바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대시보드 / 고객 / 영업 / 자료실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755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팀장이면 '관리' 섹션이 더 붙습니다 (DB-05)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407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270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알림 · 마이페이지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327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알림은 사이드바에 없고 헤더 벨로만 들어갑니다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9979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9842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공지 · 팀장 지시사항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899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항목을 누르면 상세 드로어(DB-02)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4551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414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업무 현황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오늘 방문 거래처 → 오늘 일정으로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802636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C/S → 드로어(DB-03), 계약갱신 → 드로어(DB-04)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2232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20954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매출 목표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15284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KPI 중 유일하게 화면을 옮기는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570732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매출분석(SA-01)으로 이동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8359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82219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주간업무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027932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일~토가 아니라 오늘 기준 7일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18338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날짜 밑 점이 그날 일정 수</a:t>
            </a:r>
          </a:p>
        </p:txBody>
      </p:sp>
      <p:sp>
        <p:nvSpPr>
          <p:cNvPr id="33" name="Oval 32"/>
          <p:cNvSpPr/>
          <p:nvPr/>
        </p:nvSpPr>
        <p:spPr>
          <a:xfrm>
            <a:off x="7790688" y="44485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43484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일정 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464058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선택한 날짜로 일정 등록 모달(CA-03)</a:t>
            </a:r>
          </a:p>
        </p:txBody>
      </p:sp>
      <p:sp>
        <p:nvSpPr>
          <p:cNvPr id="36" name="Oval 35"/>
          <p:cNvSpPr/>
          <p:nvPr/>
        </p:nvSpPr>
        <p:spPr>
          <a:xfrm>
            <a:off x="7790688" y="49057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489204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선택한 날짜의 일정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509778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행을 누르면 일정 상세(CA-02)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525322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'보고서 작성'은 업무보고서 작성(RP-02)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5408676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끝난 일정은 흐리게 표시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DB-01 · 대시보드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대시보드 — 일정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(대시보드)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B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날짜 머리말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오늘이면 '오늘' 배지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다른 날짜를 골라도 '일정 추가'는 그대로 있습니다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'이 날짜에는 등록된 일정이 없습니다.' + 달력 아이콘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상태에서도 일정 추가 경로를 막지 않습니다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DB-01 · 대시보드 — 일정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공지 · 지시사항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 공지 항목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'공지' 또는 '팀장 지시사항' + 등록 일시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제목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본문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9280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원문 그대로 보여 줍니다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닫기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36372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Esc·배경 클릭으로도 닫히고 뒤 화면은 그대로 남습니다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DB-02 · 공지 · 지시사항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C/S 대응요청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 C/S KPI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[시나리오 차이]  시나리오는 '고객 불만 관리 화면으로 이동'이지만 실제로는 드로어 목록만 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'미완료 N건 · 처리완료 N건'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요청 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제목 + 고객사 · 계약번호 + 내용 앞부분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긴급도 배지 / 처리 상태 / 접수일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DB-03 · C/S 대응요청 목록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계약갱신 예정 — 0건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 계약갱신 KPI 클릭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B-04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'30일 이내 종료 예정인 계약이 없습니다.'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건수가 0이어도 카드는 눌리고 드로어가 열립니다 — 어떤 조건으로 센 값인지 확인시키기 위함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DB-04 · 계약갱신 예정 — 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대시보드 — 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권한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(대시보드)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팀장 계정 로그인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B-05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관리 메뉴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공지관리 · 상품관리 · 팀 관리가 사이드바에 추가됩니다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팀원이 주소를 직접 입력하면 오류 화면 없이 대시보드로 되돌립니다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90652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89280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보기 범위 스위처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팀원은 '내 현황' 고정, 팀장은 '팀 전체'로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6771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KPI와 매출 목표가 팀 합계로 바뀝니다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DB-05 · 대시보드 — 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고객 › 고객현황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결과가 없으면 '조건에 맞는 고객이 없습니다.' + '검색 초기화'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통합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이름·회사·부서·직함·이메일·전화를 한 칸에서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755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입력 즉시 목록이 갱신됩니다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407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270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컬럼 설정 · 내보내기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327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내보내기는 체크한 행만 엑셀로 저장합니다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9979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9842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명함 등록 · 엑셀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899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각각 CU-04 / CU-05 모달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4551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414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고객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별도 화면이 아니라 목록 위 모달(CU-03)로 엽니다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클릭 정렬, 경계를 끌어 너비 조절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259836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맨 앞 체크박스로 전체 선택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5250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5112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고객 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717036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누르면 고객 상세 드로어(CU-02)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872484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방문여부는 점+라벨로 구분</a:t>
            </a:r>
          </a:p>
        </p:txBody>
      </p:sp>
      <p:sp>
        <p:nvSpPr>
          <p:cNvPr id="32" name="Oval 31"/>
          <p:cNvSpPr/>
          <p:nvPr/>
        </p:nvSpPr>
        <p:spPr>
          <a:xfrm>
            <a:off x="7790688" y="41376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12394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페이지네이션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329684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'1–10 / 10명' 처럼 범위와 총계를 함께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CU-01 · 고객현황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고객현황 — 검색 결과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검색어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결과여도 입력한 검색어는 지우지 않습니다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'조건에 맞는 고객이 없습니다.'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'검색 초기화'로 한 번에 전체 목록으로 되돌립니다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CU-01 · 고객현황 — 검색 결과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고객현황 — 컬럼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툴바 '컬럼 설정'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-01-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표에 넣을 항목과 순서를 정하고, 너비는 헤더 경계를 끌어 조절한다고 알립니다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컬럼 목록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회사·이름은 '고정'이라 끌 수 없습니다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92938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나머지는 체크로 표시 여부, 끌어서 순서 변경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기본값으로 되돌리기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설정을 초기 상태로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CU-01 · 고객현황 — 컬럼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 행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이름 + 회사 · 부서 · 직함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영업 상태 / 유입 경로 / 담당자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유입 경로가 없으면 '유입 미지정'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연락처 · 회사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이메일·전화 / 회사·지역 코드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 정보 · 메모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부서·직함·담당자·상태·유입 경로·등록일 + 메모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이메일 보내기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등록된 이메일로 메일 작성을 엽니다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CU-02 · 고객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고객현황 '고객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선택한 회사가 기존/신규인지에 따라 ②의 입력 가능 여부가 바뀝니다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[Validation]  필수값은 제출 시 한 번에 검사하고 항목 아래 붉은 문구로 표시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회사 (필수)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목록에 없으면 '직접 등록하기'로 새 회사를 만듭니다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사업자 등록번호 · 주소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기존 회사를 고르면 회사 정보로 채워지고 읽기 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92938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새 회사일 때만 직접 입력 + '주소 검색' 노출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이름 · 전화 (필수)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미입력 제출 시 '이름을 입력하세요.' / '전화번호를 입력하세요.'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8483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3464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방문여부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미방문 / 방문 토글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유입경로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51129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미지정·소개·행사·박람회·온라인 문의·기존 거래·미디어·기타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95935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94563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고객 등록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15137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등록하면 모달이 닫히고 목록에 반영됩니다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CU-03 · 고객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 등록 — 회사 검색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-03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일치가 없으면 '일치하는 고객사가 없습니다.' 아래 직접 등록 항목만 남습니다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회사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입력을 멈추면 서버에 조회하고 그동안 로딩을 표시합니다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일치 구간을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주소가 있으면 주소를, 동명 회사는 사업자등록번호를 보조줄로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직접 등록하기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결과에 없을 때 입력한 이름 그대로 새 회사를 만듭니다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CU-03 · 고객 등록 — 회사 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명함으로 고객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고객현황 '명함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동작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명함 사진에서 이름·회사·연락처를 읽어 등록 폼을 채운다고 알립니다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명함 사진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촬영 요령을 함께 안내 — 인식 실패를 줄이기 위한 사전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명함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40030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읽은 값으로 고객 등록 폼(CU-03)을 채워 사용자가 확인·수정한 뒤 저장합니다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CU-04 · 명함으로 고객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엑셀(CSV)로 고객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고객현황 '엑셀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동작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CSV(UTF-8) 한 줄이 고객 한 명이 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필요한 열 이름을 그대로 안내: 회사·사업자 등록번호·이름·전화·부서·직함·이메일·방문여부·메모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실행 버튼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 선택 전에는 라벨이 '파일을 먼저 선택하세요'인 채로 비활성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CU-05 · 엑셀(CSV)로 고객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고객불만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/complaints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고객 › 고객불만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제목·회사·계약번호·내용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고객불만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모달(CP-03)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전체 / 접수 / 원인파악 / 처리중 / 처리완료 + 각 건수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상태별 색 점을 목록 배지와 맞춥니다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7121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· 딜 · 등록자 · 제목 · 내용 · 상태 · 발생일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불만 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51129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누르면 상세 드로어(CP-02)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379018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77647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페이지네이션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CP-01 · 고객불만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고객불만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/complaints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불만 행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[시나리오 차이]  시나리오는 답변 등록을 '추후 기능'으로 두었으나 실제로는 구현되어 있습니다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제목 + 회사 · 계약번호 + 현재 상태 배지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접수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회사·딜·제품·워런티·등록한 사람·발생일시·등록일시·내용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답변 이력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작성자와 작성 일시를 남겨 누가 언제 답했는지 추적합니다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답변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여기서 바로 답변을 등록합니다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변경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34213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드로어 하단에서 접수→원인파악→처리중→처리완료로 바꿉니다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CP-02 · 고객불만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CP-03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고객불만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/complaints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고객불만 '고객불만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회사 → 딜 순서가 강제됩니다 (딜은 회사에 종속)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회사 (필수)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딜선택 (필수)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773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회사를 고르기 전에는 비활성 — '회사를 먼저 선택하세요'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327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그 회사에 연결된 딜만 후보로 나옵니다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9979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9842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상태 (필수)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899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접수 / 원인파악 / 처리중 / 처리완료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4551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414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발생 날짜 (필수)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등록일시와 별개로 실제 발생 시점을 남깁니다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긴급도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체크하면 목록·대시보드에 '긴급' 배지가 붙습니다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3695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3558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내용 (필수)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671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6576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취소 · 불만 등록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CP-03 · 고객불만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캘린더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/calendar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영업 › 캘린더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[Loading]  추천을 받는 동안 '추천을 새로 받는 중입니다.'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데스크톱에서는 헤더의 일정 등록 버튼이 숨고 날짜 칸의 '+'만 남습니다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 이동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◀ 2026년 8월 ▶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범례 · 오늘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미팅/업무 색 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'일정 등록' 버튼은 모바일 폭에서만 나타납니다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월간 그리드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일정 칩을 끌어 다른 날짜로 옮깁니다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3건이 넘으면 '+N', 칸 우측 '+'로 그 날짜 일정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73862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칸을 누르는 것만으로는 아무 일도 없습니다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301752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0380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추천 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새로고침으로 다시 받습니다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추천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우선순위 N / 회사 · 담당자 / 딜 / 추천 이유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4962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X로 카드를 닫습니다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41285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1148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일정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3205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추천 건으로 일정을 잡습니다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CA-01 · 캘린더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캘린더 — AI 추천 대기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81838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-01-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추천 로딩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'추천을 새로 받는 중입니다.'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월간 그리드는 그대로 쓸 수 있고 추천 패널만 대기 상태가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추천은 AI 호출이라 화면 진입보다 늦게 채워집니다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CA-01 · 캘린더 — AI 추천 대기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일정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· /calendar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대시보드·캘린더 일정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[예외]  담당자 연락처가 연결되지 않은 일정은 AI 브리핑을 만들지 못합니다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회사명 + 일정 제목 · 날짜 시각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배지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완료 여부 / 보고서 작성 여부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세부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부서 · 담당자 · 직책 · 장소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브리핑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3288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기준 진행 딜을 모아 요약하고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방문 전 확인할 항목을 제안합니다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메모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2826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2689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업무보고서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4747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그 일정의 업무보고서 작성(RP-02)으로 이동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CA-02 · 일정 상세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일정 상세 — AI 브리핑 불가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예외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-02-no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정보가 없는 일정은 제목만 표시됩니다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관련 영업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영업번호 · 단계 · 계약번호 · 금액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값이 없으면 '—'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브리핑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'담당자 연락처가 연결되지 않아 AI 브리핑을 만들 수 없습니다.'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56946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실패를 감추지 않고 원인을 문장으로 알려 사용자가 고칠 수 있게 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CA-02 · 일정 상세 — AI 브리핑 불가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일정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/calendar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날짜 칸 '+' · 대시보드 '일정 추가'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고객사 → 고객 순서가 강제됩니다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제목 (필수)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2298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161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날짜 (필수)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42189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누른 날짜가 기본값으로 채워집니다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고객사 (필수)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9280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등록되지 않은 회사는 이 화면에서 바로 만듭니다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 (필수)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3288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고객사를 고르기 전에는 비활성 — '고객사를 먼저 고르세요'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장소 · 메모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메모 안내 문구는 '참고사항'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4518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3814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CA-03 · 일정 등록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영업 › 업무보고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[더 보기]  30건씩 나눠 싣고 '전체 N건 중 30건 표시'로 남은 양을 알립니다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종류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전체 / 업무보고서 / 일일업무 / 주간업무 / 월간업무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작성하기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773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종류를 고르는 드롭다운으로 열립니다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425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288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주간 머리말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345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기간 이동 · '오늘' · '달력 더보기'(월간 전환)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2997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2860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주간 스트립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917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일~토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날짜 밑 점 색이 그날 보고서 상태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범례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확정 / 검토 대기 / 작성중 / 미작성 · 반려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3695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3558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검색 · 필터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5615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상태·보고 대상·기간으로 좁힙니다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38267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8130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018788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종류 배지 · 제목 · 시각/담당 · 대상 · 날짜 · 상태 배지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 — 작성 종류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P-01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종류 메뉴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업무보고서 — 일정 1건을 선택해 기록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일일업무 — 오늘의 일정과 미팅 결과를 모아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4584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주간업무 — 제출된 일일업무보고서를 모아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월간업무 — 제출된 주간업무보고서를 모아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9679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각 항목에 재료가 무엇인지 한 줄로 적어 작성 순서를 안내합니다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 — 작성 종류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 — 필터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P-01-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필터 패널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상태 — 작성중 / 검토 대기 / 확정 / 반려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보고 대상 — 보고를 받는 사람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4584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기간 — 전체 / 이번 주 / 이번 달 / 최근 3개월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'필터 초기화'로 한 번에 되돌립니다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 — 필터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 — 월간 달력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P-01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보기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'달력 더보기' ↔ '주간으로 보기'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월간 달력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날짜별로 작성된 보고서 종류(일일·주간·미팅)를 표시해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빠진 날을 찾게 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 — 월간 달력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보고서 대상 일정 고르기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/daily/pick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업무보고서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뒤로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업무보고 목록으로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기준 날짜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그날의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9280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하나를 고르면 그 일정의 업무보고서 작성으로 이동합니다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업무보고서는 일정 1건에 붙으므로 빈 폼으로 열 수 없습니다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RP-07 · 보고서 대상 일정 고르기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작성 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일정 상세 · 일정 행의 '보고서 작성'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[이어짐]  ④⑤ 첨부·입력 영역은 화면 아래로 이어집니다 (다음 장)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'일정 고르기'로 대상 변경 · PDF 다운로드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회사·부서·담당자·장소·일시·메모를 읽기 전용으로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영업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그 회사의 딜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체크한 딜이 이 보고서에 연결됩니다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70205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보고서가 작성되지 않았습니다' + '직접 작성하기'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AI 없이 직접 쓰는 길도 함께 둡니다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저장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RP-02 · 업무보고서 작성 — 작성 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입력 영역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계속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P-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첨부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PDF · 음성 · 이미지를 올립니다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없으면 '첨부한 자료가 없습니다.'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내용 · AI 보고서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직접 쓴 내용과 첨부가 모두 비면 'AI 보고서 작성'은 비활성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AI는 사용자가 준 재료가 있을 때만 돕습니다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RP-02 · 업무보고서 작성 — 입력 영역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AI 생성 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81838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P-02-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진행 단계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버튼은 'AI 보고서 작성 중…'으로 잠깁니다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시트에 '자료를 분석하는 중 / 내용을 구성하는 중 / 보고서를 정리하는 중' 단계를 보여 줍니다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오래 걸리는 작업이라 단순 스피너 대신 단계를 씁니다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RP-02 · 업무보고서 작성 — AI 생성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AI 결과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AI 보고서 작성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AI 원본 탭은 생성 전에는 존재하지 않습니다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정보 / AI 원본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생성 후에만 나타납니다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AI 원본은 최초 생성본으로 고정 — 오른쪽을 고쳐도 바뀌지 않습니다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생성 시각을 함께 남깁니다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90652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9280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제목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편집 가능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37744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36372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서식 도구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본문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7121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참석자 / 고객 반응 / 결정사항 / 다음 행동·기한 / 특이사항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사용자가 직접 고칩니다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근거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무엇을 바탕으로 썼는지 한 줄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95935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94563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다시 생성 ·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15137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다시 생성하면 본문과 AI 원본이 함께 갱신됩니다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RP-03 · 업무보고서 작성 — AI 결과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/meetings/:id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목록의 제출된 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+ 상태(작성완료) + 일시 · 작성자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본문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제출된 내용을 읽기 전용으로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정보 · 첨부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작성 당시의 근거를 함께 남겨 나중에 검증할 수 있게 합니다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RP-08 · 업무보고서 상세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일일업무보고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/daily/new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일일업무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[정책]  같은 기간에 작성중인 보고서가 있으면 새로 만들지 않고 이어 씁니다 (상단 안내)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[Validation]  필수 항목과 자료 1건 이상을 모두 채워야 제출됩니다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뒤로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업무보고 목록으로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PDF 다운로드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6870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6733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기준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79092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날짜 피커로 지난 날짜를 소급 작성할 수 있습니다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1442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305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그날의 활동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36292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일정·미팅과 각각의 작성 상태(미작성/작성중)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917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'보고서 작성'·'이어서 작성'으로 개별 보고서로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체크한 활동이 일일보고의 재료가 됩니다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항목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업무 요약* / 특이사항·이슈 / 내일 계획* / 경쟁사 동향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5250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5112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제출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717036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'제출 전 확인: 자료 1건 이상'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39822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9684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174236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조건을 채우기 전까지 비활성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RP-04 · 일일업무보고 작성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주간업무보고 작성 — 재료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/daily/new?kind=weekly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주간업무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P-05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[의존 관계]  일일 → 주간 → 월간 순으로 앞 단계 보고서를 재료로 씁니다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 단위. 선택한 주와 모인 건수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'이 주에 제출된 일일업무보고서가 없습니다.'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'일일업무보고서 작성하기'로 재료를 먼저 만들게 안내합니다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재료가 없어도 직접 쓸 수는 있습니다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RP-05 · 주간업무보고 작성 — 재료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월간업무보고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/daily/new?kind=monthly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월간업무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[보류]  한 주가 달을 걸칠 때(예: 8/30~9/4) 어느 달에 넣을지는 정책 미정 — 시나리오에서도 보류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 단위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'이 달에 제출된 주간업무보고서가 없습니다.' + '주간업무보고서 작성하기'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월간보고 내용 ·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직접 입력한 뒤 AI 보고서 작성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항목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70205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월간 실적(계약 건수·금액, 고객 활동 수) / 목표 대비 달성률 / 다음 달 중점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주간 보고서가 없어도 시스템 집계로 기본값이 채워집니다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제출 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51129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'제출 전 확인: 자료 1건 이상'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79018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77647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제출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RP-06 · 월간업무보고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영업현황 (리스트)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영업 › 영업현황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L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고객사·제품·영업번호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파이프라인 필터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6870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733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기간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79092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기본 최근 6개월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1442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305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보기 전환 · 영업 딜 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336292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같은 데이터를 리스트/보드 두 가지로 봅니다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6014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5877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단계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793492"/>
            <a:ext cx="373075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니즈 검증 → 제품 시연 평가 → 견적서 발송 → 계약서 발송 → 계약서 검토 → 계약 완료 → 발주 진행 → 납품 완료 / 취소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33695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3558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561588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영업번호·고객사·제품·유형·파이프라인·금액·시작일·단계·견적·계약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872484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헤더 클릭 정렬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41376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412394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딜 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4329684"/>
            <a:ext cx="3730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누르면 딜 상세 드로어(DL-04)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DL-01 · 영업현황 (리스트)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영업현황 (보드)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/deals/board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영업현황 › 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L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보기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리스트와 같은 필터·검색을 그대로 씁니다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단계 컬럼 머리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단계명 · 건수 · 금액 합계를 함께 보여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단계별 파이프라인 규모를 읽게 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딜 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끌어서 다른 단계로 옮기면 단계가 바뀝니다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⋯ 메뉴로 수정·삭제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컬럼별 딜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그 단계로 바로 등록합니다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비어 있는 단계는 '비어 있습니다'로 표시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DL-02 · 영업현황 (보드)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영업 딜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영업현황 '영업 딜 추가'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L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[시나리오 차이]  시나리오의 '유입경로'는 여기 없고 고객 등록(CU-03)으로 옮겼습니다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비우면 '고객사 제품'으로 자동 생성됩니다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고객사 (필수)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제품 (필수)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파이프라인 (필수)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6426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289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저장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DL-03 · 영업 딜 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딜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행·카드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L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고객사 + 영업번호 · 딜명 + 단계 / 유형 배지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딜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파이프라인·제품·금액·담당 영업·고객 담당자·지역·시작일·미팅 대상자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메모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견적 · 계약 · 발주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53288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딜 하나에서 후속 문서를 함께 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702052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없으면 '아직 견적을 작성하지 않았습니다' 처럼 단계별로 안내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수정 · 삭제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DL-04 · 딜 상세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매출분석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/sales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매출분석 · 대시보드 매출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[확인 필요]  대시보드 KPI는 8월 목표 ₩25.0M(83.2%)인데 이 화면은 '목표 미설정' — 목표값 출처 확인 필요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단위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주간 / 월 / 분기 / 상반기 / 하반기 / 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CSV 내보내기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실제 집계 범위를 함께 적어 무엇을 보는지 분명히 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분석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회사별 / 지역별 / 상품별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6946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선택이 주소에 남아 그대로 공유됩니다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8483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3464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계약 리스트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회사·건수·계약금액·비중 + 합계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행을 펼쳐 세부를 봅니다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매출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실적 /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4962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목표가 없으면 '목표 미설정'으로 그대로 표시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41285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1148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비중 · 증감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3205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구성 비중 막대와 '직전 기간 대비' 증감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SA-01 · 매출분석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매출분석 — 연간 · 상품별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변형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/sales?by=product&amp;tab=year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단위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기간을 바꿔도 분석 기준은 유지됩니다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분석 기준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기준을 바꿔도 기간은 유지됩니다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두 축을 독립적으로 조합합니다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집계 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선택한 기준으로 다시 묶어 보여 줍니다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같은 기간의 실적·목표·증감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SA-02 · 매출분석 — 연간 · 상품별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자료실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자료실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자료가 없으면 '아직 올린 자료가 없습니다.' + '파일 업로드'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[확인 필요]  분류 탭 건수가 실제 분류를 세지 않습니다 (상품설명서 1건인데 탭은 0)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2298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161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파일 업로드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42189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모달(DC-02)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분류 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9280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전체 / 계약서 / 발주서 / 상품설명서 / 견적서 / 기타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3288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파일명 · 분류 · 버전 · 연결 · 크기 · 등록일 · 받기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자료 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확장자 배지 + 파일명, 연결된 딜·상품, 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34213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누르면 상세(DC-04)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DC-01 · 자료실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자료실 — 자료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C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상태에서도 도구는 그대로 둡니다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기본 최근 1년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파일 업로드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분류 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6372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모두 0으로 표시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6426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6289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346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올린 자료가 없습니다.'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038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업로드 버튼을 본문 가운데에 한 번 더 둡니다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DC-01 · 자료실 — 자료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파일 업로드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자료실 '파일 업로드'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'연결 안 함'을 고르면 ③이 사라집니다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[미구현]  시나리오 21의 'AI 에이전트가 자료를 읽고 딜 정보 제안 → 승인 → 딜 저장'은 화면에 없습니다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드롭존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끌어다 놓거나 '파일 고르기'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 하나가 자료 한 건입니다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연결 안 함 / 상품 연결 / 딜 연결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대상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연결 대상을 고른 뒤에만 나타납니다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딜이면 '영업번호나 고객사로 검색'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목록에서 이 자료를 알아볼 한 줄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업로드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DC-02 · 파일 업로드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파일 업로드 — 파일 선택 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 (모달)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선택한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파일명과 크기를 확인하고 휴지통으로 뺍니다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파일을 고른 뒤에만 나타납니다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파일마다 따로 지정합니다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'딜 연결'을 고른 상태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딜 검색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영업번호 + 고객사 · 딜명으로 표시해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같은 회사의 여러 딜을 구분합니다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DC-03 · 파일 업로드 — 파일 선택 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자료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자료 행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C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파일명 + 자료번호 + 분류 / 확장자 / 버전 배지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자료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메모 · 연결 · 파일 · 크기 · 등록자 · 등록일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버전 이력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버전마다 파일·등록자·등록일을 남기고 각각 내려받습니다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새 버전 올리기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53288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같은 자료로 묶어 이력을 이어 갑니다 (새 자료를 만들지 않습니다)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DC-04 · 자료 상세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NT-01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알림 — 받은 알림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/notifications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헤더 벨 아이콘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T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전체 / 읽지 않음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'받은 알림이 없습니다.'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사이드바에 없는 화면이라 진입은 헤더 벨로만 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NT-01 · 알림 — 받은 알림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MY-01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마이페이지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/mypage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하단 이름 · 헤더 아바타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Y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내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이름과 역할(팀원/팀장)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바꿀 수 있는 설정이 없어 '설정' 대신 확인 화면으로 둡니다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7373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2364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약관 및 정책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92938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이용약관 / 개인정보처리방침 / 법적고지 — 각각 별도 화면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37744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36372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로그아웃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56946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세션을 지우고 /login 으로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MY-01 · 마이페이지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QT-01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견적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시나리오 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/quotes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상세 견적 섹션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[진입]  사이드바에 없습니다. 딜 상세(DL-04)의 견적 섹션에서 이어집니다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도구 모음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검색 · 파이프라인 · 기간 필터 · '견적 작성'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견적작성 → 견적검토 → 고객발송 → 조건협의 → 견적완료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견적을 작성한 영업 딜이 없습니다.' + '견적 작성'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QT-01 · 견적 현황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CT-01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계약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시나리오 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/contracts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상세 계약 섹션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도구 모음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검색 · 파이프라인 · 기간 필터 · '계약 작성'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초안작성 → 계약검토 → 고객협의 → 고객서명 → 계약완료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계약을 작성한 영업 딜이 없습니다.'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CT-01 · 계약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OD-01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발주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시나리오 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/orders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상세 발주 섹션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도구 모음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검색 · 공급처 · 기간 필터 · '발주 추가'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발주 접수 → 출고 의뢰서 완료 → 생산중 → 입고 완료 → 납품 완료 / 발주취소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발주번호·고객사·품목·공급처·요청부서·작성자·금액·발주일·납기·상태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발주 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누르면 발주 상세(/orders/발주번호)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페이지네이션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OD-01 · 발주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MG-01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공지관리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/notices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관리 › 공지관리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[권한]  팀원에게는 메뉴가 보이지 않고 주소를 직접 입력해도 대시보드로 되돌립니다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공지사항 / 팀장 지시사항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대시보드 상단 두 카드의 원본입니다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공지 등록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36372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순서 · 제목 · 태그 · 수신자 · 게시기간 · 상태 · 작성자 · 관리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281178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79806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공지 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003804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순서로 대시보드 노출 우선순위를,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게시기간으로 노출 종료를 관리합니다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MG-01 · 공지관리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MG-02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상품관리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/products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관리 › 상품관리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[권한]  목록 관리는 팀장만. 팀원은 딜·자료 화면에서 고르기만 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2298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21615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상품 등록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53162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1790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72364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사진 · 제품명 · 분류 · 제품단가 · 유효기간 · 메모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상품 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6372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여기 등록된 상품이 영업 딜 등록·자료 연결의 검색 후보가 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MG-02 · 상품관리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MG-03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팀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/team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관리 › 팀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현재 구성원 0명이라 표가 비어 있습니다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[미구현]  저장이 지속되지 않습니다 — 백엔드 연결 필요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재직 중인 구성원 수 / 월 매출 목표 합계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구성원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이름·직함·역할·재직 상태·월 매출 목표를 바꾸고 행마다 저장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미완성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'변경은 아직 이 화면 안에만 남습니다. 새로고침하면 처음 값으로 돌아옵니다.'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69464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저장이 서버에 반영되지 않는 상태임을 화면이 직접 밝힙니다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301752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03804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변경 모두 취소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MG-03 · 팀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ER-01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404 페이지를 찾을 수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정의되지 않은 주소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404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'해당하는 화면이 없습니다.' + '대시보드로 돌아가기'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사이드바가 있는 셸 안에서 보여 주어 바로 다른 메뉴로 옮겨갈 수 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9679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아직 구현되지 않은 메뉴도 여기로 떨어집니다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ER-01 · 404 페이지를 찾을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ER-02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서버 연결 불가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전 화면 공통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백엔드 응답 실패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실패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'서버에 연결할 수 없습니다 / 백엔드 서버 상태를 확인한 뒤 다시 시도해 주세요.'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'저장하지 않은 입력은 사라지지 않습니다'로 먼저 안심시킵니다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9679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앱 화면을 대체하지 않고 위에만 얹습니다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07568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61972"/>
            <a:ext cx="37307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닫기 · 다시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67712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닫아도 뒤 화면은 그대로 남고,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436876"/>
            <a:ext cx="3730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이후 다시 실패하면 같은 안내가 다시 뜹니다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ER-02 · 서버 연결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입력값 검증 · 처리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화면에서 실제로 확인한 문구만 옮겼습니다. 문구가 없는 조건부 동작은 문구 칸을 '—'로 두었습니다.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81328"/>
          <a:ext cx="11375133" cy="4887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513"/>
                <a:gridCol w="2975035"/>
                <a:gridCol w="3675043"/>
                <a:gridCol w="3587542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문구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AU-01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이메일 · 비밀번호 미입력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브라우저 기본 필수 안내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제출 차단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AU-01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자격 불일치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이메일 또는 비밀번호가 올바르지 않습니다.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폼 위에 표시, 입력값 유지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AU-03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비밀번호 8자 미만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8자 이상 입력해 주세요.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항목 아래 표시, 제출 버튼 비활성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AU-03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비밀번호 확인 불일치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두 비밀번호가 다릅니다.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항목 아래 표시, 제출 버튼 비활성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AU-03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토큰 없음 · 만료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링크가 만료되었거나 올바르지 않습니다.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폼을 그리지 않고 재발송 요청 안내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CU-03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이름 미입력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이름을 입력하세요.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제출 시 검사, 항목 아래 표시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CU-03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전화 미입력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전화번호를 입력하세요.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제출 시 검사, 항목 아래 표시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CU-03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기존 회사 선택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사업자등록번호·주소가 읽기 전용으로 바뀜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CP-03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회사 미선택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회사를 먼저 선택하세요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딜 선택 필드 비활성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CA-03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고객사 미선택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고객사를 먼저 고르세요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선택 필드 비활성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RP-02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미팅 내용·첨부 모두 없음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AI 보고서 작성 버튼 비활성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RP-04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필수 항목 · 자료 부족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제출 전 확인: 자료 1건 이상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제출 버튼 비활성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RP-04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같은 기간에 작성중 보고서 존재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이 기간에 작성중인 보고서가 있어 이어 씁니다.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새 보고서를 만들지 않고 기존 건을 엽니다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CU-05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파일 미선택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파일을 먼저 선택하세요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실행 버튼 라벨에 표시, 비활성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전 화면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백엔드 응답 실패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서버에 연결할 수 없습니다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안내 모달, 닫아도 화면·입력 유지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입력값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유저 시나리오와 구현의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실제 화면을 기준으로 정리했습니다. 구현되지 않은 화면은 이 문서에 싣지 않았습니다.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0744"/>
            <a:ext cx="45720" cy="182880"/>
          </a:xfrm>
          <a:prstGeom prst="rect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>
                <a:solidFill>
                  <a:srgbClr val="141B2B"/>
                </a:solidFill>
                <a:latin typeface="맑은 고딕"/>
              </a:rPr>
              <a:t>시나리오에 있으나 화면에 없거나 다르게 구현된 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09344"/>
          <a:ext cx="11375135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639"/>
                <a:gridCol w="4495013"/>
                <a:gridCol w="4678483"/>
              </a:tblGrid>
              <a:tr h="21945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 항목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 내용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실제 구현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21. 자료실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AI 에이전트가 자료를 읽고 딜 정보를 제안 → 사용자 승인 → 딜에 저장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업로드·연결·버전 관리까지만 구현. AI 검토·승인 화면 없음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2. 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C/S · 계약갱신 클릭 시 해당 관리 화면으로 이동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화면 이동 대신 드로어 목록만 엽니다 (DB-03 · DB-04)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5. 고객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 전용 화면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목록 위 모달로 구현 (CU-03)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18. 영업 현황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입력 항목에 유입경로 포함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유입경로는 고객 등록(CU-03)으로 옮겼습니다 — 딜이 아니라 고객의 속성으로 정리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16. 월간 업무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월을 걸친 주(8/30~9/4)의 소속 정책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시나리오에서도 보류. 구현도 미정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282696"/>
            <a:ext cx="45720" cy="18288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>
                <a:solidFill>
                  <a:srgbClr val="141B2B"/>
                </a:solidFill>
                <a:latin typeface="맑은 고딕"/>
              </a:rPr>
              <a:t>구현이 시나리오보다 앞선 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3511296"/>
          <a:ext cx="1137513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639"/>
                <a:gridCol w="4495013"/>
                <a:gridCol w="4678483"/>
              </a:tblGrid>
              <a:tr h="21945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 항목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 내용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실제 구현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7. 고객 불만 자세히 보기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답변 등록을 '추후 기능'으로 표기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답변 이력·답변 등록·상태 변경 모두 구현됨 (CP-02)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시나리오에 없음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견적 현황(QT-01) · 계약 현황(CT-01) · 발주 관리(OD-01)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시나리오에 없음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공지관리(MG-01) · 상품관리(MG-02) · 팀 관리(MG-03) — 팀장 전용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시나리오에 없음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보기 범위 스위처(내 현황 / 팀 전체), 자료 버전 이력, 컬럼 설정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4946904"/>
            <a:ext cx="45720" cy="182880"/>
          </a:xfrm>
          <a:prstGeom prst="rect">
            <a:avLst/>
          </a:prstGeom>
          <a:solidFill>
            <a:srgbClr val="C2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919472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>
                <a:solidFill>
                  <a:srgbClr val="141B2B"/>
                </a:solidFill>
                <a:latin typeface="맑은 고딕"/>
              </a:rPr>
              <a:t>확인이 필요한 것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5175504"/>
          <a:ext cx="1137513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639"/>
                <a:gridCol w="5687568"/>
                <a:gridCol w="3485928"/>
              </a:tblGrid>
              <a:tr h="21945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관찰한 사실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맑은 고딕"/>
                        </a:rPr>
                        <a:t>필요한 결정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SA-01 · DB-01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 KPI는 8월 목표 ₩25.0M(83.2%)인데 매출분석은 '목표 미설정'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두 화면의 목표값 출처를 맞출지 결정 필요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DC-01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분류 탭 건수가 실제 분류를 세지 않음 (상품설명서 1건인데 탭은 0, 전체만 1)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집계 기준 확인 필요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MG-03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'변경은 이 화면 안에만 남습니다' — 저장이 서버에 반영되지 않음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백엔드 연결 필요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1">
                          <a:solidFill>
                            <a:srgbClr val="141B2B"/>
                          </a:solidFill>
                          <a:latin typeface="맑은 고딕"/>
                        </a:rPr>
                        <a:t>NT-01 · DC-01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알림 0건, 자료실 1건(문서 작성용 샘플)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19" b="0">
                          <a:solidFill>
                            <a:srgbClr val="4B5466"/>
                          </a:solidFill>
                          <a:latin typeface="맑은 고딕"/>
                        </a:rPr>
                        <a:t>데모 데이터 보강 여부 결정 필요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시나리오와 구현의 차이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